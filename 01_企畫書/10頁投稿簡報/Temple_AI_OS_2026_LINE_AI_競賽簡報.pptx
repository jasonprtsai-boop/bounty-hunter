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style2_minima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31520"/>
            <a:ext cx="6217920" cy="530352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731520" y="1097280"/>
            <a:ext cx="4206240" cy="347472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2026 LINE AI 創新創業競賽 參賽作品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Temple AI OS</a:t>
            </a:r>
          </a:p>
          <a:p>
            <a:pPr>
              <a:spcBef>
                <a:spcPts val="400"/>
              </a:spcBef>
              <a:defRPr sz="2600" b="1">
                <a:solidFill>
                  <a:srgbClr val="B4281E"/>
                </a:solidFill>
              </a:defRPr>
            </a:pPr>
            <a:r>
              <a:t>智慧宮廟作業系統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把整座宮廟的服務與文化，完整收進信眾的 LINE 裡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免下載 App ｜ 6 格黃金分流 ｜ LIFF 敏捷報名 ｜ AI 文史問答 ｜ 廟務管理中樞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34840"/>
            <a:ext cx="4480560" cy="1234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544568"/>
            <a:ext cx="415137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B4281E"/>
                </a:solidFill>
              </a:defRPr>
            </a:pPr>
            <a:r>
              <a:t>⚙ 核心技術參數與上線規格 (SYSTEM SPECS)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LINE 官方帳號: </a:t>
            </a:r>
            <a:r>
              <a:rPr b="1" sz="950">
                <a:solidFill>
                  <a:srgbClr val="1E3A8A"/>
                </a:solidFill>
              </a:rPr>
              <a:t>專屬 Basic ID: @983zhzni (已通過審核)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前端架構: </a:t>
            </a:r>
            <a:r>
              <a:rPr b="1" sz="950">
                <a:solidFill>
                  <a:srgbClr val="1E3A8A"/>
                </a:solidFill>
              </a:rPr>
              <a:t>LIFF v2 + React 18 + Tailwind RWD (Full Viewport)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後端核心: </a:t>
            </a:r>
            <a:r>
              <a:rPr b="1" sz="950">
                <a:solidFill>
                  <a:srgbClr val="1E3A8A"/>
                </a:solidFill>
              </a:rPr>
              <a:t>FastAPI 0.115 (Python 3.12) + Supabase PostgreSQL 15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併發保證: </a:t>
            </a:r>
            <a:r>
              <a:rPr b="1" sz="950">
                <a:solidFill>
                  <a:srgbClr val="1E3A8A"/>
                </a:solidFill>
              </a:rPr>
              <a:t>PostgreSQL Atomic RPC 行級排他鎖 (FOR UPDATE)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開發團隊：Temple AI OS 團隊 ｜ Demo 驗證：台中萬春宮公開資料場景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 / 市場需求與痛點分析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三百年香火的數位轉型困局：年輕信眾斷層與沉重行政負擔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信仰生活心靈依託面臨數位落差：青年不敢問、志工做不完、營運無數據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2918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4281E"/>
                </a:solidFill>
              </a:defRPr>
            </a:pPr>
            <a:r>
              <a:t>12,000+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全台合法登記寺廟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民間信仰基盤龐大，年香客產值逾200億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00200"/>
            <a:ext cx="32918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9164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C755"/>
                </a:solidFill>
              </a:defRPr>
            </a:pPr>
            <a:r>
              <a:t>95%+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LINE 全台人口滲透率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長輩青年皆熟悉，零下載阻力即開即用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00200"/>
            <a:ext cx="35661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691640"/>
            <a:ext cx="3383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45309"/>
                </a:solidFill>
              </a:defRPr>
            </a:pPr>
            <a:r>
              <a:t>80%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廟方重複行政人力消耗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紙本手寫登記、電話重複諮詢、漏單爭議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12064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7548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傳統宮廟營運四大核心痛點 (PAIN POINTS)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信眾參與門檻高：不熟參拜順序與規矩禮節，現場資訊零散，年輕世代退怯。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紙本行政負擔重：法會與活動依賴紙筆手寫，容易出錯遺漏，名單核銷混亂。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重複客服打爆電話：每日重複詢問時間、交通、問事，佔用志工大量精力。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營運缺乏數據：無法掌握信眾關注話題與節慶人流，難以實現現代化管理。</a:t>
            </a:r>
          </a:p>
        </p:txBody>
      </p:sp>
      <p:pic>
        <p:nvPicPr>
          <p:cNvPr id="15" name="Picture 14" descr="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926080"/>
            <a:ext cx="5303520" cy="3108960"/>
          </a:xfrm>
          <a:prstGeom prst="rect">
            <a:avLst/>
          </a:prstGeom>
          <a:ln w="15240">
            <a:solidFill>
              <a:srgbClr val="E2E8F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傳統宗教文化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人口老齡化斷層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6263640"/>
            <a:ext cx="1179576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LINE 生態切入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97296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數位化升級機會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0296" y="6263640"/>
            <a:ext cx="128016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市場規模 200億+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 / 產品定位與核心主張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Temple AI OS：信眾、廟方與文化三位一體的智慧作業系統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不是外部 App，不是純聊天 Bot，而是宮廟現代化營運與文化傳承的完整解方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29184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信眾 C 端：零門檻體驗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免下載安裝：LINE 聊天室即點即開。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5 大服務選單：點燈、解籤、報名一鍵直達。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LIFF 敏捷表單：聊天室內順暢完成法會報名。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進度即時自查：手機號碼一秒查錄取序號。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自動行前推播：活動日前夕接收注意事項。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00200"/>
            <a:ext cx="329184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5309"/>
                </a:solidFill>
              </a:defRPr>
            </a:pPr>
            <a:r>
              <a:t>廟方 B 端：數位中樞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Admin Dashboard：活動與報名秒級同步。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後台參數設定：廟宇全銜、開放時段彈性設定。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即時公告跑馬燈：首頁重要訊息即改即發布。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行鎖防超額：Atomic RPC 祭典秒殺零超賣。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AI 話題熱點分析：看懂信眾常問問題與缺口。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00200"/>
            <a:ext cx="356616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737360"/>
            <a:ext cx="32004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1E3A8A"/>
                </a:solidFill>
              </a:defRPr>
            </a:pPr>
            <a:r>
              <a:t>文化傳承：敬意與年輕化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在地文史 RAG：權威記載解讀古蹟與建築。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正向文化抽籤：白話釋義，給予信眾平安提醒。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線上擲筊互動：遵循傳統儀軌，兼具敬意趣味。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文創貼圖深化：原創春福小使 8 款日常貼圖。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嚴格 AI 安全守則：絕不扮演神明宣稱神諭。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6263640"/>
            <a:ext cx="128016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B2B2C 閉環架構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6263640"/>
            <a:ext cx="1682496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LINE Native 體驗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6263640"/>
            <a:ext cx="107899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SaaS 模組化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7688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文化永續傳承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萬春宮實體落地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 / LINE 官方帳號門戶與生態整合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LINE 原生入口：正統宮廟 2×3 六格圖文選單 (Rich Menu 2500×1686)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好友即會員，聊天室即服務：以中軸對稱之 2×3 黃金六閣方陣覆蓋信眾 95% 高頻需求</a:t>
            </a:r>
          </a:p>
        </p:txBody>
      </p:sp>
      <p:pic>
        <p:nvPicPr>
          <p:cNvPr id="7" name="Picture 6" descr="mockup_chat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2148840" cy="443484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pic>
        <p:nvPicPr>
          <p:cNvPr id="8" name="Picture 7" descr="main-2500x16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600200"/>
            <a:ext cx="3657600" cy="246888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3063240" y="4206240"/>
            <a:ext cx="3657600" cy="1828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4315968"/>
            <a:ext cx="332841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1E3A8A"/>
                </a:solidFill>
              </a:defRPr>
            </a:pPr>
            <a:r>
              <a:t>⚙ LINE 官方規格與通訊參數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LINE 官方帳號 ID: </a:t>
            </a:r>
            <a:r>
              <a:rPr b="1" sz="950">
                <a:solidFill>
                  <a:srgbClr val="1E3A8A"/>
                </a:solidFill>
              </a:rPr>
              <a:t>@983zhzni (專屬 Basic ID)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選單尺寸與佈局: </a:t>
            </a:r>
            <a:r>
              <a:rPr b="1" sz="950">
                <a:solidFill>
                  <a:srgbClr val="1E3A8A"/>
                </a:solidFill>
              </a:rPr>
              <a:t>2500 x 1686 px (2x3 黃金宮閣方陣)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觸控分區與動作: </a:t>
            </a:r>
            <a:r>
              <a:rPr b="1" sz="950">
                <a:solidFill>
                  <a:srgbClr val="1E3A8A"/>
                </a:solidFill>
              </a:rPr>
              <a:t>6 區域 (AI Message + 5 大 Web/LIFF URI)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通訊協定與防偽: </a:t>
            </a:r>
            <a:r>
              <a:rPr b="1" sz="950">
                <a:solidFill>
                  <a:srgbClr val="1E3A8A"/>
                </a:solidFill>
              </a:rPr>
              <a:t>HTTPS POST + HMAC-SHA256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訊息封裝格式: </a:t>
            </a:r>
            <a:r>
              <a:rPr b="1" sz="950">
                <a:solidFill>
                  <a:srgbClr val="1E3A8A"/>
                </a:solidFill>
              </a:rPr>
              <a:t>Flex Message 2.0 (Carousel)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對稱美學規範: </a:t>
            </a:r>
            <a:r>
              <a:rPr b="1" sz="950">
                <a:solidFill>
                  <a:srgbClr val="1E3A8A"/>
                </a:solidFill>
              </a:rPr>
              <a:t>萬春宮殿宇絳紅泥金・單手拇指直覺點擊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600200"/>
            <a:ext cx="45262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737360"/>
            <a:ext cx="4160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黃金 6 大功能動線設計 (6 CORE FUNCTIONS)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【問】詢問參拜方式：三足宣德金香爐，初訪流程與參拜動線，AI 智慧即時解惑。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【曆】查看活動報名：吉祥金冊卷軸，四季法會與祈福慶典，聊天室直開表單。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【籤】抽文化籤詩：硃漆靈籤竹筒，聖母靈籤白話釋義，正向安定生活開示。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【廟】看主殿導覽：萬春宮重簷歇山殿閣，三百年建築藻井與道光龍柱文史。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【查】查報名進度：功德卷宗與信印，手機序號一秒速查錄取進度與核銷。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【服】聯絡廟務客服：福祿宮燈與執事信牌，便民專線直通執事幹事協助。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6263640"/>
            <a:ext cx="138074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LINE OA 2.0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12463" y="6263640"/>
            <a:ext cx="158191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Messaging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6263640"/>
            <a:ext cx="2185415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Rich Menu 2500x1686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1" y="6263640"/>
            <a:ext cx="1984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2x3 Temple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19" y="6263640"/>
            <a:ext cx="138074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HMAC-SHA256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93424" y="6263640"/>
            <a:ext cx="188366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Flex Message 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 / LINE 原生功能深度應用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Demo 網頁介面：LIFF 敏捷活動報名與名額即時控管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免跳出 LINE、自動帶入身分：在聊天室內 30 秒完成法會活動報名</a:t>
            </a:r>
          </a:p>
        </p:txBody>
      </p:sp>
      <p:pic>
        <p:nvPicPr>
          <p:cNvPr id="7" name="Picture 6" descr="ui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2286000" cy="443484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pic>
        <p:nvPicPr>
          <p:cNvPr id="8" name="Picture 7" descr="ui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00200"/>
            <a:ext cx="2286000" cy="443484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806440" y="1600200"/>
            <a:ext cx="56235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737360"/>
            <a:ext cx="5257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真實上線介面與關鍵功能亮點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【原生 LIFF 內嵌體驗】聊天室直接開啟 Full Viewport，無跳轉外部瀏覽器，長輩填寫無阻力。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【剩餘名額即時可視】實測如右圖：「目前名額 18/30 人」，即時呈現名額流動狀態。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【LINE Login 身分綁定】整合 LINE Login 驗證真實身分，自動帶入用戶暱稱，杜絕惡意刷單。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【預約推播開關】表單內建「接收活動提醒」，活動日前夕由 Messaging API 自動發送行前通知。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【送出報名唯一序號】送出後秒級生成專屬識別序號，信眾隨時在 LINE 自查，現場掃碼核銷。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4206240"/>
            <a:ext cx="5623560" cy="1828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1" y="4315968"/>
            <a:ext cx="529437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1E3A8A"/>
                </a:solidFill>
              </a:defRPr>
            </a:pPr>
            <a:r>
              <a:t>⚙ LIFF 技術參數與表單規格 (ENGINEERING SPECS)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LIFF App ID: </a:t>
            </a:r>
            <a:r>
              <a:rPr b="1" sz="950">
                <a:solidFill>
                  <a:srgbClr val="1E3A8A"/>
                </a:solidFill>
              </a:rPr>
              <a:t>2010938588-VJXpaoyH (Full Viewport 滿版規格)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授權範圍 Scopes: </a:t>
            </a:r>
            <a:r>
              <a:rPr b="1" sz="950">
                <a:solidFill>
                  <a:srgbClr val="1E3A8A"/>
                </a:solidFill>
              </a:rPr>
              <a:t>profile, openid (遵循最小個資原則)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前端技術棧: </a:t>
            </a:r>
            <a:r>
              <a:rPr b="1" sz="950">
                <a:solidFill>
                  <a:srgbClr val="1E3A8A"/>
                </a:solidFill>
              </a:rPr>
              <a:t>React 18.3 + TypeScript + Tailwind CSS + Lucide Icons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報名 API 端點: </a:t>
            </a:r>
            <a:r>
              <a:rPr b="1" sz="950">
                <a:solidFill>
                  <a:srgbClr val="1E3A8A"/>
                </a:solidFill>
              </a:rPr>
              <a:t>POST /api/events/{event_id}/register (ASGI Asynchronous)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資料驗證模型: </a:t>
            </a:r>
            <a:r>
              <a:rPr b="1" sz="950">
                <a:solidFill>
                  <a:srgbClr val="1E3A8A"/>
                </a:solidFill>
              </a:rPr>
              <a:t>Pydantic v2.13 Strict Schema (姓名、電話、人數、提醒開關)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併發控制模式: </a:t>
            </a:r>
            <a:r>
              <a:rPr b="1" sz="950">
                <a:solidFill>
                  <a:srgbClr val="1E3A8A"/>
                </a:solidFill>
              </a:rPr>
              <a:t>PostgreSQL Atomic RPC (FOR UPDATE 排他行鎖)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LIFF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6263640"/>
            <a:ext cx="1984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LINE Login OAuth2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8968" y="6263640"/>
            <a:ext cx="107899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React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6263640"/>
            <a:ext cx="138074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Pydantic v2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3" y="6263640"/>
            <a:ext cx="148132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Tailwind 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11511" y="6263640"/>
            <a:ext cx="158191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Messaging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 / 民俗文化數位化創新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Demo 網頁介面：正統五步求籤儀軌與線上擲筊互動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還原定題稟報、擲筊請示、搖筒取籤、擲筊確認至籤解開示之五步正統民俗禮俗</a:t>
            </a:r>
          </a:p>
        </p:txBody>
      </p:sp>
      <p:pic>
        <p:nvPicPr>
          <p:cNvPr id="7" name="Picture 6" descr="ui_fortu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2286000" cy="443484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pic>
        <p:nvPicPr>
          <p:cNvPr id="8" name="Picture 7" descr="ui_j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00200"/>
            <a:ext cx="2286000" cy="443484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806440" y="1600200"/>
            <a:ext cx="56235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737360"/>
            <a:ext cx="5257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正統五步求籤儀軌 ＆ 線上擲筊亮點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【正統五步求籤儀軌】實測如左圖：整合「定題稟報 ➔ 擲筊請示 ➔ 搖筒取籤 ➔ 擲筊確認 ➔ 籤解開示」，完整還原台灣宮廟求籤儀軌。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【線上擲筊投擲互動】實測如右圖：支援聖筊、笑筊、陰筊 3-State 狀態機，具備翻轉物理動效與次數統計。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【雙模彈性切換架構】支援「正統五步儀軌」與「快速抽籤」一鍵切換，兼顧文化深度與長輩敏捷體驗。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【三不原則恪守敬意】「不判吉凶、保留白話、重要事回到正式窗口」，杜絕傳統迷信斷言，傳遞正向力量。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【底部導覽無縫直達】Shell 導覽列隨時直達「抽籤」與「擲筊」，青年信眾零門檻體驗信仰之美。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4206240"/>
            <a:ext cx="5623560" cy="1828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1" y="4315968"/>
            <a:ext cx="529437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1E3A8A"/>
                </a:solidFill>
              </a:defRPr>
            </a:pPr>
            <a:r>
              <a:t>⚙ 民俗數位互動技術參數 (TECHNICAL SPECS)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前端渲染架構: </a:t>
            </a:r>
            <a:r>
              <a:rPr b="1" sz="950">
                <a:solidFill>
                  <a:srgbClr val="1E3A8A"/>
                </a:solidFill>
              </a:rPr>
              <a:t>Vite 5.0 SPA + React Router v6 Client-Side Routing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求籤儀軌狀態機: </a:t>
            </a:r>
            <a:r>
              <a:rPr b="1" sz="950">
                <a:solidFill>
                  <a:srgbClr val="1E3A8A"/>
                </a:solidFill>
              </a:rPr>
              <a:t>5-Step Ritual Wizard State Machine (稟報/請示/抽籤/確認/開示)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擲筊模擬引擎: </a:t>
            </a:r>
            <a:r>
              <a:rPr b="1" sz="950">
                <a:solidFill>
                  <a:srgbClr val="1E3A8A"/>
                </a:solidFill>
              </a:rPr>
              <a:t>Client Stochastic Simulation (聖筊 / 笑筊 / 陰筊 3-State FSM)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籤詩演算法架構: </a:t>
            </a:r>
            <a:r>
              <a:rPr b="1" sz="950">
                <a:solidFill>
                  <a:srgbClr val="1E3A8A"/>
                </a:solidFill>
              </a:rPr>
              <a:t>三不原則正向心靈算法 (非宿命論、白話賦能導向)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靜態資源加速: </a:t>
            </a:r>
            <a:r>
              <a:rPr b="1" sz="950">
                <a:solidFill>
                  <a:srgbClr val="1E3A8A"/>
                </a:solidFill>
              </a:rPr>
              <a:t>ChatGPT Sites Global Edge CDN (全域快取延遲 &lt; 150ms)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響應式佈局規格: </a:t>
            </a:r>
            <a:r>
              <a:rPr b="1" sz="950">
                <a:solidFill>
                  <a:srgbClr val="1E3A8A"/>
                </a:solidFill>
              </a:rPr>
              <a:t>Mobile-First RWD (相容 360px ~ 430px 各主流手機螢幕)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正統五步儀軌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6263640"/>
            <a:ext cx="138074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3-State FSM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5464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擲筊問事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三不原則算法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41464" y="6263640"/>
            <a:ext cx="188366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Mobile-First RWD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6263640"/>
            <a:ext cx="107899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Edge CDN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 / 商業營運與管理賦能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Demo 後台介面：廟務基本設定與營運管控中樞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廟方後台專屬控制台：全域廟務設定、參拜時段、即時公告跑馬燈一站式即時生效</a:t>
            </a:r>
          </a:p>
        </p:txBody>
      </p:sp>
      <p:pic>
        <p:nvPicPr>
          <p:cNvPr id="7" name="Picture 6" descr="ui_admin_setting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766560" cy="443484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726679" y="1600200"/>
            <a:ext cx="37033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59" y="1737360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廟務設定與名冊列印模組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【基本資料管理】廟宇全銜、副標題、主祀神祇、服務電話、地址與簡介標語即改即存。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【參拜時段排程】彈性自訂開放時間 (06:00-21:00)，前台服務即時聯動。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【公告跑馬燈推播】置頂公告秒級推播，颱風或法會異動一鍵周知全體信眾。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【法會祈安文疏一鍵列印】報名名冊一鍵排版古典直式紅紙祈安文疏，支援瀏覽器列印，直擊廟務痛點。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【還原預設防呆】內建一鍵還原機制，杜絕誤操作事故。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977639"/>
            <a:ext cx="3703320" cy="2057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4087368"/>
            <a:ext cx="3374136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1E3A8A"/>
                </a:solidFill>
              </a:defRPr>
            </a:pPr>
            <a:r>
              <a:t>⚙ 後台系統參數與資安規格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後台管理路由: </a:t>
            </a:r>
            <a:r>
              <a:rPr b="1" sz="950">
                <a:solidFill>
                  <a:srgbClr val="1E3A8A"/>
                </a:solidFill>
              </a:rPr>
              <a:t>/admin/settings ｜ /admin/events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祈安文疏列印: </a:t>
            </a:r>
            <a:r>
              <a:rPr b="1" sz="950">
                <a:solidFill>
                  <a:srgbClr val="1E3A8A"/>
                </a:solidFill>
              </a:rPr>
              <a:t>CSS vertical-rl + @media print (傳統九行直書)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權限控管 (RBAC): </a:t>
            </a:r>
            <a:r>
              <a:rPr b="1" sz="950">
                <a:solidFill>
                  <a:srgbClr val="1E3A8A"/>
                </a:solidFill>
              </a:rPr>
              <a:t>Admin (主委全權) / Staff (幹事業務)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身分驗證模式: </a:t>
            </a:r>
            <a:r>
              <a:rPr b="1" sz="950">
                <a:solidFill>
                  <a:srgbClr val="1E3A8A"/>
                </a:solidFill>
              </a:rPr>
              <a:t>Session Bearer Token (HMAC-SHA256)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資料庫儲存模型: </a:t>
            </a:r>
            <a:r>
              <a:rPr b="1" sz="950">
                <a:solidFill>
                  <a:srgbClr val="1E3A8A"/>
                </a:solidFill>
              </a:rPr>
              <a:t>Supabase PostgreSQL JSONB Config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設定同步延遲: </a:t>
            </a:r>
            <a:r>
              <a:rPr b="1" sz="950">
                <a:solidFill>
                  <a:srgbClr val="1E3A8A"/>
                </a:solidFill>
              </a:rPr>
              <a:t>&lt; 200ms 全網前台秒級生效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安全稽核日誌: </a:t>
            </a:r>
            <a:r>
              <a:rPr b="1" sz="950">
                <a:solidFill>
                  <a:srgbClr val="1E3A8A"/>
                </a:solidFill>
              </a:rPr>
              <a:t>Audit Logs Append-Only (紀錄異動人員/IP)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6263640"/>
            <a:ext cx="148132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B2B SaaS 控制台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3048" y="6263640"/>
            <a:ext cx="1179576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RBAC 分權控管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3" y="6263640"/>
            <a:ext cx="188366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PostgreSQL JSONB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7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祈安文疏列印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93608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即時公告推播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6263640"/>
            <a:ext cx="128016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Session 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07 / 系統技術架構 (TECHNOLOGY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全鏈路技術架構：企業級現代全端架構與服務閉環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深度串聯 LINE 生態、高效非同步 Python 後端與 PostgreSQL 雲端資料庫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669280" cy="443484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675120" y="1600200"/>
            <a:ext cx="4754880" cy="1051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1709928"/>
            <a:ext cx="442569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B4281E"/>
                </a:solidFill>
              </a:defRPr>
            </a:pPr>
            <a:r>
              <a:t>⚙ Layer 1: LINE 用戶端與展示層 (Client Layer)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生態技術: </a:t>
            </a:r>
            <a:r>
              <a:rPr b="1" sz="950">
                <a:solidFill>
                  <a:srgbClr val="1E3A8A"/>
                </a:solidFill>
              </a:rPr>
              <a:t>LINE OA 2.0 (@983zhzni) ｜ Messaging API ｜ LIFF v2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前端技術: </a:t>
            </a:r>
            <a:r>
              <a:rPr b="1" sz="950">
                <a:solidFill>
                  <a:srgbClr val="1E3A8A"/>
                </a:solidFill>
              </a:rPr>
              <a:t>React 18.3 ｜ TypeScript ｜ Tailwind CSS ｜ LINE Login OAuth2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743200"/>
            <a:ext cx="4754880" cy="1051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2852928"/>
            <a:ext cx="442569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1E3A8A"/>
                </a:solidFill>
              </a:defRPr>
            </a:pPr>
            <a:r>
              <a:t>⚙ Layer 2: API 閘道與後端服務 (Backend Layer)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後端框架: </a:t>
            </a:r>
            <a:r>
              <a:rPr b="1" sz="950">
                <a:solidFill>
                  <a:srgbClr val="1E3A8A"/>
                </a:solidFill>
              </a:rPr>
              <a:t>FastAPI 0.115 (Python 3.12-slim) ｜ Asynchronous ASGI (Uvicorn)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網路與規格: </a:t>
            </a:r>
            <a:r>
              <a:rPr b="1" sz="950">
                <a:solidFill>
                  <a:srgbClr val="1E3A8A"/>
                </a:solidFill>
              </a:rPr>
              <a:t>Port: 8000/10000 ｜ Workers: 2 ｜ HMAC-SHA256 簽章防偽 ｜ Pydantic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886200"/>
            <a:ext cx="4754880" cy="1051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3995928"/>
            <a:ext cx="442569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B45309"/>
                </a:solidFill>
              </a:defRPr>
            </a:pPr>
            <a:r>
              <a:t>⚙ Layer 3: 資料庫與高併發排他鎖 (Database Layer)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雲端資料庫: </a:t>
            </a:r>
            <a:r>
              <a:rPr b="1" sz="950">
                <a:solidFill>
                  <a:srgbClr val="1E3A8A"/>
                </a:solidFill>
              </a:rPr>
              <a:t>Supabase PostgreSQL 15 ｜ ACID 事務隔離 (Read Committed)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併發控制: </a:t>
            </a:r>
            <a:r>
              <a:rPr b="1" sz="950">
                <a:solidFill>
                  <a:srgbClr val="1E3A8A"/>
                </a:solidFill>
              </a:rPr>
              <a:t>Atomic RPC 預存程序 ｜ SELECT ... FOR UPDATE 行級排他鎖 ｜ 逾時: 5000ms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5029200"/>
            <a:ext cx="4754880" cy="1051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5138928"/>
            <a:ext cx="442569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B4281E"/>
                </a:solidFill>
              </a:defRPr>
            </a:pPr>
            <a:r>
              <a:t>⚙ Layer 4: AI 知識檢索與安全防護 (AI &amp; Security Layer)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文史 RAG: </a:t>
            </a:r>
            <a:r>
              <a:rPr b="1" sz="950">
                <a:solidFill>
                  <a:srgbClr val="1E3A8A"/>
                </a:solidFill>
              </a:rPr>
              <a:t>三百年在地文史檢索 ｜ Top-K: 3 ｜ 相似度門檻 &gt;= 0.78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快取與防護: </a:t>
            </a:r>
            <a:r>
              <a:rPr b="1" sz="950">
                <a:solidFill>
                  <a:srgbClr val="1E3A8A"/>
                </a:solidFill>
              </a:rPr>
              <a:t>In-Memory 快取 (TTL: 3600s, 延遲 &lt; 400ms) ｜ AI 安全邊界防護引擎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6263640"/>
            <a:ext cx="158191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FastAPI 0.115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3631" y="6263640"/>
            <a:ext cx="138074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Python 3.12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6263640"/>
            <a:ext cx="158191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PostgreSQL 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7" y="6263640"/>
            <a:ext cx="107899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Supabase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59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59" y="6263640"/>
            <a:ext cx="148132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Render Cloud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128247" y="6263640"/>
            <a:ext cx="138074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Pytest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08 / 核心技術深度與創新亮點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核心技術深度：AI 安全倫理守則 ＆ 資料庫原子行鎖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技術深度決定落地高度：恪守民俗信仰敬意，兼備百萬級高併發工程可靠性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亮點 1：AI 安全倫理守則 (AI SAFETY GUARDRAILS)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【嚴禁扮演神明】系統層硬約束，AI 絕不宣稱神諭、降旨或斷言個人吉凶命運。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【敏感話題攔截】遇到借貸、投資、醫療、政治等敏感問題自動觸發安全引導。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【合規免責提醒】每則回覆均附帶「以廟方現場與正式公告為準」免責確認提醒。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【權威文史檢索】串接官方萬春宮誌權威文史資料庫，杜絕模型胡言幻覺。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133088"/>
            <a:ext cx="4791455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B4281E"/>
                </a:solidFill>
              </a:defRPr>
            </a:pPr>
            <a:r>
              <a:t>⚙ AI 安全防護技術參數 (GUARDRAIL PARAMETERS)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安全提示詞注入防護: </a:t>
            </a:r>
            <a:r>
              <a:rPr b="1" sz="950">
                <a:solidFill>
                  <a:srgbClr val="1E3A8A"/>
                </a:solidFill>
              </a:rPr>
              <a:t>System Prompt Level Hard Constraint (硬性不可覆蓋規則)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敏感關鍵字正規表達: </a:t>
            </a:r>
            <a:r>
              <a:rPr b="1" sz="950">
                <a:solidFill>
                  <a:srgbClr val="1E3A8A"/>
                </a:solidFill>
              </a:rPr>
              <a:t>Regex Filter 預檢機制 (命中立即觸發安全引導回答)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文史檢索參數 (RAG): </a:t>
            </a:r>
            <a:r>
              <a:rPr b="1" sz="950">
                <a:solidFill>
                  <a:srgbClr val="1E3A8A"/>
                </a:solidFill>
              </a:rPr>
              <a:t>Top-K: 3 ｜ 余弦相似度閾值: Cosine &gt;= 0.78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記憶體快取架構: </a:t>
            </a:r>
            <a:r>
              <a:rPr b="1" sz="950">
                <a:solidFill>
                  <a:srgbClr val="1E3A8A"/>
                </a:solidFill>
              </a:rPr>
              <a:t>In-Memory LRU Cache (TTL: 3600s ｜ 平均檢索延遲 &lt; 400ms)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5309"/>
                </a:solidFill>
              </a:defRPr>
            </a:pPr>
            <a:r>
              <a:t>亮點 2：祭典秒殺行級鎖 (ATOMIC RPC ROW-LOCKING)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【PostgreSQL 預存程序】採用 Supabase RPC 在資料庫層進行原子級名額校驗。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【行級排他鎖】`SELECT ... FOR UPDATE` 在交易期間嚴密鎖定該筆活動資料列。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【零超額保證】法會開放瞬間萬人同時搶報名，保證名額絕不超額、不超賣。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【雙軌容錯備援】支援本機 JSON 降級容錯，保證公共服務永不中斷。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133088"/>
            <a:ext cx="48828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B45309"/>
                </a:solidFill>
              </a:defRPr>
            </a:pPr>
            <a:r>
              <a:t>⚙ 高併發鎖機制技術參數 (CONCURRENCY PARAMETERS)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資料庫引擎版本: </a:t>
            </a:r>
            <a:r>
              <a:rPr b="1" sz="950">
                <a:solidFill>
                  <a:srgbClr val="1E3A8A"/>
                </a:solidFill>
              </a:rPr>
              <a:t>Supabase PostgreSQL 15.6 (雲端託管高可用架構)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預存函數簽章: </a:t>
            </a:r>
            <a:r>
              <a:rPr b="1" sz="950">
                <a:solidFill>
                  <a:srgbClr val="1E3A8A"/>
                </a:solidFill>
              </a:rPr>
              <a:t>atomic_register_event(p_event_id, p_user_id, p_payload)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排他鎖語法結構: </a:t>
            </a:r>
            <a:r>
              <a:rPr b="1" sz="950">
                <a:solidFill>
                  <a:srgbClr val="1E3A8A"/>
                </a:solidFill>
              </a:rPr>
              <a:t>SELECT quota, registered FROM events WHERE id = p_event_id FOR UPDATE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334155"/>
                </a:solidFill>
              </a:rPr>
              <a:t>交易隔離級別: </a:t>
            </a:r>
            <a:r>
              <a:rPr b="1" sz="950">
                <a:solidFill>
                  <a:srgbClr val="1E3A8A"/>
                </a:solidFill>
              </a:rPr>
              <a:t>READ COMMITTED ｜ 交易逾時限制: 5000ms ｜ 失敗自動 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負責任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6263640"/>
            <a:ext cx="107899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在地文史 RAG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6263640"/>
            <a:ext cx="1682496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PostgreSQL RPC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6263640"/>
            <a:ext cx="158191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FOR UPDATE 行鎖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6263640"/>
            <a:ext cx="1179576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ACID 交易安全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9176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零超額保證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09 / 商業模式與 Demo 成熟度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商業模式與 Demo 成果：多元造血機制 ＆ 公開部署與測試驗證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公開 Demo、測試與部署紀錄支撐產品可行性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7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四大多元可持續收入模型 (REVENUE MODEL)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1. 基礎 SaaS 訂閱月費：NT$ 3,000 ~ 8,000 / 月</a:t>
            </a:r>
            <a:br/>
            <a:r>
              <a:t>   提供標準 LINE OA 模板、AI 問答庫、LIFF 報名與管理看板。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2. 客製建置與數位化：NT$ 50,000 ~ 150,000 / 案</a:t>
            </a:r>
            <a:br/>
            <a:r>
              <a:t>   百年大廟歷史文物 3D 導覽、專屬籤詩演算法與特殊科儀系統導入。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3. 慶典高峰彈性模組：NT$ 20,000 ~ 50,000 / 檔</a:t>
            </a:r>
            <a:br/>
            <a:r>
              <a:t>   媽祖宮慶或建醮法會專屬高頻寬、排隊抽籤與即時推播模組。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4. 地方創生與文創貼圖：自創「春福小使」貼圖分潤 ＋ 廟埕商圈導流數位折價券。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2468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6916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C755"/>
                </a:solidFill>
              </a:defRPr>
            </a:pPr>
            <a:r>
              <a:t>69 / 69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單元測試通過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安全/RAG/行鎖 100% 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00200"/>
            <a:ext cx="2468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6916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4281E"/>
                </a:solidFill>
              </a:defRPr>
            </a:pPr>
            <a:r>
              <a:t>20 / 20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公開冒煙檢查通過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API 與深層路由正常</a:t>
            </a:r>
          </a:p>
        </p:txBody>
      </p:sp>
      <p:pic>
        <p:nvPicPr>
          <p:cNvPr id="13" name="Picture 12" descr="preview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017520"/>
            <a:ext cx="5212080" cy="3017520"/>
          </a:xfrm>
          <a:prstGeom prst="rect">
            <a:avLst/>
          </a:prstGeom>
          <a:ln w="1524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SaaS 訂閱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慶典高峰彈性費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6263640"/>
            <a:ext cx="1179576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LINE 文創貼圖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7296" y="6263640"/>
            <a:ext cx="128016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公開 Demo 驗證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14616" y="6263640"/>
            <a:ext cx="138074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Pytest 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B4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 / 發展藍圖與社會影響力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2026 LINE AI 創新創業競賽 ｜ P.10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未來藍圖與社會價值：從萬春宮走向全台千座宮廟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用科技賦能傳統信仰，讓三百年宮廟文化代代相傳、歷久彌新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29184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6C755"/>
                </a:solidFill>
              </a:defRPr>
            </a:pPr>
            <a:r>
              <a:t>Phase 1: Demo 驗證 (已完成)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示範場域：台中萬春宮。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上線功能：LINE OA 2.0 + 6 格選單 + LIFF 報名 + 後台設定中樞。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全端自動化測試 100% 綠燈通過。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00200"/>
            <a:ext cx="329184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281E"/>
                </a:solidFill>
              </a:defRPr>
            </a:pPr>
            <a:r>
              <a:t>Phase 2: 現場互動 (入選3個月)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導入 LINE Beacon 廟埕現場迎賓推播。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古匾與文物 NFC 感應深度圖文導覽。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新增線上點光明燈與安太歲預約。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拓展至中部地區 10 座指標合作廟宇。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00200"/>
            <a:ext cx="356616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7373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B45309"/>
                </a:solidFill>
              </a:defRPr>
            </a:pPr>
            <a:r>
              <a:t>Phase 3: 跨廟生態 (未來1年)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全台 50+ 指標宮廟巡禮地圖。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跨廟祈福點數與地方商圈共榮聯盟。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建立全台最大民俗文化數位資產庫。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實現持續盈利與品牌連鎖規模效益。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106070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281E"/>
                </a:solidFill>
              </a:defRPr>
            </a:pPr>
            <a:r>
              <a:t>🌟 深刻的社會與文化價值 (SOCIAL &amp; CULTURAL IMPACT)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1. 降低青年參與門檻：以年輕人最習慣的 LINE 互動與文創貼圖，消除參拜心理負擔，化解百年香火世代斷層。</a:t>
            </a:r>
            <a:br/>
            <a:r>
              <a:t>2. 珍貴文化數位永久保存：將耆老口述歷史、古蹟科儀與文物拓本化為數位知識庫，為台灣民俗文化留下永恆資產。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6263640"/>
            <a:ext cx="188366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LINE Beacon 現場推播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5383" y="6263640"/>
            <a:ext cx="107899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NFC 導覽感應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跨廟點數聯盟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74536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文化開放資料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626364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永續地方創生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ne-oa-profile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822960"/>
            <a:ext cx="1828800" cy="1828800"/>
          </a:xfrm>
          <a:prstGeom prst="rect">
            <a:avLst/>
          </a:prstGeom>
          <a:ln w="15240">
            <a:solidFill>
              <a:srgbClr val="E2E8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371600" y="283464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4281E"/>
                </a:solidFill>
              </a:defRPr>
            </a:pPr>
            <a:r>
              <a:t>科技賦能信仰・智慧傳承文化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0F172A"/>
                </a:solidFill>
              </a:defRPr>
            </a:pPr>
            <a:r>
              <a:t>Temple AI OS 智慧宮廟平台</a:t>
            </a:r>
          </a:p>
          <a:p>
            <a:pPr algn="ctr">
              <a:spcBef>
                <a:spcPts val="1400"/>
              </a:spcBef>
              <a:defRPr sz="1350" b="1">
                <a:solidFill>
                  <a:srgbClr val="64748B"/>
                </a:solidFill>
              </a:defRPr>
            </a:pPr>
            <a:r>
              <a:t>感謝各位評審與貴賓聆聽 ｜ 歡迎掃碼現場體驗 LINE 官方帳號 @983zhzni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5669280"/>
            <a:ext cx="1984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LINE OA @983zhzni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5669280"/>
            <a:ext cx="158191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Messaging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566928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LIFF 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5669280"/>
            <a:ext cx="158191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FastAPI 0.115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7112" y="5669280"/>
            <a:ext cx="1078992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13264" y="5669280"/>
            <a:ext cx="128016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Atomic RPC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30584" y="5669280"/>
            <a:ext cx="1005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