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4e11da3634c3e" /><Relationship Type="http://schemas.openxmlformats.org/officeDocument/2006/relationships/extended-properties" Target="/docProps/app.xml" Id="R351a5bcc45724765" /><Relationship Type="http://schemas.openxmlformats.org/officeDocument/2006/relationships/officeDocument" Target="/ppt/presentation.xml" Id="R117d2267ee3e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77b1669d6a4494"/>
  </p:sldMasterIdLst>
  <p:notesMasterIdLst>
    <p:notesMasterId xmlns:r="http://schemas.openxmlformats.org/officeDocument/2006/relationships" r:id="R23f60bafbeb2464e"/>
  </p:notesMasterIdLst>
  <p:sldIdLst>
    <p:sldId xmlns:r="http://schemas.openxmlformats.org/officeDocument/2006/relationships" id="256" r:id="R69a50e877b474d79"/>
    <p:sldId xmlns:r="http://schemas.openxmlformats.org/officeDocument/2006/relationships" id="257" r:id="R565b4fffc7ae490d"/>
    <p:sldId xmlns:r="http://schemas.openxmlformats.org/officeDocument/2006/relationships" id="258" r:id="Ra6e43863d5754eb7"/>
    <p:sldId xmlns:r="http://schemas.openxmlformats.org/officeDocument/2006/relationships" id="259" r:id="R278617efaf004d69"/>
    <p:sldId xmlns:r="http://schemas.openxmlformats.org/officeDocument/2006/relationships" id="260" r:id="R4ea6e70c06614f40"/>
    <p:sldId xmlns:r="http://schemas.openxmlformats.org/officeDocument/2006/relationships" id="261" r:id="Rfc3db269ef0f4ab1"/>
    <p:sldId xmlns:r="http://schemas.openxmlformats.org/officeDocument/2006/relationships" id="262" r:id="R502bc2a36fd44242"/>
    <p:sldId xmlns:r="http://schemas.openxmlformats.org/officeDocument/2006/relationships" id="263" r:id="R4ee7187d88c344c9"/>
    <p:sldId xmlns:r="http://schemas.openxmlformats.org/officeDocument/2006/relationships" id="264" r:id="Ra1dad9d28bb84015"/>
    <p:sldId xmlns:r="http://schemas.openxmlformats.org/officeDocument/2006/relationships" id="265" r:id="R21c6b10855174efb"/>
    <p:sldId xmlns:r="http://schemas.openxmlformats.org/officeDocument/2006/relationships" id="266" r:id="R6cde60b531f147b1"/>
    <p:sldId xmlns:r="http://schemas.openxmlformats.org/officeDocument/2006/relationships" id="267" r:id="R6813b04b89ff4e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126b992c24c80" /><Relationship Type="http://schemas.openxmlformats.org/officeDocument/2006/relationships/slideMaster" Target="/ppt/slideMasters/slideMaster1.xml" Id="Rbc77b1669d6a4494" /><Relationship Type="http://schemas.openxmlformats.org/officeDocument/2006/relationships/notesMaster" Target="/ppt/notesMasters/notesMaster1.xml" Id="R23f60bafbeb2464e" /><Relationship Type="http://schemas.openxmlformats.org/officeDocument/2006/relationships/presProps" Target="/ppt/presProps.xml" Id="R455ad9197d5347b9" /><Relationship Type="http://schemas.openxmlformats.org/officeDocument/2006/relationships/tableStyles" Target="/ppt/tableStyles.xml" Id="R6f939c77ef48489f" /><Relationship Type="http://schemas.openxmlformats.org/officeDocument/2006/relationships/slide" Target="/ppt/slides/slide1.xml" Id="R69a50e877b474d79" /><Relationship Type="http://schemas.openxmlformats.org/officeDocument/2006/relationships/slide" Target="/ppt/slides/slide2.xml" Id="R565b4fffc7ae490d" /><Relationship Type="http://schemas.openxmlformats.org/officeDocument/2006/relationships/slide" Target="/ppt/slides/slide3.xml" Id="Ra6e43863d5754eb7" /><Relationship Type="http://schemas.openxmlformats.org/officeDocument/2006/relationships/slide" Target="/ppt/slides/slide4.xml" Id="R278617efaf004d69" /><Relationship Type="http://schemas.openxmlformats.org/officeDocument/2006/relationships/slide" Target="/ppt/slides/slide5.xml" Id="R4ea6e70c06614f40" /><Relationship Type="http://schemas.openxmlformats.org/officeDocument/2006/relationships/slide" Target="/ppt/slides/slide6.xml" Id="Rfc3db269ef0f4ab1" /><Relationship Type="http://schemas.openxmlformats.org/officeDocument/2006/relationships/slide" Target="/ppt/slides/slide7.xml" Id="R502bc2a36fd44242" /><Relationship Type="http://schemas.openxmlformats.org/officeDocument/2006/relationships/slide" Target="/ppt/slides/slide8.xml" Id="R4ee7187d88c344c9" /><Relationship Type="http://schemas.openxmlformats.org/officeDocument/2006/relationships/slide" Target="/ppt/slides/slide9.xml" Id="Ra1dad9d28bb84015" /><Relationship Type="http://schemas.openxmlformats.org/officeDocument/2006/relationships/slide" Target="/ppt/slides/slide10.xml" Id="R21c6b10855174efb" /><Relationship Type="http://schemas.openxmlformats.org/officeDocument/2006/relationships/slide" Target="/ppt/slides/slide11.xml" Id="R6cde60b531f147b1" /><Relationship Type="http://schemas.openxmlformats.org/officeDocument/2006/relationships/slide" Target="/ppt/slides/slide12.xml" Id="R6813b04b89ff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1f10a7aed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488543331f49d3" /><Relationship Type="http://schemas.openxmlformats.org/officeDocument/2006/relationships/notesMaster" Target="/ppt/notesMasters/notesMaster1.xml" Id="Recfe97480997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4afbd218a9484d" /><Relationship Type="http://schemas.openxmlformats.org/officeDocument/2006/relationships/notesMaster" Target="/ppt/notesMasters/notesMaster1.xml" Id="R1dfef76ef9fe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f3f081ee446de" /><Relationship Type="http://schemas.openxmlformats.org/officeDocument/2006/relationships/notesMaster" Target="/ppt/notesMasters/notesMaster1.xml" Id="R8fb9878c7a98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9d95a954f74b72" /><Relationship Type="http://schemas.openxmlformats.org/officeDocument/2006/relationships/notesMaster" Target="/ppt/notesMasters/notesMaster1.xml" Id="Re2b2a73f5cf3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64db219e1146d9" /><Relationship Type="http://schemas.openxmlformats.org/officeDocument/2006/relationships/notesMaster" Target="/ppt/notesMasters/notesMaster1.xml" Id="Ra756389450a841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50f5b179464b3d" /><Relationship Type="http://schemas.openxmlformats.org/officeDocument/2006/relationships/notesMaster" Target="/ppt/notesMasters/notesMaster1.xml" Id="R4f4cd68c75a145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a4c9041ce74a1d" /><Relationship Type="http://schemas.openxmlformats.org/officeDocument/2006/relationships/notesMaster" Target="/ppt/notesMasters/notesMaster1.xml" Id="Reb883b4c95b244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9bc85cbf4544e2" /><Relationship Type="http://schemas.openxmlformats.org/officeDocument/2006/relationships/notesMaster" Target="/ppt/notesMasters/notesMaster1.xml" Id="R1740dcc5964340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5d4a330eeb4209" /><Relationship Type="http://schemas.openxmlformats.org/officeDocument/2006/relationships/notesMaster" Target="/ppt/notesMasters/notesMaster1.xml" Id="R329034814a934d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b50d72e6814ffb" /><Relationship Type="http://schemas.openxmlformats.org/officeDocument/2006/relationships/notesMaster" Target="/ppt/notesMasters/notesMaster1.xml" Id="R33b2c2d54df74a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d91165cd8048ff" /><Relationship Type="http://schemas.openxmlformats.org/officeDocument/2006/relationships/notesMaster" Target="/ppt/notesMasters/notesMaster1.xml" Id="Rc736779090694a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8ab6fb39a34c33" /><Relationship Type="http://schemas.openxmlformats.org/officeDocument/2006/relationships/notesMaster" Target="/ppt/notesMasters/notesMaster1.xml" Id="Rbb09dcf319fe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封面使用既有視覺素材。送件主張為公開 Demo 與公開資料示範場景。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活動中心截圖。市場問題來自企畫書與產品需求整理。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本頁為產品定位說明。右側為 Demo LINE 入口截圖。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本頁強調 LINE 生態結合度。Rich Menu 圖檔來自本專案產生素材。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 LIFF 報名與活動中心截圖。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的抽籤與擲筊頁面截圖。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 RAG 與任務型 Agent 架構圖，說明 AI 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後台設定截圖。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本頁使用本專案架構圖。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本頁使用貼圖預覽圖與本輪驗證結果。69/69 後端測試、20/20 公開服務檢查已在本工作區驗證。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本頁區分已完成、待入選後導入與正式送件仍待補項目。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封底維持安全對外說法，提醒外部待補項目。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06597f6ef4b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e7042730c4a64" /><Relationship Type="http://schemas.openxmlformats.org/officeDocument/2006/relationships/slideLayout" Target="/ppt/slideLayouts/slideLayout1.xml" Id="R3816a403a4254f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6a403a4254f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20c8bc92541d6" /><Relationship Type="http://schemas.openxmlformats.org/officeDocument/2006/relationships/image" Target="/ppt/media/image.jpeg" Id="R1e50547da41641cd" /><Relationship Type="http://schemas.openxmlformats.org/officeDocument/2006/relationships/notesSlide" Target="/ppt/notesSlides/notesSlide1.xml" Id="R127579ca9e21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c405b64ae47fd" /><Relationship Type="http://schemas.openxmlformats.org/officeDocument/2006/relationships/image" Target="/ppt/media/image.png" Id="R9437be14115245f2" /><Relationship Type="http://schemas.openxmlformats.org/officeDocument/2006/relationships/notesSlide" Target="/ppt/notesSlides/notesSlide2.xml" Id="R0453f2ab8ce5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47c7f70f94c90" /><Relationship Type="http://schemas.openxmlformats.org/officeDocument/2006/relationships/image" Target="/ppt/media/image2.png" Id="R3affd1a0e93e40b8" /><Relationship Type="http://schemas.openxmlformats.org/officeDocument/2006/relationships/notesSlide" Target="/ppt/notesSlides/notesSlide3.xml" Id="R0843121b44ac49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3b87da11b4c18" /><Relationship Type="http://schemas.openxmlformats.org/officeDocument/2006/relationships/image" Target="/ppt/media/image3.png" Id="Rf9b8931cda994e46" /><Relationship Type="http://schemas.openxmlformats.org/officeDocument/2006/relationships/notesSlide" Target="/ppt/notesSlides/notesSlide4.xml" Id="Rf13fb271d97147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edca0a95d4636" /><Relationship Type="http://schemas.openxmlformats.org/officeDocument/2006/relationships/image" Target="/ppt/media/image4.png" Id="R478cac6eb4d04890" /><Relationship Type="http://schemas.openxmlformats.org/officeDocument/2006/relationships/image" Target="/ppt/media/image5.png" Id="Rd05b17cf04ae4946" /><Relationship Type="http://schemas.openxmlformats.org/officeDocument/2006/relationships/notesSlide" Target="/ppt/notesSlides/notesSlide5.xml" Id="R51cd92ff314c4a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ceba5b9fe4241" /><Relationship Type="http://schemas.openxmlformats.org/officeDocument/2006/relationships/image" Target="/ppt/media/image6.png" Id="R7cde70d17f954a68" /><Relationship Type="http://schemas.openxmlformats.org/officeDocument/2006/relationships/image" Target="/ppt/media/image7.png" Id="R64da27e8d97a443c" /><Relationship Type="http://schemas.openxmlformats.org/officeDocument/2006/relationships/notesSlide" Target="/ppt/notesSlides/notesSlide6.xml" Id="Ra07e195d8c584c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a3ab5c8314299" /><Relationship Type="http://schemas.openxmlformats.org/officeDocument/2006/relationships/image" Target="/ppt/media/image8.png" Id="Ra29553ea0e694fc8" /><Relationship Type="http://schemas.openxmlformats.org/officeDocument/2006/relationships/notesSlide" Target="/ppt/notesSlides/notesSlide7.xml" Id="R1973293094f840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5903500f34540" /><Relationship Type="http://schemas.openxmlformats.org/officeDocument/2006/relationships/image" Target="/ppt/media/image9.png" Id="R3d9c9722fbd74a3d" /><Relationship Type="http://schemas.openxmlformats.org/officeDocument/2006/relationships/notesSlide" Target="/ppt/notesSlides/notesSlide8.xml" Id="Rb05b5c095e5140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512d2267e4212" /><Relationship Type="http://schemas.openxmlformats.org/officeDocument/2006/relationships/image" Target="/ppt/media/image10.png" Id="R9467fc27770649df" /><Relationship Type="http://schemas.openxmlformats.org/officeDocument/2006/relationships/notesSlide" Target="/ppt/notesSlides/notesSlide9.xml" Id="Raa6a182e7da043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505bf8f846e2" /><Relationship Type="http://schemas.openxmlformats.org/officeDocument/2006/relationships/image" Target="/ppt/media/image11.png" Id="R1d1b1de9004944e6" /><Relationship Type="http://schemas.openxmlformats.org/officeDocument/2006/relationships/notesSlide" Target="/ppt/notesSlides/notesSlide10.xml" Id="R372df7e5374f44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297395d6e410d" /><Relationship Type="http://schemas.openxmlformats.org/officeDocument/2006/relationships/image" Target="/ppt/media/image12.png" Id="R06890ddeb03c46db" /><Relationship Type="http://schemas.openxmlformats.org/officeDocument/2006/relationships/notesSlide" Target="/ppt/notesSlides/notesSlide11.xml" Id="Rb5ba04d01f294b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20ee165c5450a" /><Relationship Type="http://schemas.openxmlformats.org/officeDocument/2006/relationships/image" Target="/ppt/media/image13.png" Id="Racfff7b87f514d01" /><Relationship Type="http://schemas.openxmlformats.org/officeDocument/2006/relationships/image" Target="/ppt/media/image14.png" Id="Rf5b33d15f66f44fa" /><Relationship Type="http://schemas.openxmlformats.org/officeDocument/2006/relationships/image" Target="/ppt/media/image15.png" Id="Rfc2b63a79c294000" /><Relationship Type="http://schemas.openxmlformats.org/officeDocument/2006/relationships/image" Target="/ppt/media/image16.png" Id="R9b051715f13f4b43" /><Relationship Type="http://schemas.openxmlformats.org/officeDocument/2006/relationships/notesSlide" Target="/ppt/notesSlides/notesSlide12.xml" Id="R02859b96f05147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0547da41641cd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0C948-850A-474F-BB56-E2FB3C9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12D5C-1676-481B-8CF1-AF29B0C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410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F8752-BDEE-4FDC-A1B3-761EED6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2026 LINE AI 創新創業競賽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40A00-D52F-4729-ACF0-B3B51984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Temple AI 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117D3-118B-4A16-930A-B518A38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智慧宮廟 AI 服務入口與數位營運平台</a:t>
            </a:r>
          </a:p>
        </p:txBody>
      </p:sp>
    </p:spTree>
    <p:extLst>
      <p:ext uri="{BB962C8B-B14F-4D97-AF65-F5344CB8AC3E}">
        <p14:creationId xmlns:p14="http://schemas.microsoft.com/office/powerpoint/2010/main" val="2054495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5ABF4-B8E9-4648-8F87-7FD43687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E508D-D3FE-48B1-BA51-42440F2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39BAF-7D85-43F5-AF39-4DA74F9E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宮廟數位服務缺口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8CD1F-62FF-4F08-BBA3-3C5606B8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信眾已經在 LINE 裡，宮廟服務仍分散在電話、紙本與現場口耳相傳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CB3DF-5746-4D6A-BA08-2F53893B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DD53E-1166-48E1-8923-0D2CEA6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DB106-E536-4B6E-B7C6-16D7563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4D60B-293A-4D2A-8A7A-15ADE94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29EA4-2038-43B3-8723-5A37B7C0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2050"/>
            <a:ext cx="4191000" cy="4381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7be14115245f2"/>
          <a:srcRect xmlns:a="http://schemas.openxmlformats.org/drawingml/2006/main" l="0" t="33399" r="0" b="3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573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545E9-DFF1-4B8F-9CAC-882912A6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526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B9251C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54C22-24D3-4EF0-B6B5-075C5A19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E1715-88FE-4E3E-8E75-FBF010CB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入口分散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資料斷裂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志工耗時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E6F8B-36CD-4648-BD50-1743932C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A6AB3-0D7A-4D10-9C2E-46D9E07B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信眾找不到入口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81907-4243-46AD-B447-2AA2993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參拜規矩、活動資訊、交通與客服分散，第一次到訪者需要有人帶路。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1262F-F0A8-4547-8A25-9D1C3641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7EA07-E942-425A-8843-39E569DD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廟方行政重複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46ABE-CFDD-46F8-94B0-4D63686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報名、通知、查詢與名冊整理仰賴人工，越接近祭典越容易出錯。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A9648-1465-4591-A4F1-A779C04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5F7B7-845E-4304-9BE3-B5C4A416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文化知識難延續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41DF0-BBE4-4A24-ADCC-A8571D91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神明由來、建築故事與儀式禁忌缺少可搜尋、可更新、可審核的數位載體。</a:t>
            </a:r>
          </a:p>
        </p:txBody>
      </p:sp>
    </p:spTree>
    <p:extLst>
      <p:ext uri="{BB962C8B-B14F-4D97-AF65-F5344CB8AC3E}">
        <p14:creationId xmlns:p14="http://schemas.microsoft.com/office/powerpoint/2010/main" val="465273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8737F0-5074-4893-867E-4756471D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0BC42-31F3-4E3B-8A24-9EDB2F5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產品定位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BD1F2-E8E7-4B24-9FD3-97B677C9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裡的智慧宮廟入口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B259F-5593-4194-8AB5-3F2E0FC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以官方帳號為主入口，把導覽、問答、活動與後台營運連成一條服務路徑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08B46-C423-43B2-9664-82338C1B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E30F9-0BC5-47DA-B512-53E8EED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C122E-A978-4D80-B3E0-CE72712A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510B2-4A60-4FDF-BCA0-5D6DF1A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9E158-8D52-40CE-9073-4596045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71550"/>
            <a:ext cx="2819400" cy="54102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fd1a0e93e40b8"/>
          <a:srcRect xmlns:a="http://schemas.openxmlformats.org/drawingml/2006/main" l="0" t="3085" r="0" b="3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2628900" cy="52197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64E74-1DFF-4AE7-8B18-C67F2550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A124F-72A2-4CD0-AA4E-2F5C7F4D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信眾端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287CF-ADDF-41A2-B1E3-C542D1CD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掃碼加入後，直接在聊天室進入參拜指南、文化解籤、法會報名、宮廟動態與客服。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1C868-D22D-462B-9947-4A989514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2AA44-5B1F-4A4C-B142-FAF59B83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廟方端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909DE-41B6-4E17-8D52-C0371712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後台集中管理活動、公告、報名名冊、客服追蹤與知識內容，降低日常行政負擔。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A9652-DAAD-4410-8598-DDBBCBA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8293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486E2-C548-4519-A69F-C6C016A2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文化端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84E08-CCD7-41BF-A2A7-8F3236F4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把公開文史資料、參拜流程與民俗互動整理為可查詢、可審核、可持續更新的知識庫。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0451A-D8A3-486A-BFA7-CD85C8E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444A2-DA32-4DA4-A1C5-0F2571CA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OA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08C7C-2270-41EA-8998-6B08E026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435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86B1D-0BC1-422C-B334-8FC5F9AF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Rich Menu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DDC7D-A0AA-493D-B5A1-8E47197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AEBEB-62BA-4871-83DC-21AC1102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EF770-82BC-4B18-B078-53D835D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E7953-8521-48BD-844D-198864C0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Messaging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5CB9C-B5B9-4058-9F41-E260D93B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4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0DF9B-7805-4860-AB96-4E5CEA0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1047562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68002-27BB-4649-A009-CD60EE57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9AF99-16CA-45C0-ADE9-D9BDBFD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LINE 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7C9DA-47C9-4813-86F1-16FCB230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官方帳號成為服務大廳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62144-C284-4FF8-BAE2-1DFC8CC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負責分流，LIFF 負責表單，Messaging API 負責提醒與回覆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1A3DE-4D33-47D1-98DD-6E30C7D2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D2E1E-BEC8-435F-9665-3B82B644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DB4C1-083C-473F-BF3D-7315103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4F85-1BB6-4D21-9337-C44824FF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077FE-5207-4BB1-B80E-D88EF208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625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8931cda994e46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09800"/>
            <a:ext cx="49720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CC6E9-DD73-43CF-8720-806E04B6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六格入口覆蓋高頻需求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AC10B-5BB4-4F86-8F99-04352E7E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參拜指南、解籤諮詢、法會報名、AI 分析、宮廟動態與客服，全部從同一個 LINE 入口開始。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668CC-DD64-4373-956B-1119C74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9D606-4BB9-4718-BF42-4908DEF4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點選 Rich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B8AB5-F4B7-451E-B186-5AB0D1A1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信眾不用記網址，依需求點選圖文選單。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E3377-F387-4232-A9E3-CD0A50D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C9F3D-70C6-4C95-AF86-D302F51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開啟 LIFF 或 Flex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90A4E-EE17-4CB0-A1B0-D36AA13E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活動與表單保留 LINE 內的使用情境。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2DB0D-69D6-4774-93AA-1EC0B4B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1144E-C6F7-4F92-AFC7-6D2347E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回到通知與客服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A3634-BE63-49B4-AF1D-685910D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報名後可查進度，也能由 Messaging API 發送提醒。</a:t>
            </a:r>
          </a:p>
        </p:txBody>
      </p:sp>
    </p:spTree>
    <p:extLst>
      <p:ext uri="{BB962C8B-B14F-4D97-AF65-F5344CB8AC3E}">
        <p14:creationId xmlns:p14="http://schemas.microsoft.com/office/powerpoint/2010/main" val="1802694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10E356-3713-484E-BCB2-BF6E0ACC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778D9-4837-4422-A500-0246E0DB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 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11555-0849-4C61-A625-65E23943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LIFF 活動報名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DA176-2591-4DB6-8304-2AB3395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聊天室內完成活動瀏覽、資料填寫與提醒勾選，後台同步管理名額與名冊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F65B9-00A8-4B82-A663-60CF54DC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BAB47-7D59-49C5-A971-31EC455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A448D-875C-462C-B85F-7F4415F2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BB051-2E68-4946-89C9-FE09F7E7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BC59F-3F84-40BA-B7B0-6F39EAB7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533650" cy="400050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cac6eb4d04890"/>
          <a:srcRect xmlns:a="http://schemas.openxmlformats.org/drawingml/2006/main" l="0" t="25728" r="0" b="25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981200"/>
            <a:ext cx="2343150" cy="3810000"/>
          </a:xfrm>
          <a:prstGeom xmlns:a="http://schemas.openxmlformats.org/drawingml/2006/main" prst="roundRect">
            <a:avLst>
              <a:gd name="adj" fmla="val 65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37503-5B06-4B87-8206-0D8B212A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85750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b17cf04ae4946"/>
          <a:srcRect xmlns:a="http://schemas.openxmlformats.org/drawingml/2006/main" l="0" t="27363" r="0" b="27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981200"/>
            <a:ext cx="2667000" cy="3810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E48E4-EA13-4523-BF7B-1CA41B2C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報名流程收斂成三步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2B66A-1918-4EF1-BD85-EA73A034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7049A-E986-4098-BF7C-990C58DE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看活動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55AD9-67DD-4BA6-8234-41C425EE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活動中心展示法會、導覽與講堂內容。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21977-AFE3-45FC-B712-4B4871C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9541F-4EED-41E6-8A6E-6F73C809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填表單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3D50D-94B9-479C-B19F-63342F6F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姓名、人數、提醒選項在 LIFF 頁面完成。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76DC7-9C3B-44C8-8B41-8C5CC08A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3BD0A-FB51-4D3B-81CF-9E3DC34E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進後台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590F1-4F50-4B07-B738-5A66CBB8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報名資料進入後台清冊，廟方可查詢與匯出。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C2A59-94AE-42C8-AB16-635FB66F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F6513-8FC8-4B8F-9E99-952AB486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E6D54-5034-4407-860F-567AB555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43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12044-C050-4314-8B5A-37B5BF9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07B916-CABD-48D8-B59A-337D73FB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35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502A8-C3C8-4DBB-A470-DC535CE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00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FastAPI</a:t>
            </a:r>
          </a:p>
        </p:txBody>
      </p:sp>
    </p:spTree>
    <p:extLst>
      <p:ext uri="{BB962C8B-B14F-4D97-AF65-F5344CB8AC3E}">
        <p14:creationId xmlns:p14="http://schemas.microsoft.com/office/powerpoint/2010/main" val="1849487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6D707-4CCE-4EE8-BDB4-832D821C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9070E-478D-4972-971E-453FF94C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986AB-C2A2-4B40-A06D-B0A8FE8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抽籤與擲筊變成可理解流程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0E8B-9451-447E-9F7B-3B8FBB67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保留民俗儀式的節奏，同時用清楚介面降低第一次使用者的心理門檻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B27F4-F4FC-40B3-A78B-4DD0B41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5BB0D-309C-42AD-8A69-97C4BFA5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F5DB6-906B-460D-8D3A-55C82F75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EF971-CC97-4FA1-885B-1F76E341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8DF1F-E6CE-4FF7-91BB-3DB8B246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70d17f954a68"/>
          <a:srcRect xmlns:a="http://schemas.openxmlformats.org/drawingml/2006/main" l="0" t="17851" r="0" b="1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A7012-01CD-43A7-85A8-872B9157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a27e8d97a443c"/>
          <a:srcRect xmlns:a="http://schemas.openxmlformats.org/drawingml/2006/main" l="0" t="16932" r="0" b="16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16865-F3F2-4436-837D-11A5986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三個安全邊界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D52D3-B3F7-4381-B092-94A00ED6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31828-9285-45CF-931C-CB395375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不斷言吉凶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D3F1E-9F63-466F-A8C0-9E9C122E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籤詩解讀採正向提醒，避免對人生重大決策做絕對判斷。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AF268-0349-461D-A0BD-73A9883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605F6-F43F-403C-BBB0-AA10CDA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回到正式窗口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0F5B5-7B93-4821-9917-62EE6CA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涉及活動、服務與現場細節時，提醒以廟方公告與現場人員為準。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8F93E-5109-4EBF-A284-58E18D8F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3294A-F305-4A21-ACDF-EA4A659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保留文化語氣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E6EE2-8E87-43C6-8693-F0BB939A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以白話解釋流程，不把民俗互動包裝成神諭或絕對預測。</a:t>
            </a:r>
          </a:p>
        </p:txBody>
      </p:sp>
    </p:spTree>
    <p:extLst>
      <p:ext uri="{BB962C8B-B14F-4D97-AF65-F5344CB8AC3E}">
        <p14:creationId xmlns:p14="http://schemas.microsoft.com/office/powerpoint/2010/main" val="1093157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CABB7-4BE0-43CB-8C8B-9E23BA1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16A00-AF1B-449D-BF8E-D0FB57BF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04AB4-B185-42A2-A01C-419743D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AI 文史問答安全邊界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66F5C-41A1-4354-A754-4F22C642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把公開資料整理成可搜尋知識，讓 AI 回答有依據、有分寸、可被廟方維護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F2D38-157F-4483-93D8-B3E9A32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1E9A6-65AA-4E78-8132-C6AD990E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D0216-DEA4-4230-83AD-ACD4E57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CCD8F-C80F-41D6-A3B2-89B40325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C416D-99CB-4437-B9F2-66F89F7C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553ea0e694fc8"/>
          <a:stretch xmlns:a="http://schemas.openxmlformats.org/drawingml/2006/main"/>
        </p:blipFill>
        <p:spPr>
          <a:xfrm xmlns:a="http://schemas.openxmlformats.org/drawingml/2006/main">
            <a:off x="1213435" y="2152650"/>
            <a:ext cx="532648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4CC2B-5180-4339-84FD-3391CF0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內容治理原則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8C848-4B46-44F1-91FD-71264457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702CF-516A-47B9-9F38-80EDC9BC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先找資料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9C276-7EA2-495F-A37E-A65603B8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以公開文史與服務資料作為回答基礎。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2137C-0472-46A8-BD0E-2906C4F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934CC-B68B-472F-AB95-44DB7813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再生成回覆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1076-71DC-405D-8906-8B07A62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只回答可追溯內容，降低錯答與幻想風險。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6D143-5DCA-411A-AAD1-8B42DE05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1005D-DBAF-429E-8D7C-2B02B92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保留人工審核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660BB-191C-465A-B493-B325DEDE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文化與儀式資料由廟方或維護者更新。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47BC8-23C6-4125-9599-D31200E7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62103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60560-50E8-45D8-B0DF-6A4111D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AI 不扮演神明、不宣稱神諭、不處理醫療投資等敏感決策。這條邊界會直接寫進系統提示詞與安全回覆規則。</a:t>
            </a:r>
          </a:p>
        </p:txBody>
      </p:sp>
    </p:spTree>
    <p:extLst>
      <p:ext uri="{BB962C8B-B14F-4D97-AF65-F5344CB8AC3E}">
        <p14:creationId xmlns:p14="http://schemas.microsoft.com/office/powerpoint/2010/main" val="962955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3EBAC-B116-45DE-9BDB-433A620E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CBC01-EC39-4A92-87C6-B8C7005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CB2FA-877A-49C4-B935-02C77B2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廟務營運後台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2CB58-3CFD-4B4F-8F51-9A0761C1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廟方可自行維護基本資料、公告、活動與服務內容，減少每次都要請工程人員改版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DD93B-7FD8-4DAF-8489-DA0CFD27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EC518-90CD-4CA6-B8CA-BB44153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2270-3ADD-4396-A501-0285AAFC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2BDB0-94C8-4F70-AD1B-E70AACC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634F9-DB24-4744-A3AC-B6EC0A93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961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c9722fbd74a3d"/>
          <a:srcRect xmlns:a="http://schemas.openxmlformats.org/drawingml/2006/main" l="0" t="13565" r="0" b="1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19300"/>
            <a:ext cx="6705600" cy="3257550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89237-ADC6-4869-A353-87254170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即時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EBB1C-5B11-4EF2-B51A-50BCCDF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1EEAD-86AE-443E-87FB-D74B023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公告與服務資料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843AD-0BFC-4C81-A43C-1594BD68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分權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04D02-B761-47CB-8F48-89B6A96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862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76C2A-2C52-46D6-ADF0-11DD2FBE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9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Admin 與 Staff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操作權限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8C789-2790-409C-B0F2-5BFF88C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A9F20-EE44-46E9-BFBB-B314F5C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AD7FF-EAC8-480C-867F-BC128AFE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登入與異動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便於追蹤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B32F7-3336-4800-8908-C0131A16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286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FB22E-8EC6-4719-A766-EB461F4F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此頁呈現實際後台設定畫面：廟名、全銜、主祀神祇、開放時段、公告與服務指引可集中維護。</a:t>
            </a:r>
          </a:p>
        </p:txBody>
      </p:sp>
    </p:spTree>
    <p:extLst>
      <p:ext uri="{BB962C8B-B14F-4D97-AF65-F5344CB8AC3E}">
        <p14:creationId xmlns:p14="http://schemas.microsoft.com/office/powerpoint/2010/main" val="1724500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5BADB-4527-4D65-9BE6-1FA7E07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A34BC-A353-4A68-98A2-EBE3F1F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技術架構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84DA9-217A-4975-A88A-E8E2091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到資料庫的服務閉環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FC28F-8625-4E35-9CDD-D79CC0B7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入口、Webhook、LIFF、後端、資料庫與知識庫都有清楚責任邊界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B8AD6-296F-4DD9-A52E-234CF0C4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87C64-6514-4070-B6D8-94C36AD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499EA-CD40-4B02-A60A-04C41FB1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EBF36-EE64-4D53-BB6F-773C651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F9F29-591C-47B1-A2B4-A1C32809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9723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7fc27770649df"/>
          <a:stretch xmlns:a="http://schemas.openxmlformats.org/drawingml/2006/main"/>
        </p:blipFill>
        <p:spPr>
          <a:xfrm xmlns:a="http://schemas.openxmlformats.org/drawingml/2006/main">
            <a:off x="895350" y="1962150"/>
            <a:ext cx="640080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3D453-0DFB-4242-B4A9-80F06B7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架構重點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AF3D7-E3E6-4E80-9267-15C40C4A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D7634-276E-4902-B8B1-06B4ACB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EED0D-3CC3-4262-814D-7FB4A786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與 Messaging API 接住高頻服務需求。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6D8BC-23C5-4C59-ADA0-7951167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0A7B7-5804-44CA-9B78-DE40A16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後端任務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58567-E1C3-49D2-8A53-3452CB65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FastAPI 負責驗證、資料處理、RAG 與通知流程。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69114-039F-4A8D-87AB-DC510E50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0099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54116-0474-4BE7-A520-C8677B1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資料治理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734D1-3D80-45FC-BE40-62C90C24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PostgreSQL 保存使用者、活動與營運資料，知識庫支援文化問答。</a:t>
            </a:r>
          </a:p>
        </p:txBody>
      </p:sp>
    </p:spTree>
    <p:extLst>
      <p:ext uri="{BB962C8B-B14F-4D97-AF65-F5344CB8AC3E}">
        <p14:creationId xmlns:p14="http://schemas.microsoft.com/office/powerpoint/2010/main" val="39562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29676E-4B80-4CAC-9D4C-301B5D9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DF7A-26E1-46FF-A21B-AE96549C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商業模式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01E41-C4DD-48AD-83CA-6AAB2761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商業模式與驗證成果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AEC13-9560-496D-97AD-BF8F7199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 SaaS 訂閱為基礎，活動模組、客製導入與文創內容提高長期收入彈性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D72F4-6B72-47BE-9FE0-3ED46B0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9281A-F14F-4923-B701-3772AFB5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4077-131C-4484-A992-E83A8130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B0F02-3427-4965-9ADA-45C6CE0B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BEE22-42A4-4353-9D03-A19396BF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F0FCE-7D5F-4AC5-81E5-5556B80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基礎訂閱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EABDB-D040-4E68-8EF2-92E916B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中小型宮廟使用標準化 LINE 入口、AI 問答、活動報名與後台管理。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EDA36-28D5-4161-B8FF-890EE51D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E0EB7-9382-40B6-892A-B2764839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客製導入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DFFAA-8A0B-4F63-A490-067B9B8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百年宮廟可擴充專屬文史、科儀流程、導覽內容與後台欄位。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903EE-820A-4AD6-B73D-E7F9CB9A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A7D2B-BD61-4A83-AD8A-0323FAAB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慶典模組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F59EA-9050-445C-B61D-497147C4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媽祖誕辰、普度與建醮等高峰活動可啟用報名、通知與排隊能力。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6B2A0-1995-4422-ABC0-F3A77FC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9B627-A517-4963-A41A-642FC7D0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rPr>
              <a:t>文創延伸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FD074-2B25-42DE-BC23-30DBE2FF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春福小使貼圖與商圈導流，讓文化互動延伸到日常社群。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FB7C4-3938-4152-8777-2975A659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3385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b1de9004944e6"/>
          <a:stretch xmlns:a="http://schemas.openxmlformats.org/drawingml/2006/main"/>
        </p:blipFill>
        <p:spPr>
          <a:xfrm xmlns:a="http://schemas.openxmlformats.org/drawingml/2006/main">
            <a:off x="7236619" y="2266950"/>
            <a:ext cx="2995613" cy="2266950"/>
          </a:xfrm>
          <a:prstGeom xmlns:a="http://schemas.openxmlformats.org/drawingml/2006/main" prst="roundRect">
            <a:avLst>
              <a:gd name="adj" fmla="val 672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DF62E-A5CA-43DB-9F81-974FEE8A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0386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0F67C-B43E-4347-ACCC-30F8F256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69 / 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C945D-F13A-4AA0-80D7-8B1A9B0B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C7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5BBB7-88B1-4941-9D17-40E8AA8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後端測試通過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146F9-7684-4017-8DDB-D62B199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21991-6825-434E-A03C-90AECE2E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D91EA9-E45E-4E28-9F90-05A1490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公開服務檢查通過</a:t>
            </a:r>
          </a:p>
        </p:txBody>
      </p:sp>
    </p:spTree>
    <p:extLst>
      <p:ext uri="{BB962C8B-B14F-4D97-AF65-F5344CB8AC3E}">
        <p14:creationId xmlns:p14="http://schemas.microsoft.com/office/powerpoint/2010/main" val="1507667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176F8-D33C-49CB-AA0E-DAC36111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748BB-F35B-4479-9257-ABEECC2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發展藍圖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3F2FD-3F21-4442-9953-D8F28AA0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從公開 Demo 到可導入產品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6CD56-92E7-4730-BA07-E3D4A284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目前先交付可體驗 Demo，後續補齊現場硬體互動、正式場域授權與跨廟模板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D877F-7CAB-4F6C-A240-E27DA22A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110C1-C02F-4239-ACAF-A768240D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2573B-FDBF-4410-A147-B66B3855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75EC1-2F23-49BB-8B66-1624F143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37933-7C87-4EAC-9DE9-C54FB47B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961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90ddeb03c46db"/>
          <a:stretch xmlns:a="http://schemas.openxmlformats.org/drawingml/2006/main"/>
        </p:blipFill>
        <p:spPr>
          <a:xfrm xmlns:a="http://schemas.openxmlformats.org/drawingml/2006/main">
            <a:off x="751417" y="1962150"/>
            <a:ext cx="7088717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CA89F-1D7E-4771-BB86-F3C3FD67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EBC8-3485-45A6-8B76-A703A3C1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送件階段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FB39C-E200-4D24-AC5D-0A34DC9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Demo、簡報、影片與測試紀錄完成，評審可先體驗公開服務。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853CE-99E0-41A9-8BB4-F681283F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8D24C-7F6F-464F-92F9-FB532BF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入選三個月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060CA-0371-49AE-A766-527907B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補齊現場 QR、NFC 或 Beacon 互動，取得場域授權後再對外宣稱合作導入。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CF38E-40F9-4DD0-9B97-049662C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5FE40-09BF-45F0-8557-BCD7C724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一年藍圖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37F40-33A7-4C6E-A6A3-70A635F5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將活動、知識庫、Rich Menu 與後台設定包裝成可複製模板。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31020-5AD2-48E7-983B-8CC6308D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05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3DACA-21EB-403B-8144-8118EDB5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送件前仍需補 YouTube 連結與簽署文件。</a:t>
            </a:r>
          </a:p>
        </p:txBody>
      </p:sp>
    </p:spTree>
    <p:extLst>
      <p:ext uri="{BB962C8B-B14F-4D97-AF65-F5344CB8AC3E}">
        <p14:creationId xmlns:p14="http://schemas.microsoft.com/office/powerpoint/2010/main" val="1948456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FCEB3-8B91-42CA-93D7-BF10709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6B48E-A3AA-42B1-B41C-A6F95E71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F256C-750E-4B52-AFB3-391F9B26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"/>
            <a:ext cx="2438400" cy="5867400"/>
          </a:xfrm>
          <a:prstGeom xmlns:a="http://schemas.openxmlformats.org/drawingml/2006/main" prst="roundRect">
            <a:avLst>
              <a:gd name="adj" fmla="val 117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7A1F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ff7b87f514d01"/>
          <a:stretch xmlns:a="http://schemas.openxmlformats.org/drawingml/2006/main"/>
        </p:blipFill>
        <p:spPr>
          <a:xfrm xmlns:a="http://schemas.openxmlformats.org/drawingml/2006/main">
            <a:off x="8686800" y="1050642"/>
            <a:ext cx="2247900" cy="4756717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33d15f66f44fa"/>
          <a:stretch xmlns:a="http://schemas.openxmlformats.org/drawingml/2006/main"/>
        </p:blipFill>
        <p:spPr>
          <a:xfrm xmlns:a="http://schemas.openxmlformats.org/drawingml/2006/main">
            <a:off x="876300" y="9906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4AF28-266B-4482-8573-27FC36E4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科技賦能信仰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智慧傳承文化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CD01B-B08B-412D-963B-77442B1A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rPr>
              <a:t>Temple AI OS 智慧宮廟平台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20363-3A0D-4D9A-B905-BE09943A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LINE OA：@983zhzni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 Demo：前台、後台、API 已完成基礎驗證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補件提醒：YouTube 連結與簽署文件需送件前完成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62028-51F5-4BC2-A289-13BB439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23950"/>
            <a:ext cx="1581150" cy="18097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b63a79c294000"/>
          <a:stretch xmlns:a="http://schemas.openxmlformats.org/drawingml/2006/main"/>
        </p:blipFill>
        <p:spPr>
          <a:xfrm xmlns:a="http://schemas.openxmlformats.org/drawingml/2006/main">
            <a:off x="6743700" y="129540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1E04A-2940-4B9C-8882-5F2EAF54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LINE 加好友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52379-EE76-4F2E-9067-0FE7981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@983zhzni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F3716-04E9-48D4-96E0-43D9156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581150" cy="18097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51715f13f4b43"/>
          <a:stretch xmlns:a="http://schemas.openxmlformats.org/drawingml/2006/main"/>
        </p:blipFill>
        <p:spPr>
          <a:xfrm xmlns:a="http://schemas.openxmlformats.org/drawingml/2006/main">
            <a:off x="6743700" y="36004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B5FBC-77D2-44EC-80FC-48CA2682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LIFF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AC63C-B2F9-4BA7-89C2-A07A7AD1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掃描體驗入口</a:t>
            </a:r>
          </a:p>
        </p:txBody>
      </p:sp>
    </p:spTree>
    <p:extLst>
      <p:ext uri="{BB962C8B-B14F-4D97-AF65-F5344CB8AC3E}">
        <p14:creationId xmlns:p14="http://schemas.microsoft.com/office/powerpoint/2010/main" val="500440672"/>
      </p:ext>
    </p:extLst>
  </p:cSld>
</p:sld>
</file>

<file path=ppt/theme/theme1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2026-09-13T06:37:48.7160000Z</dcterms:created>
  <dcterms:modified xsi:type="dcterms:W3CDTF">2026-09-13T06:37:48.7160000Z</dcterms:modified>
</coreProperties>
</file>