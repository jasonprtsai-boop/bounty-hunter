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e12c624ef1f45e1" /><Relationship Type="http://schemas.openxmlformats.org/officeDocument/2006/relationships/extended-properties" Target="/docProps/app.xml" Id="Rdf7666dac5904152" /><Relationship Type="http://schemas.openxmlformats.org/officeDocument/2006/relationships/officeDocument" Target="/ppt/presentation.xml" Id="R9620afb4229e4e8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dd119572bf44c7f"/>
  </p:sldMasterIdLst>
  <p:notesMasterIdLst>
    <p:notesMasterId xmlns:r="http://schemas.openxmlformats.org/officeDocument/2006/relationships" r:id="R6088bb70db8e4c78"/>
  </p:notesMasterIdLst>
  <p:sldIdLst>
    <p:sldId xmlns:r="http://schemas.openxmlformats.org/officeDocument/2006/relationships" id="256" r:id="R05c7cf2e688e4584"/>
    <p:sldId xmlns:r="http://schemas.openxmlformats.org/officeDocument/2006/relationships" id="257" r:id="Rf6dd2d1054b54fca"/>
    <p:sldId xmlns:r="http://schemas.openxmlformats.org/officeDocument/2006/relationships" id="258" r:id="R501d1460cbd144d5"/>
    <p:sldId xmlns:r="http://schemas.openxmlformats.org/officeDocument/2006/relationships" id="259" r:id="R82e11819da884bb2"/>
    <p:sldId xmlns:r="http://schemas.openxmlformats.org/officeDocument/2006/relationships" id="260" r:id="R87059ef292e84e9b"/>
    <p:sldId xmlns:r="http://schemas.openxmlformats.org/officeDocument/2006/relationships" id="261" r:id="R0a9f4f4bc0ea4af2"/>
    <p:sldId xmlns:r="http://schemas.openxmlformats.org/officeDocument/2006/relationships" id="262" r:id="R3bb1c3e775d741cf"/>
    <p:sldId xmlns:r="http://schemas.openxmlformats.org/officeDocument/2006/relationships" id="263" r:id="R4854885d48ae455b"/>
    <p:sldId xmlns:r="http://schemas.openxmlformats.org/officeDocument/2006/relationships" id="264" r:id="R0059b6a1197d4ca9"/>
    <p:sldId xmlns:r="http://schemas.openxmlformats.org/officeDocument/2006/relationships" id="265" r:id="R23e8c53afd664463"/>
    <p:sldId xmlns:r="http://schemas.openxmlformats.org/officeDocument/2006/relationships" id="266" r:id="R0284d4a280584bd9"/>
    <p:sldId xmlns:r="http://schemas.openxmlformats.org/officeDocument/2006/relationships" id="267" r:id="Rb9d8d9a90d104681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b26b9b4a25934c88" /><Relationship Type="http://schemas.openxmlformats.org/officeDocument/2006/relationships/slideMaster" Target="/ppt/slideMasters/slideMaster1.xml" Id="Rbdd119572bf44c7f" /><Relationship Type="http://schemas.openxmlformats.org/officeDocument/2006/relationships/notesMaster" Target="/ppt/notesMasters/notesMaster1.xml" Id="R6088bb70db8e4c78" /><Relationship Type="http://schemas.openxmlformats.org/officeDocument/2006/relationships/presProps" Target="/ppt/presProps.xml" Id="R0561459bfb0142f4" /><Relationship Type="http://schemas.openxmlformats.org/officeDocument/2006/relationships/tableStyles" Target="/ppt/tableStyles.xml" Id="Re136461bb6164378" /><Relationship Type="http://schemas.openxmlformats.org/officeDocument/2006/relationships/slide" Target="/ppt/slides/slide1.xml" Id="R05c7cf2e688e4584" /><Relationship Type="http://schemas.openxmlformats.org/officeDocument/2006/relationships/slide" Target="/ppt/slides/slide2.xml" Id="Rf6dd2d1054b54fca" /><Relationship Type="http://schemas.openxmlformats.org/officeDocument/2006/relationships/slide" Target="/ppt/slides/slide3.xml" Id="R501d1460cbd144d5" /><Relationship Type="http://schemas.openxmlformats.org/officeDocument/2006/relationships/slide" Target="/ppt/slides/slide4.xml" Id="R82e11819da884bb2" /><Relationship Type="http://schemas.openxmlformats.org/officeDocument/2006/relationships/slide" Target="/ppt/slides/slide5.xml" Id="R87059ef292e84e9b" /><Relationship Type="http://schemas.openxmlformats.org/officeDocument/2006/relationships/slide" Target="/ppt/slides/slide6.xml" Id="R0a9f4f4bc0ea4af2" /><Relationship Type="http://schemas.openxmlformats.org/officeDocument/2006/relationships/slide" Target="/ppt/slides/slide7.xml" Id="R3bb1c3e775d741cf" /><Relationship Type="http://schemas.openxmlformats.org/officeDocument/2006/relationships/slide" Target="/ppt/slides/slide8.xml" Id="R4854885d48ae455b" /><Relationship Type="http://schemas.openxmlformats.org/officeDocument/2006/relationships/slide" Target="/ppt/slides/slide9.xml" Id="R0059b6a1197d4ca9" /><Relationship Type="http://schemas.openxmlformats.org/officeDocument/2006/relationships/slide" Target="/ppt/slides/slide10.xml" Id="R23e8c53afd664463" /><Relationship Type="http://schemas.openxmlformats.org/officeDocument/2006/relationships/slide" Target="/ppt/slides/slide11.xml" Id="R0284d4a280584bd9" /><Relationship Type="http://schemas.openxmlformats.org/officeDocument/2006/relationships/slide" Target="/ppt/slides/slide12.xml" Id="Rb9d8d9a90d10468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37dbb4ae4baa425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Temple Editorial">
      <a:dk1>
        <a:srgbClr val="000000"/>
      </a:dk1>
      <a:lt1>
        <a:srgbClr val="FFFFFF"/>
      </a:lt1>
      <a:dk2>
        <a:srgbClr val="1F2933"/>
      </a:dk2>
      <a:lt2>
        <a:srgbClr val="FBF7EF"/>
      </a:lt2>
      <a:accent1>
        <a:srgbClr val="B9251C"/>
      </a:accent1>
      <a:accent2>
        <a:srgbClr val="C79A35"/>
      </a:accent2>
      <a:accent3>
        <a:srgbClr val="06C755"/>
      </a:accent3>
      <a:accent4>
        <a:srgbClr val="244765"/>
      </a:accent4>
      <a:accent5>
        <a:srgbClr val="16815F"/>
      </a:accent5>
      <a:accent6>
        <a:srgbClr val="FFF4D8"/>
      </a:accent6>
      <a:hlink>
        <a:srgbClr val="244765"/>
      </a:hlink>
      <a:folHlink>
        <a:srgbClr val="7F1D1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Temple Editorial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489fb2f1897487b" /><Relationship Type="http://schemas.openxmlformats.org/officeDocument/2006/relationships/notesMaster" Target="/ppt/notesMasters/notesMaster1.xml" Id="R362bb530a8f24aeb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beda30ecb5d54a09" /><Relationship Type="http://schemas.openxmlformats.org/officeDocument/2006/relationships/notesMaster" Target="/ppt/notesMasters/notesMaster1.xml" Id="R1bb3677a4b3348cc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4383f05f8cd44d8b" /><Relationship Type="http://schemas.openxmlformats.org/officeDocument/2006/relationships/notesMaster" Target="/ppt/notesMasters/notesMaster1.xml" Id="R9c6eec0b84904d24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a95b8b680513464c" /><Relationship Type="http://schemas.openxmlformats.org/officeDocument/2006/relationships/notesMaster" Target="/ppt/notesMasters/notesMaster1.xml" Id="Ra080b4a1c1b44cd6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30d60db9b2414614" /><Relationship Type="http://schemas.openxmlformats.org/officeDocument/2006/relationships/notesMaster" Target="/ppt/notesMasters/notesMaster1.xml" Id="Rd0baa7212ab84192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1196da34c5c24926" /><Relationship Type="http://schemas.openxmlformats.org/officeDocument/2006/relationships/notesMaster" Target="/ppt/notesMasters/notesMaster1.xml" Id="Rb63ac25bbd3c40fc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b89b96376dcc4fc8" /><Relationship Type="http://schemas.openxmlformats.org/officeDocument/2006/relationships/notesMaster" Target="/ppt/notesMasters/notesMaster1.xml" Id="R8955e891b21e46bb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c3914d9e39ad4db0" /><Relationship Type="http://schemas.openxmlformats.org/officeDocument/2006/relationships/notesMaster" Target="/ppt/notesMasters/notesMaster1.xml" Id="R6e7406fbe515465c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d9740eb84d0449e3" /><Relationship Type="http://schemas.openxmlformats.org/officeDocument/2006/relationships/notesMaster" Target="/ppt/notesMasters/notesMaster1.xml" Id="R9eadcf406c904e7c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517eb7ac86d74fb5" /><Relationship Type="http://schemas.openxmlformats.org/officeDocument/2006/relationships/notesMaster" Target="/ppt/notesMasters/notesMaster1.xml" Id="R3c9879f495194ae4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eec8717c389b46c3" /><Relationship Type="http://schemas.openxmlformats.org/officeDocument/2006/relationships/notesMaster" Target="/ppt/notesMasters/notesMaster1.xml" Id="Rb76561377a954723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a048bc2976804c27" /><Relationship Type="http://schemas.openxmlformats.org/officeDocument/2006/relationships/notesMaster" Target="/ppt/notesMasters/notesMaster1.xml" Id="R15e0747baec14c9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封面使用既有視覺素材。送件主張為公開 Demo 與公開資料示範場景。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本頁使用實際 Demo 活動中心截圖。市場問題來自企畫書與產品需求整理。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本頁為產品定位說明。右側為 Demo LINE 入口截圖。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本頁強調 LINE 生態結合度。Rich Menu 圖檔來自本專案產生素材。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本頁使用實際 Demo 的 LIFF 報名與活動中心截圖。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本頁使用實際 Demo 的抽籤與擲筊頁面截圖。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本頁使用本專案 RAG 與任務型 Agent 架構圖，說明 AI 安全邊界。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本頁使用實際 Demo 後台設定截圖。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本頁使用本專案架構圖。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本頁使用貼圖預覽圖與本輪驗證結果。69/69 後端測試、20/20 公開服務檢查已在本工作區驗證。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本頁區分已完成、待入選後導入與正式送件仍待補項目。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封底維持安全對外說法，提醒外部待補項目。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b922470105a42e2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fcc50200a2af41ad" /><Relationship Type="http://schemas.openxmlformats.org/officeDocument/2006/relationships/slideLayout" Target="/ppt/slideLayouts/slideLayout1.xml" Id="R2f2c206923c54464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f2c206923c54464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Temple Editorial">
      <a:dk1>
        <a:srgbClr val="000000"/>
      </a:dk1>
      <a:lt1>
        <a:srgbClr val="FFFFFF"/>
      </a:lt1>
      <a:dk2>
        <a:srgbClr val="1F2933"/>
      </a:dk2>
      <a:lt2>
        <a:srgbClr val="FBF7EF"/>
      </a:lt2>
      <a:accent1>
        <a:srgbClr val="B9251C"/>
      </a:accent1>
      <a:accent2>
        <a:srgbClr val="C79A35"/>
      </a:accent2>
      <a:accent3>
        <a:srgbClr val="06C755"/>
      </a:accent3>
      <a:accent4>
        <a:srgbClr val="244765"/>
      </a:accent4>
      <a:accent5>
        <a:srgbClr val="16815F"/>
      </a:accent5>
      <a:accent6>
        <a:srgbClr val="FFF4D8"/>
      </a:accent6>
      <a:hlink>
        <a:srgbClr val="244765"/>
      </a:hlink>
      <a:folHlink>
        <a:srgbClr val="7F1D1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Temple Editorial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4cef9f86ea4440d" /><Relationship Type="http://schemas.openxmlformats.org/officeDocument/2006/relationships/image" Target="/ppt/media/image.jpeg" Id="R5d593e5254a2475b" /><Relationship Type="http://schemas.openxmlformats.org/officeDocument/2006/relationships/notesSlide" Target="/ppt/notesSlides/notesSlide1.xml" Id="R75e80dc09e6c4a93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af02f44566a4ff3" /><Relationship Type="http://schemas.openxmlformats.org/officeDocument/2006/relationships/image" Target="/ppt/media/image.png" Id="R7662142986c34279" /><Relationship Type="http://schemas.openxmlformats.org/officeDocument/2006/relationships/notesSlide" Target="/ppt/notesSlides/notesSlide2.xml" Id="R14b164d6497b4dd7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c5128b7fd26484e" /><Relationship Type="http://schemas.openxmlformats.org/officeDocument/2006/relationships/image" Target="/ppt/media/image2.png" Id="R2791c3564b2b44bb" /><Relationship Type="http://schemas.openxmlformats.org/officeDocument/2006/relationships/notesSlide" Target="/ppt/notesSlides/notesSlide3.xml" Id="R8f9f80e361974cd5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4ac60fe774d4303" /><Relationship Type="http://schemas.openxmlformats.org/officeDocument/2006/relationships/image" Target="/ppt/media/image3.png" Id="R801d906a196448f6" /><Relationship Type="http://schemas.openxmlformats.org/officeDocument/2006/relationships/notesSlide" Target="/ppt/notesSlides/notesSlide4.xml" Id="Rffb335c08c0c4cba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eeb9c4f6ff84d98" /><Relationship Type="http://schemas.openxmlformats.org/officeDocument/2006/relationships/image" Target="/ppt/media/image4.png" Id="Rdfa01d29e94e4454" /><Relationship Type="http://schemas.openxmlformats.org/officeDocument/2006/relationships/image" Target="/ppt/media/image5.png" Id="R089bd12ec3ff44b2" /><Relationship Type="http://schemas.openxmlformats.org/officeDocument/2006/relationships/notesSlide" Target="/ppt/notesSlides/notesSlide5.xml" Id="R0c29d5e6c87a4cf8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a0f5a669d924645" /><Relationship Type="http://schemas.openxmlformats.org/officeDocument/2006/relationships/image" Target="/ppt/media/image6.png" Id="R204d31bd86e44019" /><Relationship Type="http://schemas.openxmlformats.org/officeDocument/2006/relationships/image" Target="/ppt/media/image7.png" Id="R73e6c915db2041e4" /><Relationship Type="http://schemas.openxmlformats.org/officeDocument/2006/relationships/notesSlide" Target="/ppt/notesSlides/notesSlide6.xml" Id="Rce59206278204615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502d3b45f08457b" /><Relationship Type="http://schemas.openxmlformats.org/officeDocument/2006/relationships/image" Target="/ppt/media/image8.png" Id="R9ff6fd52328845d3" /><Relationship Type="http://schemas.openxmlformats.org/officeDocument/2006/relationships/notesSlide" Target="/ppt/notesSlides/notesSlide7.xml" Id="R4f293068eee04cd3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8e874cfee744637" /><Relationship Type="http://schemas.openxmlformats.org/officeDocument/2006/relationships/image" Target="/ppt/media/image9.png" Id="R8edd3e8e9f9a4a09" /><Relationship Type="http://schemas.openxmlformats.org/officeDocument/2006/relationships/notesSlide" Target="/ppt/notesSlides/notesSlide8.xml" Id="R25914bc63fc0480a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03b91e4fc7d4cfa" /><Relationship Type="http://schemas.openxmlformats.org/officeDocument/2006/relationships/image" Target="/ppt/media/image10.png" Id="Rc726e633008f40b2" /><Relationship Type="http://schemas.openxmlformats.org/officeDocument/2006/relationships/notesSlide" Target="/ppt/notesSlides/notesSlide9.xml" Id="R789db716dbff4b89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ec21ce5431e4f7d" /><Relationship Type="http://schemas.openxmlformats.org/officeDocument/2006/relationships/image" Target="/ppt/media/image11.png" Id="R42889bbeaa624960" /><Relationship Type="http://schemas.openxmlformats.org/officeDocument/2006/relationships/notesSlide" Target="/ppt/notesSlides/notesSlide10.xml" Id="Rf1e4b7fd4b814d51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eedaa92a0bc4bdc" /><Relationship Type="http://schemas.openxmlformats.org/officeDocument/2006/relationships/image" Target="/ppt/media/image12.png" Id="R4b63872e21d14ef8" /><Relationship Type="http://schemas.openxmlformats.org/officeDocument/2006/relationships/notesSlide" Target="/ppt/notesSlides/notesSlide11.xml" Id="R7214029cc714480e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710d548b1e840e7" /><Relationship Type="http://schemas.openxmlformats.org/officeDocument/2006/relationships/image" Target="/ppt/media/image13.png" Id="R6b6092a041004b0c" /><Relationship Type="http://schemas.openxmlformats.org/officeDocument/2006/relationships/image" Target="/ppt/media/image14.png" Id="R04e80ea590f046d5" /><Relationship Type="http://schemas.openxmlformats.org/officeDocument/2006/relationships/notesSlide" Target="/ppt/notesSlides/notesSlide12.xml" Id="R1b44a8708e0a496b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d593e5254a2475b"/>
          <a:srcRect xmlns:a="http://schemas.openxmlformats.org/drawingml/2006/main" l="388" t="0" r="388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02A2598-E0DC-40D4-AF46-852A0ABF71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4A1DF82-807B-4EB0-9189-ACC45BE2E9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800600"/>
            <a:ext cx="541020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>
              <a:alpha val="88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3A185D1-D082-4998-918E-8FD82E07D8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010150"/>
            <a:ext cx="342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1">
                <a:solidFill>
                  <a:srgbClr val="B9251C"/>
                </a:solidFill>
                <a:latin typeface="Noto Sans TC"/>
                <a:ea typeface="Noto Sans TC"/>
                <a:cs typeface="Noto Sans TC"/>
              </a:defRPr>
            </a:pPr>
            <a:r>
              <a:rPr sz="1200" b="1">
                <a:solidFill>
                  <a:srgbClr val="B9251C"/>
                </a:solidFill>
                <a:latin typeface="Noto Sans TC"/>
                <a:ea typeface="Noto Sans TC"/>
                <a:cs typeface="Noto Sans TC"/>
              </a:rPr>
              <a:t>2026 LINE AI 創新創業競賽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D71FBDD-9D3A-4D88-B6B8-8F72DA6951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276850"/>
            <a:ext cx="4095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3075" b="1">
                <a:solidFill>
                  <a:srgbClr val="1F2933"/>
                </a:solidFill>
                <a:latin typeface="Noto Sans TC"/>
                <a:ea typeface="Noto Sans TC"/>
                <a:cs typeface="Noto Sans TC"/>
              </a:defRPr>
            </a:pPr>
            <a:r>
              <a:rPr sz="3075" b="1">
                <a:solidFill>
                  <a:srgbClr val="1F2933"/>
                </a:solidFill>
                <a:latin typeface="Noto Sans TC"/>
                <a:ea typeface="Noto Sans TC"/>
                <a:cs typeface="Noto Sans TC"/>
              </a:rPr>
              <a:t>Temple AI OS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04A4134-E03A-4CF4-AF9C-D91D30CF7E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791200"/>
            <a:ext cx="476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1">
                <a:solidFill>
                  <a:srgbClr val="5C6670"/>
                </a:solidFill>
                <a:latin typeface="Noto Sans TC"/>
                <a:ea typeface="Noto Sans TC"/>
                <a:cs typeface="Noto Sans TC"/>
              </a:defRPr>
            </a:pPr>
            <a:r>
              <a:rPr sz="1425" b="1">
                <a:solidFill>
                  <a:srgbClr val="5C6670"/>
                </a:solidFill>
                <a:latin typeface="Noto Sans TC"/>
                <a:ea typeface="Noto Sans TC"/>
                <a:cs typeface="Noto Sans TC"/>
              </a:rPr>
              <a:t>智慧宮廟 AI 服務入口與數位營運平台</a:t>
            </a:r>
          </a:p>
        </p:txBody>
      </p:sp>
    </p:spTree>
    <p:extLst>
      <p:ext uri="{BB962C8B-B14F-4D97-AF65-F5344CB8AC3E}">
        <p14:creationId xmlns:p14="http://schemas.microsoft.com/office/powerpoint/2010/main" val="75263805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BF7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2FC22BD-39B0-42CB-8870-F45C604386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2385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1">
                <a:solidFill>
                  <a:srgbClr val="B9251C"/>
                </a:solidFill>
                <a:latin typeface="Noto Sans TC"/>
                <a:ea typeface="Noto Sans TC"/>
                <a:cs typeface="Noto Sans TC"/>
              </a:defRPr>
            </a:pPr>
            <a:r>
              <a:rPr sz="1125" b="1">
                <a:solidFill>
                  <a:srgbClr val="B9251C"/>
                </a:solidFill>
                <a:latin typeface="Noto Sans TC"/>
                <a:ea typeface="Noto Sans TC"/>
                <a:cs typeface="Noto Sans TC"/>
              </a:rPr>
              <a:t>P.01 / 10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2A426B0-8D45-491D-81E4-63E0513346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3238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1">
                <a:solidFill>
                  <a:srgbClr val="5C6670"/>
                </a:solidFill>
                <a:latin typeface="Noto Sans TC"/>
                <a:ea typeface="Noto Sans TC"/>
                <a:cs typeface="Noto Sans TC"/>
              </a:defRPr>
            </a:pPr>
            <a:r>
              <a:rPr sz="1125" b="1">
                <a:solidFill>
                  <a:srgbClr val="5C6670"/>
                </a:solidFill>
                <a:latin typeface="Noto Sans TC"/>
                <a:ea typeface="Noto Sans TC"/>
                <a:cs typeface="Noto Sans TC"/>
              </a:rPr>
              <a:t>市場需求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D93B660-5245-4EE1-875D-F92BF4DBBD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742950"/>
            <a:ext cx="7810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550" b="1">
                <a:solidFill>
                  <a:srgbClr val="1F2933"/>
                </a:solidFill>
                <a:latin typeface="Noto Sans TC"/>
                <a:ea typeface="Noto Sans TC"/>
                <a:cs typeface="Noto Sans TC"/>
              </a:defRPr>
            </a:pPr>
            <a:r>
              <a:rPr sz="2550" b="1">
                <a:solidFill>
                  <a:srgbClr val="1F2933"/>
                </a:solidFill>
                <a:latin typeface="Noto Sans TC"/>
                <a:ea typeface="Noto Sans TC"/>
                <a:cs typeface="Noto Sans TC"/>
              </a:rPr>
              <a:t>宮廟數位服務缺口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8CC8B5B-A3D4-4989-BBF8-0ECCAF5B8A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276350"/>
            <a:ext cx="7429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275" b="0">
                <a:solidFill>
                  <a:srgbClr val="5C6670"/>
                </a:solidFill>
                <a:latin typeface="Noto Sans TC"/>
                <a:ea typeface="Noto Sans TC"/>
                <a:cs typeface="Noto Sans TC"/>
              </a:defRPr>
            </a:pPr>
            <a:r>
              <a:rPr sz="1275" b="0">
                <a:solidFill>
                  <a:srgbClr val="5C6670"/>
                </a:solidFill>
                <a:latin typeface="Noto Sans TC"/>
                <a:ea typeface="Noto Sans TC"/>
                <a:cs typeface="Noto Sans TC"/>
              </a:rPr>
              <a:t>信眾已經在 LINE 裡，宮廟服務仍分散在電話、紙本與現場口耳相傳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3A2836C-3DA9-46DA-BF62-F287C2CA43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790700"/>
            <a:ext cx="1752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B9251C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C90ABD8-C808-4326-A854-88796F7CDA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419850"/>
            <a:ext cx="10934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7D8BC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CC4552D-87DF-46F5-81D0-F54640C7EC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553200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750" b="0">
                <a:solidFill>
                  <a:srgbClr val="8D7A5D"/>
                </a:solidFill>
                <a:latin typeface="Noto Sans TC"/>
                <a:ea typeface="Noto Sans TC"/>
                <a:cs typeface="Noto Sans TC"/>
              </a:defRPr>
            </a:pPr>
            <a:r>
              <a:rPr sz="750" b="0">
                <a:solidFill>
                  <a:srgbClr val="8D7A5D"/>
                </a:solidFill>
                <a:latin typeface="Noto Sans TC"/>
                <a:ea typeface="Noto Sans TC"/>
                <a:cs typeface="Noto Sans TC"/>
              </a:rPr>
              <a:t>Temple AI OS｜2026 LINE AI 創新創業競賽｜公開 Demo 送件版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90B3108-00A6-4E32-9ADF-337D85056C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6553200"/>
            <a:ext cx="3848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750" b="0">
                <a:solidFill>
                  <a:srgbClr val="8D7A5D"/>
                </a:solidFill>
                <a:latin typeface="Noto Sans TC"/>
                <a:ea typeface="Noto Sans TC"/>
                <a:cs typeface="Noto Sans TC"/>
              </a:defRPr>
            </a:pPr>
            <a:r>
              <a:rPr sz="750" b="0">
                <a:solidFill>
                  <a:srgbClr val="8D7A5D"/>
                </a:solidFill>
                <a:latin typeface="Noto Sans TC"/>
                <a:ea typeface="Noto Sans TC"/>
                <a:cs typeface="Noto Sans TC"/>
              </a:rPr>
              <a:t>示範資料採自公開資訊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26DA137-B0B4-4DA1-AD7E-CCA0325024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162050"/>
            <a:ext cx="4191000" cy="4381500"/>
          </a:xfrm>
          <a:prstGeom xmlns:a="http://schemas.openxmlformats.org/drawingml/2006/main" prst="roundRect">
            <a:avLst>
              <a:gd name="adj" fmla="val 545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9DDC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pic>
        <p:nvPicPr>
          <p:cNvPr id="3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662142986c34279"/>
          <a:srcRect xmlns:a="http://schemas.openxmlformats.org/drawingml/2006/main" l="0" t="33399" r="0" b="3339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572250" y="1257300"/>
            <a:ext cx="4000500" cy="4191000"/>
          </a:xfrm>
          <a:prstGeom xmlns:a="http://schemas.openxmlformats.org/drawingml/2006/main" prst="roundRect">
            <a:avLst>
              <a:gd name="adj" fmla="val 3810"/>
            </a:avLst>
          </a:prstGeom>
        </p:spPr>
      </p:pic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1025DE2-D7A6-4AC0-BBCD-E65496DA4F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4095750"/>
            <a:ext cx="1752600" cy="1200150"/>
          </a:xfrm>
          <a:prstGeom xmlns:a="http://schemas.openxmlformats.org/drawingml/2006/main" prst="roundRect">
            <a:avLst>
              <a:gd name="adj" fmla="val 17460"/>
            </a:avLst>
          </a:prstGeom>
          <a:solidFill xmlns:a="http://schemas.openxmlformats.org/drawingml/2006/main">
            <a:srgbClr val="B9251C">
              <a:alpha val="92000"/>
            </a:srgbClr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950C421-9A0C-4A68-8E8A-6AD321A40A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4324350"/>
            <a:ext cx="133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350" b="1">
                <a:solidFill>
                  <a:srgbClr val="FFFFFF"/>
                </a:solidFill>
                <a:latin typeface="Noto Sans TC"/>
                <a:ea typeface="Noto Sans TC"/>
                <a:cs typeface="Noto Sans TC"/>
              </a:defRPr>
            </a:pPr>
            <a:r>
              <a:rPr sz="1350" b="1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核心缺口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3F35E69-6E91-48E7-940C-DEF7E45F41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4629150"/>
            <a:ext cx="1333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78321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425" b="1">
                <a:solidFill>
                  <a:srgbClr val="FFFFFF"/>
                </a:solidFill>
                <a:latin typeface="Noto Sans TC"/>
                <a:ea typeface="Noto Sans TC"/>
                <a:cs typeface="Noto Sans TC"/>
              </a:defRPr>
            </a:pPr>
            <a:r>
              <a:rPr sz="1425" b="1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入口分散</a:t>
            </a:r>
          </a:p>
          <a:p xmlns:a="http://schemas.openxmlformats.org/drawingml/2006/main">
            <a:pPr algn="ctr">
              <a:lnSpc>
                <a:spcPct val="112000"/>
              </a:lnSpc>
              <a:buNone/>
              <a:defRPr sz="1425" b="1">
                <a:solidFill>
                  <a:srgbClr val="FFFFFF"/>
                </a:solidFill>
                <a:latin typeface="Noto Sans TC"/>
                <a:ea typeface="Noto Sans TC"/>
                <a:cs typeface="Noto Sans TC"/>
              </a:defRPr>
            </a:pPr>
            <a:r>
              <a:rPr sz="1425" b="1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資料斷裂</a:t>
            </a:r>
          </a:p>
          <a:p xmlns:a="http://schemas.openxmlformats.org/drawingml/2006/main">
            <a:pPr algn="ctr">
              <a:lnSpc>
                <a:spcPct val="112000"/>
              </a:lnSpc>
              <a:buNone/>
              <a:defRPr sz="1425" b="1">
                <a:solidFill>
                  <a:srgbClr val="FFFFFF"/>
                </a:solidFill>
                <a:latin typeface="Noto Sans TC"/>
                <a:ea typeface="Noto Sans TC"/>
                <a:cs typeface="Noto Sans TC"/>
              </a:defRPr>
            </a:pPr>
            <a:r>
              <a:rPr sz="1425" b="1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志工耗時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B4BF48D-3B47-487E-A4DF-3F11ACDEF7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266950"/>
            <a:ext cx="4953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550" b="1">
                <a:solidFill>
                  <a:srgbClr val="B9251C"/>
                </a:solidFill>
                <a:latin typeface="Noto Sans TC"/>
                <a:ea typeface="Noto Sans TC"/>
                <a:cs typeface="Noto Sans TC"/>
              </a:defRPr>
            </a:pPr>
            <a:r>
              <a:rPr sz="2550" b="1">
                <a:solidFill>
                  <a:srgbClr val="B9251C"/>
                </a:solidFill>
                <a:latin typeface="Noto Sans TC"/>
                <a:ea typeface="Noto Sans TC"/>
                <a:cs typeface="Noto Sans TC"/>
              </a:rPr>
              <a:t>01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1CA93F6-6AD3-49F3-B8F0-3586E476B0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2286000"/>
            <a:ext cx="409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1">
                <a:solidFill>
                  <a:srgbClr val="1F2933"/>
                </a:solidFill>
                <a:latin typeface="Noto Sans TC"/>
                <a:ea typeface="Noto Sans TC"/>
                <a:cs typeface="Noto Sans TC"/>
              </a:defRPr>
            </a:pPr>
            <a:r>
              <a:rPr sz="1425" b="1">
                <a:solidFill>
                  <a:srgbClr val="1F2933"/>
                </a:solidFill>
                <a:latin typeface="Noto Sans TC"/>
                <a:ea typeface="Noto Sans TC"/>
                <a:cs typeface="Noto Sans TC"/>
              </a:rPr>
              <a:t>信眾找不到入口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D71E018-2C7E-4A3C-BBED-111E92EA15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2590800"/>
            <a:ext cx="4095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125" b="0">
                <a:solidFill>
                  <a:srgbClr val="5C6670"/>
                </a:solidFill>
                <a:latin typeface="Noto Sans TC"/>
                <a:ea typeface="Noto Sans TC"/>
                <a:cs typeface="Noto Sans TC"/>
              </a:defRPr>
            </a:pPr>
            <a:r>
              <a:rPr sz="1125" b="0">
                <a:solidFill>
                  <a:srgbClr val="5C6670"/>
                </a:solidFill>
                <a:latin typeface="Noto Sans TC"/>
                <a:ea typeface="Noto Sans TC"/>
                <a:cs typeface="Noto Sans TC"/>
              </a:rPr>
              <a:t>參拜規矩、活動資訊、交通與客服分散，第一次到訪者需要有人帶路。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4423286-584C-47B5-9476-A493886CF9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409950"/>
            <a:ext cx="4953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550" b="1">
                <a:solidFill>
                  <a:srgbClr val="C79A35"/>
                </a:solidFill>
                <a:latin typeface="Noto Sans TC"/>
                <a:ea typeface="Noto Sans TC"/>
                <a:cs typeface="Noto Sans TC"/>
              </a:defRPr>
            </a:pPr>
            <a:r>
              <a:rPr sz="2550" b="1">
                <a:solidFill>
                  <a:srgbClr val="C79A35"/>
                </a:solidFill>
                <a:latin typeface="Noto Sans TC"/>
                <a:ea typeface="Noto Sans TC"/>
                <a:cs typeface="Noto Sans TC"/>
              </a:rPr>
              <a:t>02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F027966-21E6-4256-A4C5-BF6C2FFD01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3429000"/>
            <a:ext cx="409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1">
                <a:solidFill>
                  <a:srgbClr val="1F2933"/>
                </a:solidFill>
                <a:latin typeface="Noto Sans TC"/>
                <a:ea typeface="Noto Sans TC"/>
                <a:cs typeface="Noto Sans TC"/>
              </a:defRPr>
            </a:pPr>
            <a:r>
              <a:rPr sz="1425" b="1">
                <a:solidFill>
                  <a:srgbClr val="1F2933"/>
                </a:solidFill>
                <a:latin typeface="Noto Sans TC"/>
                <a:ea typeface="Noto Sans TC"/>
                <a:cs typeface="Noto Sans TC"/>
              </a:rPr>
              <a:t>廟方行政重複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A9D5224-B17D-47D2-8498-7907C2AD32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3733800"/>
            <a:ext cx="4095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125" b="0">
                <a:solidFill>
                  <a:srgbClr val="5C6670"/>
                </a:solidFill>
                <a:latin typeface="Noto Sans TC"/>
                <a:ea typeface="Noto Sans TC"/>
                <a:cs typeface="Noto Sans TC"/>
              </a:defRPr>
            </a:pPr>
            <a:r>
              <a:rPr sz="1125" b="0">
                <a:solidFill>
                  <a:srgbClr val="5C6670"/>
                </a:solidFill>
                <a:latin typeface="Noto Sans TC"/>
                <a:ea typeface="Noto Sans TC"/>
                <a:cs typeface="Noto Sans TC"/>
              </a:rPr>
              <a:t>報名、通知、查詢與名冊整理仰賴人工，越接近祭典越容易出錯。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04CE16A-47A3-4902-A6CB-BE992EEFF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552950"/>
            <a:ext cx="4953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550" b="1">
                <a:solidFill>
                  <a:srgbClr val="244765"/>
                </a:solidFill>
                <a:latin typeface="Noto Sans TC"/>
                <a:ea typeface="Noto Sans TC"/>
                <a:cs typeface="Noto Sans TC"/>
              </a:defRPr>
            </a:pPr>
            <a:r>
              <a:rPr sz="2550" b="1">
                <a:solidFill>
                  <a:srgbClr val="244765"/>
                </a:solidFill>
                <a:latin typeface="Noto Sans TC"/>
                <a:ea typeface="Noto Sans TC"/>
                <a:cs typeface="Noto Sans TC"/>
              </a:rPr>
              <a:t>03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79415F5-DCD3-4322-B3A8-A87DF743B9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4572000"/>
            <a:ext cx="409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1">
                <a:solidFill>
                  <a:srgbClr val="1F2933"/>
                </a:solidFill>
                <a:latin typeface="Noto Sans TC"/>
                <a:ea typeface="Noto Sans TC"/>
                <a:cs typeface="Noto Sans TC"/>
              </a:defRPr>
            </a:pPr>
            <a:r>
              <a:rPr sz="1425" b="1">
                <a:solidFill>
                  <a:srgbClr val="1F2933"/>
                </a:solidFill>
                <a:latin typeface="Noto Sans TC"/>
                <a:ea typeface="Noto Sans TC"/>
                <a:cs typeface="Noto Sans TC"/>
              </a:rPr>
              <a:t>文化知識難延續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9AB20C0-699F-4B85-8BB6-3C398A5DFD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4876800"/>
            <a:ext cx="4095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125" b="0">
                <a:solidFill>
                  <a:srgbClr val="5C6670"/>
                </a:solidFill>
                <a:latin typeface="Noto Sans TC"/>
                <a:ea typeface="Noto Sans TC"/>
                <a:cs typeface="Noto Sans TC"/>
              </a:defRPr>
            </a:pPr>
            <a:r>
              <a:rPr sz="1125" b="0">
                <a:solidFill>
                  <a:srgbClr val="5C6670"/>
                </a:solidFill>
                <a:latin typeface="Noto Sans TC"/>
                <a:ea typeface="Noto Sans TC"/>
                <a:cs typeface="Noto Sans TC"/>
              </a:rPr>
              <a:t>神明由來、建築故事與儀式禁忌缺少可搜尋、可更新、可審核的數位載體。</a:t>
            </a:r>
          </a:p>
        </p:txBody>
      </p:sp>
    </p:spTree>
    <p:extLst>
      <p:ext uri="{BB962C8B-B14F-4D97-AF65-F5344CB8AC3E}">
        <p14:creationId xmlns:p14="http://schemas.microsoft.com/office/powerpoint/2010/main" val="206308584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D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A1A13CB-371A-4232-95A5-0DE97A549A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2385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1">
                <a:solidFill>
                  <a:srgbClr val="B9251C"/>
                </a:solidFill>
                <a:latin typeface="Noto Sans TC"/>
                <a:ea typeface="Noto Sans TC"/>
                <a:cs typeface="Noto Sans TC"/>
              </a:defRPr>
            </a:pPr>
            <a:r>
              <a:rPr sz="1125" b="1">
                <a:solidFill>
                  <a:srgbClr val="B9251C"/>
                </a:solidFill>
                <a:latin typeface="Noto Sans TC"/>
                <a:ea typeface="Noto Sans TC"/>
                <a:cs typeface="Noto Sans TC"/>
              </a:rPr>
              <a:t>P.02 / 10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16C97F0-0F1A-4CAF-9D91-A4E7839CB6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3238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1">
                <a:solidFill>
                  <a:srgbClr val="5C6670"/>
                </a:solidFill>
                <a:latin typeface="Noto Sans TC"/>
                <a:ea typeface="Noto Sans TC"/>
                <a:cs typeface="Noto Sans TC"/>
              </a:defRPr>
            </a:pPr>
            <a:r>
              <a:rPr sz="1125" b="1">
                <a:solidFill>
                  <a:srgbClr val="5C6670"/>
                </a:solidFill>
                <a:latin typeface="Noto Sans TC"/>
                <a:ea typeface="Noto Sans TC"/>
                <a:cs typeface="Noto Sans TC"/>
              </a:rPr>
              <a:t>產品定位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1809DE9-0C1A-4432-8014-9CAB7D0538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742950"/>
            <a:ext cx="7810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550" b="1">
                <a:solidFill>
                  <a:srgbClr val="1F2933"/>
                </a:solidFill>
                <a:latin typeface="Noto Sans TC"/>
                <a:ea typeface="Noto Sans TC"/>
                <a:cs typeface="Noto Sans TC"/>
              </a:defRPr>
            </a:pPr>
            <a:r>
              <a:rPr sz="2550" b="1">
                <a:solidFill>
                  <a:srgbClr val="1F2933"/>
                </a:solidFill>
                <a:latin typeface="Noto Sans TC"/>
                <a:ea typeface="Noto Sans TC"/>
                <a:cs typeface="Noto Sans TC"/>
              </a:rPr>
              <a:t>LINE 裡的智慧宮廟入口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39723C3-E123-48F2-8583-4A8D4CB99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276350"/>
            <a:ext cx="7429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275" b="0">
                <a:solidFill>
                  <a:srgbClr val="5C6670"/>
                </a:solidFill>
                <a:latin typeface="Noto Sans TC"/>
                <a:ea typeface="Noto Sans TC"/>
                <a:cs typeface="Noto Sans TC"/>
              </a:defRPr>
            </a:pPr>
            <a:r>
              <a:rPr sz="1275" b="0">
                <a:solidFill>
                  <a:srgbClr val="5C6670"/>
                </a:solidFill>
                <a:latin typeface="Noto Sans TC"/>
                <a:ea typeface="Noto Sans TC"/>
                <a:cs typeface="Noto Sans TC"/>
              </a:rPr>
              <a:t>以官方帳號為主入口，把導覽、問答、活動與後台營運連成一條服務路徑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3428762-D9EF-4C44-877B-CF6BA05DEC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790700"/>
            <a:ext cx="1752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B9251C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F2A9573-A4EF-4DE1-A10B-8120918A4B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419850"/>
            <a:ext cx="10934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7D8BC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951385D-1F5C-411B-9C44-C24E13851E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553200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750" b="0">
                <a:solidFill>
                  <a:srgbClr val="8D7A5D"/>
                </a:solidFill>
                <a:latin typeface="Noto Sans TC"/>
                <a:ea typeface="Noto Sans TC"/>
                <a:cs typeface="Noto Sans TC"/>
              </a:defRPr>
            </a:pPr>
            <a:r>
              <a:rPr sz="750" b="0">
                <a:solidFill>
                  <a:srgbClr val="8D7A5D"/>
                </a:solidFill>
                <a:latin typeface="Noto Sans TC"/>
                <a:ea typeface="Noto Sans TC"/>
                <a:cs typeface="Noto Sans TC"/>
              </a:rPr>
              <a:t>Temple AI OS｜2026 LINE AI 創新創業競賽｜公開 Demo 送件版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593E80B-6DFD-40BB-AF10-9BE1050151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6553200"/>
            <a:ext cx="3848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750" b="0">
                <a:solidFill>
                  <a:srgbClr val="8D7A5D"/>
                </a:solidFill>
                <a:latin typeface="Noto Sans TC"/>
                <a:ea typeface="Noto Sans TC"/>
                <a:cs typeface="Noto Sans TC"/>
              </a:defRPr>
            </a:pPr>
            <a:r>
              <a:rPr sz="750" b="0">
                <a:solidFill>
                  <a:srgbClr val="8D7A5D"/>
                </a:solidFill>
                <a:latin typeface="Noto Sans TC"/>
                <a:ea typeface="Noto Sans TC"/>
                <a:cs typeface="Noto Sans TC"/>
              </a:rPr>
              <a:t>示範資料採自公開資訊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E31AD61-4235-440A-A3CA-838EEDE900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971550"/>
            <a:ext cx="2819400" cy="5410200"/>
          </a:xfrm>
          <a:prstGeom xmlns:a="http://schemas.openxmlformats.org/drawingml/2006/main" prst="roundRect">
            <a:avLst>
              <a:gd name="adj" fmla="val 8108"/>
            </a:avLst>
          </a:prstGeom>
          <a:solidFill xmlns:a="http://schemas.openxmlformats.org/drawingml/2006/main">
            <a:srgbClr val="FBF7EF"/>
          </a:solidFill>
          <a:ln xmlns:a="http://schemas.openxmlformats.org/drawingml/2006/main" w="9525">
            <a:solidFill>
              <a:srgbClr val="E9DDC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pic>
        <p:nvPicPr>
          <p:cNvPr id="3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791c3564b2b44bb"/>
          <a:srcRect xmlns:a="http://schemas.openxmlformats.org/drawingml/2006/main" l="0" t="3085" r="0" b="308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239000" y="1066800"/>
            <a:ext cx="2628900" cy="5219700"/>
          </a:xfrm>
          <a:prstGeom xmlns:a="http://schemas.openxmlformats.org/drawingml/2006/main" prst="roundRect">
            <a:avLst>
              <a:gd name="adj" fmla="val 5797"/>
            </a:avLst>
          </a:prstGeom>
        </p:spPr>
      </p:pic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5CFF7D4-A28D-4246-9F3B-E8D4E111A1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247900"/>
            <a:ext cx="2762250" cy="1352550"/>
          </a:xfrm>
          <a:prstGeom xmlns:a="http://schemas.openxmlformats.org/drawingml/2006/main" prst="roundRect">
            <a:avLst>
              <a:gd name="adj" fmla="val 14085"/>
            </a:avLst>
          </a:prstGeom>
          <a:solidFill xmlns:a="http://schemas.openxmlformats.org/drawingml/2006/main">
            <a:srgbClr val="F2FFF8"/>
          </a:solidFill>
          <a:ln xmlns:a="http://schemas.openxmlformats.org/drawingml/2006/main" w="9525">
            <a:solidFill>
              <a:srgbClr val="E9DDC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F70906B-0590-4BC3-9133-E4361E6620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419350"/>
            <a:ext cx="23431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1">
                <a:solidFill>
                  <a:srgbClr val="06C755"/>
                </a:solidFill>
                <a:latin typeface="Noto Sans TC"/>
                <a:ea typeface="Noto Sans TC"/>
                <a:cs typeface="Noto Sans TC"/>
              </a:defRPr>
            </a:pPr>
            <a:r>
              <a:rPr sz="1425" b="1">
                <a:solidFill>
                  <a:srgbClr val="06C755"/>
                </a:solidFill>
                <a:latin typeface="Noto Sans TC"/>
                <a:ea typeface="Noto Sans TC"/>
                <a:cs typeface="Noto Sans TC"/>
              </a:rPr>
              <a:t>信眾端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C59D1A0-2C6F-48F9-9168-476C4DA6E2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800350"/>
            <a:ext cx="23431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5486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200" b="0">
                <a:solidFill>
                  <a:srgbClr val="5C6670"/>
                </a:solidFill>
                <a:latin typeface="Noto Sans TC"/>
                <a:ea typeface="Noto Sans TC"/>
                <a:cs typeface="Noto Sans TC"/>
              </a:defRPr>
            </a:pPr>
            <a:r>
              <a:rPr sz="1200" b="0">
                <a:solidFill>
                  <a:srgbClr val="5C6670"/>
                </a:solidFill>
                <a:latin typeface="Noto Sans TC"/>
                <a:ea typeface="Noto Sans TC"/>
                <a:cs typeface="Noto Sans TC"/>
              </a:rPr>
              <a:t>掃碼加入後，直接在聊天室進入參拜指南、文化解籤、法會報名、宮廟動態與客服。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4B3E6BA-2091-4742-9C17-01D14F8043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2247900"/>
            <a:ext cx="2762250" cy="1352550"/>
          </a:xfrm>
          <a:prstGeom xmlns:a="http://schemas.openxmlformats.org/drawingml/2006/main" prst="roundRect">
            <a:avLst>
              <a:gd name="adj" fmla="val 14085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E9DDC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D3747B8-F650-43CE-A42B-C3D5576433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419350"/>
            <a:ext cx="23431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1">
                <a:solidFill>
                  <a:srgbClr val="B9251C"/>
                </a:solidFill>
                <a:latin typeface="Noto Sans TC"/>
                <a:ea typeface="Noto Sans TC"/>
                <a:cs typeface="Noto Sans TC"/>
              </a:defRPr>
            </a:pPr>
            <a:r>
              <a:rPr sz="1425" b="1">
                <a:solidFill>
                  <a:srgbClr val="B9251C"/>
                </a:solidFill>
                <a:latin typeface="Noto Sans TC"/>
                <a:ea typeface="Noto Sans TC"/>
                <a:cs typeface="Noto Sans TC"/>
              </a:rPr>
              <a:t>廟方端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486CD3A-3A10-4E77-BFAA-CB7EE19362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800350"/>
            <a:ext cx="23431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5486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200" b="0">
                <a:solidFill>
                  <a:srgbClr val="5C6670"/>
                </a:solidFill>
                <a:latin typeface="Noto Sans TC"/>
                <a:ea typeface="Noto Sans TC"/>
                <a:cs typeface="Noto Sans TC"/>
              </a:defRPr>
            </a:pPr>
            <a:r>
              <a:rPr sz="1200" b="0">
                <a:solidFill>
                  <a:srgbClr val="5C6670"/>
                </a:solidFill>
                <a:latin typeface="Noto Sans TC"/>
                <a:ea typeface="Noto Sans TC"/>
                <a:cs typeface="Noto Sans TC"/>
              </a:rPr>
              <a:t>後台集中管理活動、公告、報名名冊、客服追蹤與知識內容，降低日常行政負擔。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2F4E38F-D039-4340-9F83-635A5540F9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924300"/>
            <a:ext cx="5829300" cy="1257300"/>
          </a:xfrm>
          <a:prstGeom xmlns:a="http://schemas.openxmlformats.org/drawingml/2006/main" prst="roundRect">
            <a:avLst>
              <a:gd name="adj" fmla="val 15152"/>
            </a:avLst>
          </a:prstGeom>
          <a:solidFill xmlns:a="http://schemas.openxmlformats.org/drawingml/2006/main">
            <a:srgbClr val="FFF8E7"/>
          </a:solidFill>
          <a:ln xmlns:a="http://schemas.openxmlformats.org/drawingml/2006/main" w="9525">
            <a:solidFill>
              <a:srgbClr val="E9DDC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4021507-C882-4D93-BD61-986C02B9B5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095750"/>
            <a:ext cx="5410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1">
                <a:solidFill>
                  <a:srgbClr val="C79A35"/>
                </a:solidFill>
                <a:latin typeface="Noto Sans TC"/>
                <a:ea typeface="Noto Sans TC"/>
                <a:cs typeface="Noto Sans TC"/>
              </a:defRPr>
            </a:pPr>
            <a:r>
              <a:rPr sz="1425" b="1">
                <a:solidFill>
                  <a:srgbClr val="C79A35"/>
                </a:solidFill>
                <a:latin typeface="Noto Sans TC"/>
                <a:ea typeface="Noto Sans TC"/>
                <a:cs typeface="Noto Sans TC"/>
              </a:rPr>
              <a:t>文化端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1D8F6F8-5B1E-4331-A78C-9D45B18D5F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476750"/>
            <a:ext cx="54102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200" b="0">
                <a:solidFill>
                  <a:srgbClr val="5C6670"/>
                </a:solidFill>
                <a:latin typeface="Noto Sans TC"/>
                <a:ea typeface="Noto Sans TC"/>
                <a:cs typeface="Noto Sans TC"/>
              </a:defRPr>
            </a:pPr>
            <a:r>
              <a:rPr sz="1200" b="0">
                <a:solidFill>
                  <a:srgbClr val="5C6670"/>
                </a:solidFill>
                <a:latin typeface="Noto Sans TC"/>
                <a:ea typeface="Noto Sans TC"/>
                <a:cs typeface="Noto Sans TC"/>
              </a:rPr>
              <a:t>把公開文史資料、參拜流程與民俗互動整理為可查詢、可審核、可持續更新的知識庫。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4DD9118-9972-4540-B724-3EF069A464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543550"/>
            <a:ext cx="10477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9FF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C32635B-02B0-4D80-A83F-C76E563260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600700"/>
            <a:ext cx="819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050" b="1">
                <a:solidFill>
                  <a:srgbClr val="06C755"/>
                </a:solidFill>
                <a:latin typeface="Noto Sans TC"/>
                <a:ea typeface="Noto Sans TC"/>
                <a:cs typeface="Noto Sans TC"/>
              </a:defRPr>
            </a:pPr>
            <a:r>
              <a:rPr sz="1050" b="1">
                <a:solidFill>
                  <a:srgbClr val="06C755"/>
                </a:solidFill>
                <a:latin typeface="Noto Sans TC"/>
                <a:ea typeface="Noto Sans TC"/>
                <a:cs typeface="Noto Sans TC"/>
              </a:rPr>
              <a:t>LINE OA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E1E2087-C76E-47FE-87D5-1324AA4035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9300" y="5543550"/>
            <a:ext cx="12382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4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33F3107-74DD-4CA9-9DE0-BE0E2F5A84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5600700"/>
            <a:ext cx="1009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050" b="1">
                <a:solidFill>
                  <a:srgbClr val="B9251C"/>
                </a:solidFill>
                <a:latin typeface="Noto Sans TC"/>
                <a:ea typeface="Noto Sans TC"/>
                <a:cs typeface="Noto Sans TC"/>
              </a:defRPr>
            </a:pPr>
            <a:r>
              <a:rPr sz="1050" b="1">
                <a:solidFill>
                  <a:srgbClr val="B9251C"/>
                </a:solidFill>
                <a:latin typeface="Noto Sans TC"/>
                <a:ea typeface="Noto Sans TC"/>
                <a:cs typeface="Noto Sans TC"/>
              </a:rPr>
              <a:t>Rich Menu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7A193B9-9C0D-4B5C-AD45-41768D54C0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5543550"/>
            <a:ext cx="8382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9FF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CE406D2-C0BB-4630-AB5A-1587F0A4C6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5600700"/>
            <a:ext cx="609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050" b="1">
                <a:solidFill>
                  <a:srgbClr val="06C755"/>
                </a:solidFill>
                <a:latin typeface="Noto Sans TC"/>
                <a:ea typeface="Noto Sans TC"/>
                <a:cs typeface="Noto Sans TC"/>
              </a:defRPr>
            </a:pPr>
            <a:r>
              <a:rPr sz="1050" b="1">
                <a:solidFill>
                  <a:srgbClr val="06C755"/>
                </a:solidFill>
                <a:latin typeface="Noto Sans TC"/>
                <a:ea typeface="Noto Sans TC"/>
                <a:cs typeface="Noto Sans TC"/>
              </a:rPr>
              <a:t>LIFF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DCB9158-635B-4938-9370-5EED0735AE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5543550"/>
            <a:ext cx="14668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EF5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D0A460C-72D7-4205-9C54-A688CC4547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5600700"/>
            <a:ext cx="1238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050" b="1">
                <a:solidFill>
                  <a:srgbClr val="244765"/>
                </a:solidFill>
                <a:latin typeface="Noto Sans TC"/>
                <a:ea typeface="Noto Sans TC"/>
                <a:cs typeface="Noto Sans TC"/>
              </a:defRPr>
            </a:pPr>
            <a:r>
              <a:rPr sz="1050" b="1">
                <a:solidFill>
                  <a:srgbClr val="244765"/>
                </a:solidFill>
                <a:latin typeface="Noto Sans TC"/>
                <a:ea typeface="Noto Sans TC"/>
                <a:cs typeface="Noto Sans TC"/>
              </a:rPr>
              <a:t>Messaging API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C112737-F6A6-457C-9E9F-B116E57CD8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5543550"/>
            <a:ext cx="17145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4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B07A4B2-0791-4FF8-8F30-EEAF8607D0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5600700"/>
            <a:ext cx="1485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050" b="1">
                <a:solidFill>
                  <a:srgbClr val="C79A35"/>
                </a:solidFill>
                <a:latin typeface="Noto Sans TC"/>
                <a:ea typeface="Noto Sans TC"/>
                <a:cs typeface="Noto Sans TC"/>
              </a:defRPr>
            </a:pPr>
            <a:r>
              <a:rPr sz="1050" b="1">
                <a:solidFill>
                  <a:srgbClr val="C79A35"/>
                </a:solidFill>
                <a:latin typeface="Noto Sans TC"/>
                <a:ea typeface="Noto Sans TC"/>
                <a:cs typeface="Noto Sans TC"/>
              </a:rPr>
              <a:t>Admin Dashboard</a:t>
            </a:r>
          </a:p>
        </p:txBody>
      </p:sp>
    </p:spTree>
    <p:extLst>
      <p:ext uri="{BB962C8B-B14F-4D97-AF65-F5344CB8AC3E}">
        <p14:creationId xmlns:p14="http://schemas.microsoft.com/office/powerpoint/2010/main" val="133303198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BF7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88E5C52-72FA-4869-A78E-88A6016AF8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2385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1">
                <a:solidFill>
                  <a:srgbClr val="B9251C"/>
                </a:solidFill>
                <a:latin typeface="Noto Sans TC"/>
                <a:ea typeface="Noto Sans TC"/>
                <a:cs typeface="Noto Sans TC"/>
              </a:defRPr>
            </a:pPr>
            <a:r>
              <a:rPr sz="1125" b="1">
                <a:solidFill>
                  <a:srgbClr val="B9251C"/>
                </a:solidFill>
                <a:latin typeface="Noto Sans TC"/>
                <a:ea typeface="Noto Sans TC"/>
                <a:cs typeface="Noto Sans TC"/>
              </a:rPr>
              <a:t>P.03 / 10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6165958-670F-4E6B-9EDA-2F79FF8530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3238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1">
                <a:solidFill>
                  <a:srgbClr val="5C6670"/>
                </a:solidFill>
                <a:latin typeface="Noto Sans TC"/>
                <a:ea typeface="Noto Sans TC"/>
                <a:cs typeface="Noto Sans TC"/>
              </a:defRPr>
            </a:pPr>
            <a:r>
              <a:rPr sz="1125" b="1">
                <a:solidFill>
                  <a:srgbClr val="5C6670"/>
                </a:solidFill>
                <a:latin typeface="Noto Sans TC"/>
                <a:ea typeface="Noto Sans TC"/>
                <a:cs typeface="Noto Sans TC"/>
              </a:rPr>
              <a:t>LINE 生態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94C3D98-44C1-4C10-9506-119F4A5D5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742950"/>
            <a:ext cx="7810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550" b="1">
                <a:solidFill>
                  <a:srgbClr val="1F2933"/>
                </a:solidFill>
                <a:latin typeface="Noto Sans TC"/>
                <a:ea typeface="Noto Sans TC"/>
                <a:cs typeface="Noto Sans TC"/>
              </a:defRPr>
            </a:pPr>
            <a:r>
              <a:rPr sz="2550" b="1">
                <a:solidFill>
                  <a:srgbClr val="1F2933"/>
                </a:solidFill>
                <a:latin typeface="Noto Sans TC"/>
                <a:ea typeface="Noto Sans TC"/>
                <a:cs typeface="Noto Sans TC"/>
              </a:rPr>
              <a:t>官方帳號成為服務大廳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D58B815-7B88-4554-9649-A3C214F1CA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276350"/>
            <a:ext cx="7429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275" b="0">
                <a:solidFill>
                  <a:srgbClr val="5C6670"/>
                </a:solidFill>
                <a:latin typeface="Noto Sans TC"/>
                <a:ea typeface="Noto Sans TC"/>
                <a:cs typeface="Noto Sans TC"/>
              </a:defRPr>
            </a:pPr>
            <a:r>
              <a:rPr sz="1275" b="0">
                <a:solidFill>
                  <a:srgbClr val="5C6670"/>
                </a:solidFill>
                <a:latin typeface="Noto Sans TC"/>
                <a:ea typeface="Noto Sans TC"/>
                <a:cs typeface="Noto Sans TC"/>
              </a:rPr>
              <a:t>Rich Menu 負責分流，LIFF 負責表單，Messaging API 負責提醒與回覆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5347079-C59B-458B-8EEA-E1DC333117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790700"/>
            <a:ext cx="1752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B9251C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4F5D756-F9BD-41CC-84CC-EA0BE6F2C6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419850"/>
            <a:ext cx="10934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7D8BC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C04CA63-DCC4-4155-830F-C63D560A4D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553200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750" b="0">
                <a:solidFill>
                  <a:srgbClr val="8D7A5D"/>
                </a:solidFill>
                <a:latin typeface="Noto Sans TC"/>
                <a:ea typeface="Noto Sans TC"/>
                <a:cs typeface="Noto Sans TC"/>
              </a:defRPr>
            </a:pPr>
            <a:r>
              <a:rPr sz="750" b="0">
                <a:solidFill>
                  <a:srgbClr val="8D7A5D"/>
                </a:solidFill>
                <a:latin typeface="Noto Sans TC"/>
                <a:ea typeface="Noto Sans TC"/>
                <a:cs typeface="Noto Sans TC"/>
              </a:rPr>
              <a:t>Temple AI OS｜2026 LINE AI 創新創業競賽｜公開 Demo 送件版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5B350AC-520A-49FC-AD20-039FAC2CCB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6553200"/>
            <a:ext cx="3848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750" b="0">
                <a:solidFill>
                  <a:srgbClr val="8D7A5D"/>
                </a:solidFill>
                <a:latin typeface="Noto Sans TC"/>
                <a:ea typeface="Noto Sans TC"/>
                <a:cs typeface="Noto Sans TC"/>
              </a:defRPr>
            </a:pPr>
            <a:r>
              <a:rPr sz="750" b="0">
                <a:solidFill>
                  <a:srgbClr val="8D7A5D"/>
                </a:solidFill>
                <a:latin typeface="Noto Sans TC"/>
                <a:ea typeface="Noto Sans TC"/>
                <a:cs typeface="Noto Sans TC"/>
              </a:rPr>
              <a:t>示範資料採自公開資訊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CFF6495-7555-45A3-A4C6-69907B6626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114550"/>
            <a:ext cx="5162550" cy="3543300"/>
          </a:xfrm>
          <a:prstGeom xmlns:a="http://schemas.openxmlformats.org/drawingml/2006/main" prst="roundRect">
            <a:avLst>
              <a:gd name="adj" fmla="val 645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9DDC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pic>
        <p:nvPicPr>
          <p:cNvPr id="3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01d906a196448f6"/>
          <a:srcRect xmlns:a="http://schemas.openxmlformats.org/drawingml/2006/main" l="0" t="5" r="0" b="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19150" y="2209800"/>
            <a:ext cx="4972050" cy="3352800"/>
          </a:xfrm>
          <a:prstGeom xmlns:a="http://schemas.openxmlformats.org/drawingml/2006/main" prst="roundRect">
            <a:avLst>
              <a:gd name="adj" fmla="val 4545"/>
            </a:avLst>
          </a:prstGeom>
        </p:spPr>
      </p:pic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7D8A0FB-FC56-4173-8C3B-6EA56B320A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924050"/>
            <a:ext cx="342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1">
                <a:solidFill>
                  <a:srgbClr val="B9251C"/>
                </a:solidFill>
                <a:latin typeface="Noto Sans TC"/>
                <a:ea typeface="Noto Sans TC"/>
                <a:cs typeface="Noto Sans TC"/>
              </a:defRPr>
            </a:pPr>
            <a:r>
              <a:rPr sz="1425" b="1">
                <a:solidFill>
                  <a:srgbClr val="B9251C"/>
                </a:solidFill>
                <a:latin typeface="Noto Sans TC"/>
                <a:ea typeface="Noto Sans TC"/>
                <a:cs typeface="Noto Sans TC"/>
              </a:rPr>
              <a:t>六格入口覆蓋高頻需求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D8AEC2E-03FF-428B-BECC-93C1BAA77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247900"/>
            <a:ext cx="4476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86748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650" b="1">
                <a:solidFill>
                  <a:srgbClr val="1F2933"/>
                </a:solidFill>
                <a:latin typeface="Noto Sans TC"/>
                <a:ea typeface="Noto Sans TC"/>
                <a:cs typeface="Noto Sans TC"/>
              </a:defRPr>
            </a:pPr>
            <a:r>
              <a:rPr sz="1650" b="1">
                <a:solidFill>
                  <a:srgbClr val="1F2933"/>
                </a:solidFill>
                <a:latin typeface="Noto Sans TC"/>
                <a:ea typeface="Noto Sans TC"/>
                <a:cs typeface="Noto Sans TC"/>
              </a:rPr>
              <a:t>參拜指南、解籤諮詢、法會報名、AI 分析、宮廟動態與客服，全部從同一個 LINE 入口開始。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517205E-440E-4F72-90B7-6753AD9ED6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257550"/>
            <a:ext cx="4953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550" b="1">
                <a:solidFill>
                  <a:srgbClr val="06C755"/>
                </a:solidFill>
                <a:latin typeface="Noto Sans TC"/>
                <a:ea typeface="Noto Sans TC"/>
                <a:cs typeface="Noto Sans TC"/>
              </a:defRPr>
            </a:pPr>
            <a:r>
              <a:rPr sz="2550" b="1">
                <a:solidFill>
                  <a:srgbClr val="06C755"/>
                </a:solidFill>
                <a:latin typeface="Noto Sans TC"/>
                <a:ea typeface="Noto Sans TC"/>
                <a:cs typeface="Noto Sans TC"/>
              </a:rPr>
              <a:t>1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4C2BFD4-3BF6-4322-A50F-359AE35F1C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276600"/>
            <a:ext cx="3619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1">
                <a:solidFill>
                  <a:srgbClr val="1F2933"/>
                </a:solidFill>
                <a:latin typeface="Noto Sans TC"/>
                <a:ea typeface="Noto Sans TC"/>
                <a:cs typeface="Noto Sans TC"/>
              </a:defRPr>
            </a:pPr>
            <a:r>
              <a:rPr sz="1425" b="1">
                <a:solidFill>
                  <a:srgbClr val="1F2933"/>
                </a:solidFill>
                <a:latin typeface="Noto Sans TC"/>
                <a:ea typeface="Noto Sans TC"/>
                <a:cs typeface="Noto Sans TC"/>
              </a:rPr>
              <a:t>點選 Rich Menu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38E132C-EC00-4E8E-8A83-223102214A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581400"/>
            <a:ext cx="3619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125" b="0">
                <a:solidFill>
                  <a:srgbClr val="5C6670"/>
                </a:solidFill>
                <a:latin typeface="Noto Sans TC"/>
                <a:ea typeface="Noto Sans TC"/>
                <a:cs typeface="Noto Sans TC"/>
              </a:defRPr>
            </a:pPr>
            <a:r>
              <a:rPr sz="1125" b="0">
                <a:solidFill>
                  <a:srgbClr val="5C6670"/>
                </a:solidFill>
                <a:latin typeface="Noto Sans TC"/>
                <a:ea typeface="Noto Sans TC"/>
                <a:cs typeface="Noto Sans TC"/>
              </a:rPr>
              <a:t>信眾不用記網址，依需求點選圖文選單。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A760198-48B1-466F-91C2-F3BBC259C1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171950"/>
            <a:ext cx="4953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550" b="1">
                <a:solidFill>
                  <a:srgbClr val="B9251C"/>
                </a:solidFill>
                <a:latin typeface="Noto Sans TC"/>
                <a:ea typeface="Noto Sans TC"/>
                <a:cs typeface="Noto Sans TC"/>
              </a:defRPr>
            </a:pPr>
            <a:r>
              <a:rPr sz="2550" b="1">
                <a:solidFill>
                  <a:srgbClr val="B9251C"/>
                </a:solidFill>
                <a:latin typeface="Noto Sans TC"/>
                <a:ea typeface="Noto Sans TC"/>
                <a:cs typeface="Noto Sans TC"/>
              </a:rPr>
              <a:t>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CD54E69-5854-4200-8FB2-F64E483E06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191000"/>
            <a:ext cx="3619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1">
                <a:solidFill>
                  <a:srgbClr val="1F2933"/>
                </a:solidFill>
                <a:latin typeface="Noto Sans TC"/>
                <a:ea typeface="Noto Sans TC"/>
                <a:cs typeface="Noto Sans TC"/>
              </a:defRPr>
            </a:pPr>
            <a:r>
              <a:rPr sz="1425" b="1">
                <a:solidFill>
                  <a:srgbClr val="1F2933"/>
                </a:solidFill>
                <a:latin typeface="Noto Sans TC"/>
                <a:ea typeface="Noto Sans TC"/>
                <a:cs typeface="Noto Sans TC"/>
              </a:rPr>
              <a:t>開啟 LIFF 或 Flex Message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2110277-EE8E-41A4-8489-9E62C385EF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495800"/>
            <a:ext cx="3619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125" b="0">
                <a:solidFill>
                  <a:srgbClr val="5C6670"/>
                </a:solidFill>
                <a:latin typeface="Noto Sans TC"/>
                <a:ea typeface="Noto Sans TC"/>
                <a:cs typeface="Noto Sans TC"/>
              </a:defRPr>
            </a:pPr>
            <a:r>
              <a:rPr sz="1125" b="0">
                <a:solidFill>
                  <a:srgbClr val="5C6670"/>
                </a:solidFill>
                <a:latin typeface="Noto Sans TC"/>
                <a:ea typeface="Noto Sans TC"/>
                <a:cs typeface="Noto Sans TC"/>
              </a:rPr>
              <a:t>活動與表單保留 LINE 內的使用情境。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A1E04E5-67FE-450D-BE14-F2FAB4A5CF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086350"/>
            <a:ext cx="4953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550" b="1">
                <a:solidFill>
                  <a:srgbClr val="C79A35"/>
                </a:solidFill>
                <a:latin typeface="Noto Sans TC"/>
                <a:ea typeface="Noto Sans TC"/>
                <a:cs typeface="Noto Sans TC"/>
              </a:defRPr>
            </a:pPr>
            <a:r>
              <a:rPr sz="2550" b="1">
                <a:solidFill>
                  <a:srgbClr val="C79A35"/>
                </a:solidFill>
                <a:latin typeface="Noto Sans TC"/>
                <a:ea typeface="Noto Sans TC"/>
                <a:cs typeface="Noto Sans TC"/>
              </a:rPr>
              <a:t>3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5397E75-A6FF-4B8F-BCA9-7083EBF9B3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5105400"/>
            <a:ext cx="3619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1">
                <a:solidFill>
                  <a:srgbClr val="1F2933"/>
                </a:solidFill>
                <a:latin typeface="Noto Sans TC"/>
                <a:ea typeface="Noto Sans TC"/>
                <a:cs typeface="Noto Sans TC"/>
              </a:defRPr>
            </a:pPr>
            <a:r>
              <a:rPr sz="1425" b="1">
                <a:solidFill>
                  <a:srgbClr val="1F2933"/>
                </a:solidFill>
                <a:latin typeface="Noto Sans TC"/>
                <a:ea typeface="Noto Sans TC"/>
                <a:cs typeface="Noto Sans TC"/>
              </a:rPr>
              <a:t>回到通知與客服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4713E9E-9DB1-4FE7-AAFC-D78965E7F2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5410200"/>
            <a:ext cx="3619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125" b="0">
                <a:solidFill>
                  <a:srgbClr val="5C6670"/>
                </a:solidFill>
                <a:latin typeface="Noto Sans TC"/>
                <a:ea typeface="Noto Sans TC"/>
                <a:cs typeface="Noto Sans TC"/>
              </a:defRPr>
            </a:pPr>
            <a:r>
              <a:rPr sz="1125" b="0">
                <a:solidFill>
                  <a:srgbClr val="5C6670"/>
                </a:solidFill>
                <a:latin typeface="Noto Sans TC"/>
                <a:ea typeface="Noto Sans TC"/>
                <a:cs typeface="Noto Sans TC"/>
              </a:rPr>
              <a:t>報名後可查進度，也能由 Messaging API 發送提醒。</a:t>
            </a:r>
          </a:p>
        </p:txBody>
      </p:sp>
    </p:spTree>
    <p:extLst>
      <p:ext uri="{BB962C8B-B14F-4D97-AF65-F5344CB8AC3E}">
        <p14:creationId xmlns:p14="http://schemas.microsoft.com/office/powerpoint/2010/main" val="15711141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D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FB44D3C-6BFE-4641-A1D5-1E0E92E78A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2385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1">
                <a:solidFill>
                  <a:srgbClr val="B9251C"/>
                </a:solidFill>
                <a:latin typeface="Noto Sans TC"/>
                <a:ea typeface="Noto Sans TC"/>
                <a:cs typeface="Noto Sans TC"/>
              </a:defRPr>
            </a:pPr>
            <a:r>
              <a:rPr sz="1125" b="1">
                <a:solidFill>
                  <a:srgbClr val="B9251C"/>
                </a:solidFill>
                <a:latin typeface="Noto Sans TC"/>
                <a:ea typeface="Noto Sans TC"/>
                <a:cs typeface="Noto Sans TC"/>
              </a:rPr>
              <a:t>P.04 / 10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F4DD64D-07B9-4140-8921-24B31CB2D0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3238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1">
                <a:solidFill>
                  <a:srgbClr val="5C6670"/>
                </a:solidFill>
                <a:latin typeface="Noto Sans TC"/>
                <a:ea typeface="Noto Sans TC"/>
                <a:cs typeface="Noto Sans TC"/>
              </a:defRPr>
            </a:pPr>
            <a:r>
              <a:rPr sz="1125" b="1">
                <a:solidFill>
                  <a:srgbClr val="5C6670"/>
                </a:solidFill>
                <a:latin typeface="Noto Sans TC"/>
                <a:ea typeface="Noto Sans TC"/>
                <a:cs typeface="Noto Sans TC"/>
              </a:rPr>
              <a:t>Demo 功能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639C2AD-32C7-45C6-8623-49B074D88F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742950"/>
            <a:ext cx="7810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550" b="1">
                <a:solidFill>
                  <a:srgbClr val="1F2933"/>
                </a:solidFill>
                <a:latin typeface="Noto Sans TC"/>
                <a:ea typeface="Noto Sans TC"/>
                <a:cs typeface="Noto Sans TC"/>
              </a:defRPr>
            </a:pPr>
            <a:r>
              <a:rPr sz="2550" b="1">
                <a:solidFill>
                  <a:srgbClr val="1F2933"/>
                </a:solidFill>
                <a:latin typeface="Noto Sans TC"/>
                <a:ea typeface="Noto Sans TC"/>
                <a:cs typeface="Noto Sans TC"/>
              </a:rPr>
              <a:t>LIFF 活動報名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228BAB4-56CB-453D-A8D7-08CC8119E5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276350"/>
            <a:ext cx="7429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275" b="0">
                <a:solidFill>
                  <a:srgbClr val="5C6670"/>
                </a:solidFill>
                <a:latin typeface="Noto Sans TC"/>
                <a:ea typeface="Noto Sans TC"/>
                <a:cs typeface="Noto Sans TC"/>
              </a:defRPr>
            </a:pPr>
            <a:r>
              <a:rPr sz="1275" b="0">
                <a:solidFill>
                  <a:srgbClr val="5C6670"/>
                </a:solidFill>
                <a:latin typeface="Noto Sans TC"/>
                <a:ea typeface="Noto Sans TC"/>
                <a:cs typeface="Noto Sans TC"/>
              </a:rPr>
              <a:t>聊天室內完成活動瀏覽、資料填寫與提醒勾選，後台同步管理名額與名冊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2AF44FD-7A3A-4735-8881-41BE6F1FFA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790700"/>
            <a:ext cx="1752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B9251C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1BEDDE4-C1E0-4D1A-BD87-11B966955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419850"/>
            <a:ext cx="10934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7D8BC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DEF08F4-8130-430B-85FC-2CF863D270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553200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750" b="0">
                <a:solidFill>
                  <a:srgbClr val="8D7A5D"/>
                </a:solidFill>
                <a:latin typeface="Noto Sans TC"/>
                <a:ea typeface="Noto Sans TC"/>
                <a:cs typeface="Noto Sans TC"/>
              </a:defRPr>
            </a:pPr>
            <a:r>
              <a:rPr sz="750" b="0">
                <a:solidFill>
                  <a:srgbClr val="8D7A5D"/>
                </a:solidFill>
                <a:latin typeface="Noto Sans TC"/>
                <a:ea typeface="Noto Sans TC"/>
                <a:cs typeface="Noto Sans TC"/>
              </a:rPr>
              <a:t>Temple AI OS｜2026 LINE AI 創新創業競賽｜公開 Demo 送件版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830D9D3-1CE6-4305-96AA-B3E64DD0C1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6553200"/>
            <a:ext cx="3848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750" b="0">
                <a:solidFill>
                  <a:srgbClr val="8D7A5D"/>
                </a:solidFill>
                <a:latin typeface="Noto Sans TC"/>
                <a:ea typeface="Noto Sans TC"/>
                <a:cs typeface="Noto Sans TC"/>
              </a:defRPr>
            </a:pPr>
            <a:r>
              <a:rPr sz="750" b="0">
                <a:solidFill>
                  <a:srgbClr val="8D7A5D"/>
                </a:solidFill>
                <a:latin typeface="Noto Sans TC"/>
                <a:ea typeface="Noto Sans TC"/>
                <a:cs typeface="Noto Sans TC"/>
              </a:rPr>
              <a:t>示範資料採自公開資訊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0BD3023-2EA9-488D-93B8-F56E3BA617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885950"/>
            <a:ext cx="2533650" cy="4000500"/>
          </a:xfrm>
          <a:prstGeom xmlns:a="http://schemas.openxmlformats.org/drawingml/2006/main" prst="roundRect">
            <a:avLst>
              <a:gd name="adj" fmla="val 9023"/>
            </a:avLst>
          </a:prstGeom>
          <a:solidFill xmlns:a="http://schemas.openxmlformats.org/drawingml/2006/main">
            <a:srgbClr val="FBF7EF"/>
          </a:solidFill>
          <a:ln xmlns:a="http://schemas.openxmlformats.org/drawingml/2006/main" w="9525">
            <a:solidFill>
              <a:srgbClr val="E9DDC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pic>
        <p:nvPicPr>
          <p:cNvPr id="3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fa01d29e94e4454"/>
          <a:srcRect xmlns:a="http://schemas.openxmlformats.org/drawingml/2006/main" l="0" t="25728" r="0" b="2572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90600" y="1981200"/>
            <a:ext cx="2343150" cy="3810000"/>
          </a:xfrm>
          <a:prstGeom xmlns:a="http://schemas.openxmlformats.org/drawingml/2006/main" prst="roundRect">
            <a:avLst>
              <a:gd name="adj" fmla="val 6504"/>
            </a:avLst>
          </a:prstGeom>
        </p:spPr>
      </p:pic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D260702-AFC9-40A0-ACA2-81F8A57DDE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1885950"/>
            <a:ext cx="2857500" cy="4000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9DDC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pic>
        <p:nvPicPr>
          <p:cNvPr id="4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89bd12ec3ff44b2"/>
          <a:srcRect xmlns:a="http://schemas.openxmlformats.org/drawingml/2006/main" l="0" t="27363" r="0" b="2736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810000" y="1981200"/>
            <a:ext cx="2667000" cy="3810000"/>
          </a:xfrm>
          <a:prstGeom xmlns:a="http://schemas.openxmlformats.org/drawingml/2006/main" prst="roundRect">
            <a:avLst>
              <a:gd name="adj" fmla="val 5714"/>
            </a:avLst>
          </a:prstGeom>
        </p:spPr>
      </p:pic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250F086-B62C-4EF3-B223-5404BD83B7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076450"/>
            <a:ext cx="304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75" b="1">
                <a:solidFill>
                  <a:srgbClr val="1F2933"/>
                </a:solidFill>
                <a:latin typeface="Noto Sans TC"/>
                <a:ea typeface="Noto Sans TC"/>
                <a:cs typeface="Noto Sans TC"/>
              </a:defRPr>
            </a:pPr>
            <a:r>
              <a:rPr sz="1875" b="1">
                <a:solidFill>
                  <a:srgbClr val="1F2933"/>
                </a:solidFill>
                <a:latin typeface="Noto Sans TC"/>
                <a:ea typeface="Noto Sans TC"/>
                <a:cs typeface="Noto Sans TC"/>
              </a:rPr>
              <a:t>報名流程收斂成三步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1D3E934-229E-4018-A982-BEFC650408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686050"/>
            <a:ext cx="4953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550" b="1">
                <a:solidFill>
                  <a:srgbClr val="B9251C"/>
                </a:solidFill>
                <a:latin typeface="Noto Sans TC"/>
                <a:ea typeface="Noto Sans TC"/>
                <a:cs typeface="Noto Sans TC"/>
              </a:defRPr>
            </a:pPr>
            <a:r>
              <a:rPr sz="2550" b="1">
                <a:solidFill>
                  <a:srgbClr val="B9251C"/>
                </a:solidFill>
                <a:latin typeface="Noto Sans TC"/>
                <a:ea typeface="Noto Sans TC"/>
                <a:cs typeface="Noto Sans TC"/>
              </a:rPr>
              <a:t>01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B5E3FC7-BA56-45C1-A235-08ED29AD4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705100"/>
            <a:ext cx="266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1">
                <a:solidFill>
                  <a:srgbClr val="1F2933"/>
                </a:solidFill>
                <a:latin typeface="Noto Sans TC"/>
                <a:ea typeface="Noto Sans TC"/>
                <a:cs typeface="Noto Sans TC"/>
              </a:defRPr>
            </a:pPr>
            <a:r>
              <a:rPr sz="1425" b="1">
                <a:solidFill>
                  <a:srgbClr val="1F2933"/>
                </a:solidFill>
                <a:latin typeface="Noto Sans TC"/>
                <a:ea typeface="Noto Sans TC"/>
                <a:cs typeface="Noto Sans TC"/>
              </a:rPr>
              <a:t>看活動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792AAE7-E96D-4B7D-B2D5-1A7C95AFD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3009900"/>
            <a:ext cx="2667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125" b="0">
                <a:solidFill>
                  <a:srgbClr val="5C6670"/>
                </a:solidFill>
                <a:latin typeface="Noto Sans TC"/>
                <a:ea typeface="Noto Sans TC"/>
                <a:cs typeface="Noto Sans TC"/>
              </a:defRPr>
            </a:pPr>
            <a:r>
              <a:rPr sz="1125" b="0">
                <a:solidFill>
                  <a:srgbClr val="5C6670"/>
                </a:solidFill>
                <a:latin typeface="Noto Sans TC"/>
                <a:ea typeface="Noto Sans TC"/>
                <a:cs typeface="Noto Sans TC"/>
              </a:rPr>
              <a:t>活動中心展示法會、導覽與講堂內容。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41DB6B6-AA18-4FA8-99C6-B8A55515E2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562350"/>
            <a:ext cx="4953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550" b="1">
                <a:solidFill>
                  <a:srgbClr val="C79A35"/>
                </a:solidFill>
                <a:latin typeface="Noto Sans TC"/>
                <a:ea typeface="Noto Sans TC"/>
                <a:cs typeface="Noto Sans TC"/>
              </a:defRPr>
            </a:pPr>
            <a:r>
              <a:rPr sz="2550" b="1">
                <a:solidFill>
                  <a:srgbClr val="C79A35"/>
                </a:solidFill>
                <a:latin typeface="Noto Sans TC"/>
                <a:ea typeface="Noto Sans TC"/>
                <a:cs typeface="Noto Sans TC"/>
              </a:rPr>
              <a:t>02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7E2CE3C-9EB0-4923-BB17-0615E8C07E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3581400"/>
            <a:ext cx="266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1">
                <a:solidFill>
                  <a:srgbClr val="1F2933"/>
                </a:solidFill>
                <a:latin typeface="Noto Sans TC"/>
                <a:ea typeface="Noto Sans TC"/>
                <a:cs typeface="Noto Sans TC"/>
              </a:defRPr>
            </a:pPr>
            <a:r>
              <a:rPr sz="1425" b="1">
                <a:solidFill>
                  <a:srgbClr val="1F2933"/>
                </a:solidFill>
                <a:latin typeface="Noto Sans TC"/>
                <a:ea typeface="Noto Sans TC"/>
                <a:cs typeface="Noto Sans TC"/>
              </a:rPr>
              <a:t>填表單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C944720-BD8E-437C-A7D5-FA4A6ABB15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3886200"/>
            <a:ext cx="2667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125" b="0">
                <a:solidFill>
                  <a:srgbClr val="5C6670"/>
                </a:solidFill>
                <a:latin typeface="Noto Sans TC"/>
                <a:ea typeface="Noto Sans TC"/>
                <a:cs typeface="Noto Sans TC"/>
              </a:defRPr>
            </a:pPr>
            <a:r>
              <a:rPr sz="1125" b="0">
                <a:solidFill>
                  <a:srgbClr val="5C6670"/>
                </a:solidFill>
                <a:latin typeface="Noto Sans TC"/>
                <a:ea typeface="Noto Sans TC"/>
                <a:cs typeface="Noto Sans TC"/>
              </a:rPr>
              <a:t>姓名、人數、提醒選項在 LIFF 頁面完成。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1E2857F-CDEF-49C2-A041-291481D28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4438650"/>
            <a:ext cx="4953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550" b="1">
                <a:solidFill>
                  <a:srgbClr val="06C755"/>
                </a:solidFill>
                <a:latin typeface="Noto Sans TC"/>
                <a:ea typeface="Noto Sans TC"/>
                <a:cs typeface="Noto Sans TC"/>
              </a:defRPr>
            </a:pPr>
            <a:r>
              <a:rPr sz="2550" b="1">
                <a:solidFill>
                  <a:srgbClr val="06C755"/>
                </a:solidFill>
                <a:latin typeface="Noto Sans TC"/>
                <a:ea typeface="Noto Sans TC"/>
                <a:cs typeface="Noto Sans TC"/>
              </a:rPr>
              <a:t>03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8AC6529-97C9-4ABD-B9B3-8BD8E6E0AC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4457700"/>
            <a:ext cx="266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1">
                <a:solidFill>
                  <a:srgbClr val="1F2933"/>
                </a:solidFill>
                <a:latin typeface="Noto Sans TC"/>
                <a:ea typeface="Noto Sans TC"/>
                <a:cs typeface="Noto Sans TC"/>
              </a:defRPr>
            </a:pPr>
            <a:r>
              <a:rPr sz="1425" b="1">
                <a:solidFill>
                  <a:srgbClr val="1F2933"/>
                </a:solidFill>
                <a:latin typeface="Noto Sans TC"/>
                <a:ea typeface="Noto Sans TC"/>
                <a:cs typeface="Noto Sans TC"/>
              </a:rPr>
              <a:t>進後台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8C46654-0112-4261-AD72-FD4CA092BF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4762500"/>
            <a:ext cx="2667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125" b="0">
                <a:solidFill>
                  <a:srgbClr val="5C6670"/>
                </a:solidFill>
                <a:latin typeface="Noto Sans TC"/>
                <a:ea typeface="Noto Sans TC"/>
                <a:cs typeface="Noto Sans TC"/>
              </a:defRPr>
            </a:pPr>
            <a:r>
              <a:rPr sz="1125" b="0">
                <a:solidFill>
                  <a:srgbClr val="5C6670"/>
                </a:solidFill>
                <a:latin typeface="Noto Sans TC"/>
                <a:ea typeface="Noto Sans TC"/>
                <a:cs typeface="Noto Sans TC"/>
              </a:rPr>
              <a:t>報名資料進入後台清冊，廟方可查詢與匯出。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4FF1B4E-222C-471D-B6ED-1E347392C1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5543550"/>
            <a:ext cx="9144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9FF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F349172-2465-4E69-B46B-5E621655BF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5600700"/>
            <a:ext cx="685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050" b="1">
                <a:solidFill>
                  <a:srgbClr val="06C755"/>
                </a:solidFill>
                <a:latin typeface="Noto Sans TC"/>
                <a:ea typeface="Noto Sans TC"/>
                <a:cs typeface="Noto Sans TC"/>
              </a:defRPr>
            </a:pPr>
            <a:r>
              <a:rPr sz="1050" b="1">
                <a:solidFill>
                  <a:srgbClr val="06C755"/>
                </a:solidFill>
                <a:latin typeface="Noto Sans TC"/>
                <a:ea typeface="Noto Sans TC"/>
                <a:cs typeface="Noto Sans TC"/>
              </a:rPr>
              <a:t>LIFF v2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AFB530D-C70F-40F9-8CB5-7B01CB86C6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543550"/>
            <a:ext cx="8763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EF5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607AF76-E2A4-4287-8467-C66E8A281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5600700"/>
            <a:ext cx="647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050" b="1">
                <a:solidFill>
                  <a:srgbClr val="244765"/>
                </a:solidFill>
                <a:latin typeface="Noto Sans TC"/>
                <a:ea typeface="Noto Sans TC"/>
                <a:cs typeface="Noto Sans TC"/>
              </a:defRPr>
            </a:pPr>
            <a:r>
              <a:rPr sz="1050" b="1">
                <a:solidFill>
                  <a:srgbClr val="244765"/>
                </a:solidFill>
                <a:latin typeface="Noto Sans TC"/>
                <a:ea typeface="Noto Sans TC"/>
                <a:cs typeface="Noto Sans TC"/>
              </a:rPr>
              <a:t>React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988AECC-4A1B-4884-881C-D7DEBCCF86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5543550"/>
            <a:ext cx="10668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4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3F8A8F5-BF9E-43A4-BC5A-D4EEEB60BD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0800" y="5600700"/>
            <a:ext cx="838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050" b="1">
                <a:solidFill>
                  <a:srgbClr val="B9251C"/>
                </a:solidFill>
                <a:latin typeface="Noto Sans TC"/>
                <a:ea typeface="Noto Sans TC"/>
                <a:cs typeface="Noto Sans TC"/>
              </a:defRPr>
            </a:pPr>
            <a:r>
              <a:rPr sz="1050" b="1">
                <a:solidFill>
                  <a:srgbClr val="B9251C"/>
                </a:solidFill>
                <a:latin typeface="Noto Sans TC"/>
                <a:ea typeface="Noto Sans TC"/>
                <a:cs typeface="Noto Sans TC"/>
              </a:rPr>
              <a:t>FastAPI</a:t>
            </a:r>
          </a:p>
        </p:txBody>
      </p:sp>
    </p:spTree>
    <p:extLst>
      <p:ext uri="{BB962C8B-B14F-4D97-AF65-F5344CB8AC3E}">
        <p14:creationId xmlns:p14="http://schemas.microsoft.com/office/powerpoint/2010/main" val="1889305452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BF7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E14F126-E431-4561-A629-DD9EEBBCF8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2385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1">
                <a:solidFill>
                  <a:srgbClr val="B9251C"/>
                </a:solidFill>
                <a:latin typeface="Noto Sans TC"/>
                <a:ea typeface="Noto Sans TC"/>
                <a:cs typeface="Noto Sans TC"/>
              </a:defRPr>
            </a:pPr>
            <a:r>
              <a:rPr sz="1125" b="1">
                <a:solidFill>
                  <a:srgbClr val="B9251C"/>
                </a:solidFill>
                <a:latin typeface="Noto Sans TC"/>
                <a:ea typeface="Noto Sans TC"/>
                <a:cs typeface="Noto Sans TC"/>
              </a:rPr>
              <a:t>P.05 / 10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51E28BF-F358-474A-91FB-4D7FEA0B26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3238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1">
                <a:solidFill>
                  <a:srgbClr val="5C6670"/>
                </a:solidFill>
                <a:latin typeface="Noto Sans TC"/>
                <a:ea typeface="Noto Sans TC"/>
                <a:cs typeface="Noto Sans TC"/>
              </a:defRPr>
            </a:pPr>
            <a:r>
              <a:rPr sz="1125" b="1">
                <a:solidFill>
                  <a:srgbClr val="5C6670"/>
                </a:solidFill>
                <a:latin typeface="Noto Sans TC"/>
                <a:ea typeface="Noto Sans TC"/>
                <a:cs typeface="Noto Sans TC"/>
              </a:rPr>
              <a:t>文化互動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1AAA25C-F98B-4CE6-83AC-D7901F7807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742950"/>
            <a:ext cx="7810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550" b="1">
                <a:solidFill>
                  <a:srgbClr val="1F2933"/>
                </a:solidFill>
                <a:latin typeface="Noto Sans TC"/>
                <a:ea typeface="Noto Sans TC"/>
                <a:cs typeface="Noto Sans TC"/>
              </a:defRPr>
            </a:pPr>
            <a:r>
              <a:rPr sz="2550" b="1">
                <a:solidFill>
                  <a:srgbClr val="1F2933"/>
                </a:solidFill>
                <a:latin typeface="Noto Sans TC"/>
                <a:ea typeface="Noto Sans TC"/>
                <a:cs typeface="Noto Sans TC"/>
              </a:rPr>
              <a:t>抽籤與擲筊變成可理解流程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02F3E3E-FA5C-4C46-ABA9-59D150AF6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276350"/>
            <a:ext cx="7429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275" b="0">
                <a:solidFill>
                  <a:srgbClr val="5C6670"/>
                </a:solidFill>
                <a:latin typeface="Noto Sans TC"/>
                <a:ea typeface="Noto Sans TC"/>
                <a:cs typeface="Noto Sans TC"/>
              </a:defRPr>
            </a:pPr>
            <a:r>
              <a:rPr sz="1275" b="0">
                <a:solidFill>
                  <a:srgbClr val="5C6670"/>
                </a:solidFill>
                <a:latin typeface="Noto Sans TC"/>
                <a:ea typeface="Noto Sans TC"/>
                <a:cs typeface="Noto Sans TC"/>
              </a:rPr>
              <a:t>保留民俗儀式的節奏，同時用清楚介面降低第一次使用者的心理門檻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27AFBAD-76A8-4D0B-BE1E-9512A4B697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790700"/>
            <a:ext cx="1752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B9251C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AC3A22C-1C07-4FA4-A162-4FBD1636C6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419850"/>
            <a:ext cx="10934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7D8BC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CF9BF76-519B-463B-9E36-44913FD792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553200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750" b="0">
                <a:solidFill>
                  <a:srgbClr val="8D7A5D"/>
                </a:solidFill>
                <a:latin typeface="Noto Sans TC"/>
                <a:ea typeface="Noto Sans TC"/>
                <a:cs typeface="Noto Sans TC"/>
              </a:defRPr>
            </a:pPr>
            <a:r>
              <a:rPr sz="750" b="0">
                <a:solidFill>
                  <a:srgbClr val="8D7A5D"/>
                </a:solidFill>
                <a:latin typeface="Noto Sans TC"/>
                <a:ea typeface="Noto Sans TC"/>
                <a:cs typeface="Noto Sans TC"/>
              </a:rPr>
              <a:t>Temple AI OS｜2026 LINE AI 創新創業競賽｜公開 Demo 送件版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F28EE71-E0FD-4ABB-809C-43510C6A9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6553200"/>
            <a:ext cx="3848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750" b="0">
                <a:solidFill>
                  <a:srgbClr val="8D7A5D"/>
                </a:solidFill>
                <a:latin typeface="Noto Sans TC"/>
                <a:ea typeface="Noto Sans TC"/>
                <a:cs typeface="Noto Sans TC"/>
              </a:defRPr>
            </a:pPr>
            <a:r>
              <a:rPr sz="750" b="0">
                <a:solidFill>
                  <a:srgbClr val="8D7A5D"/>
                </a:solidFill>
                <a:latin typeface="Noto Sans TC"/>
                <a:ea typeface="Noto Sans TC"/>
                <a:cs typeface="Noto Sans TC"/>
              </a:rPr>
              <a:t>示範資料採自公開資訊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E358E16-ADCA-45EC-8E4F-43A0AB78A1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885950"/>
            <a:ext cx="2552700" cy="4171950"/>
          </a:xfrm>
          <a:prstGeom xmlns:a="http://schemas.openxmlformats.org/drawingml/2006/main" prst="roundRect">
            <a:avLst>
              <a:gd name="adj" fmla="val 895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9DDC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pic>
        <p:nvPicPr>
          <p:cNvPr id="3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04d31bd86e44019"/>
          <a:srcRect xmlns:a="http://schemas.openxmlformats.org/drawingml/2006/main" l="0" t="17851" r="0" b="1785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14400" y="1981200"/>
            <a:ext cx="2362200" cy="3981450"/>
          </a:xfrm>
          <a:prstGeom xmlns:a="http://schemas.openxmlformats.org/drawingml/2006/main" prst="roundRect">
            <a:avLst>
              <a:gd name="adj" fmla="val 6452"/>
            </a:avLst>
          </a:prstGeom>
        </p:spPr>
      </p:pic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F899C6B-35F0-48BB-83F3-907C4DFF9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1885950"/>
            <a:ext cx="2552700" cy="4171950"/>
          </a:xfrm>
          <a:prstGeom xmlns:a="http://schemas.openxmlformats.org/drawingml/2006/main" prst="roundRect">
            <a:avLst>
              <a:gd name="adj" fmla="val 895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9DDC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3e6c915db2041e4"/>
          <a:srcRect xmlns:a="http://schemas.openxmlformats.org/drawingml/2006/main" l="0" t="16932" r="0" b="1693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676650" y="1981200"/>
            <a:ext cx="2362200" cy="3981450"/>
          </a:xfrm>
          <a:prstGeom xmlns:a="http://schemas.openxmlformats.org/drawingml/2006/main" prst="roundRect">
            <a:avLst>
              <a:gd name="adj" fmla="val 6452"/>
            </a:avLst>
          </a:prstGeom>
        </p:spPr>
      </p:pic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330490D-339C-4618-8043-08462E7C77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17170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9941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025" b="1">
                <a:solidFill>
                  <a:srgbClr val="1F2933"/>
                </a:solidFill>
                <a:latin typeface="Noto Sans TC"/>
                <a:ea typeface="Noto Sans TC"/>
                <a:cs typeface="Noto Sans TC"/>
              </a:defRPr>
            </a:pPr>
            <a:r>
              <a:rPr sz="2025" b="1">
                <a:solidFill>
                  <a:srgbClr val="1F2933"/>
                </a:solidFill>
                <a:latin typeface="Noto Sans TC"/>
                <a:ea typeface="Noto Sans TC"/>
                <a:cs typeface="Noto Sans TC"/>
              </a:rPr>
              <a:t>三個安全邊界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7315ECA-8B05-4480-9E3D-C8FBD9585E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743200"/>
            <a:ext cx="3238500" cy="914400"/>
          </a:xfrm>
          <a:prstGeom xmlns:a="http://schemas.openxmlformats.org/drawingml/2006/main" prst="roundRect">
            <a:avLst>
              <a:gd name="adj" fmla="val 20833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E9DDC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F1E39A8-5FE8-4C61-91A0-B4312D3F97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2914650"/>
            <a:ext cx="2819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1">
                <a:solidFill>
                  <a:srgbClr val="B9251C"/>
                </a:solidFill>
                <a:latin typeface="Noto Sans TC"/>
                <a:ea typeface="Noto Sans TC"/>
                <a:cs typeface="Noto Sans TC"/>
              </a:defRPr>
            </a:pPr>
            <a:r>
              <a:rPr sz="1425" b="1">
                <a:solidFill>
                  <a:srgbClr val="B9251C"/>
                </a:solidFill>
                <a:latin typeface="Noto Sans TC"/>
                <a:ea typeface="Noto Sans TC"/>
                <a:cs typeface="Noto Sans TC"/>
              </a:rPr>
              <a:t>不斷言吉凶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B2EE8E4-55B7-42CE-A4A8-EFB4AA3C97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3295650"/>
            <a:ext cx="2819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74453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200" b="0">
                <a:solidFill>
                  <a:srgbClr val="5C6670"/>
                </a:solidFill>
                <a:latin typeface="Noto Sans TC"/>
                <a:ea typeface="Noto Sans TC"/>
                <a:cs typeface="Noto Sans TC"/>
              </a:defRPr>
            </a:pPr>
            <a:r>
              <a:rPr sz="1200" b="0">
                <a:solidFill>
                  <a:srgbClr val="5C6670"/>
                </a:solidFill>
                <a:latin typeface="Noto Sans TC"/>
                <a:ea typeface="Noto Sans TC"/>
                <a:cs typeface="Noto Sans TC"/>
              </a:rPr>
              <a:t>籤詩解讀採正向提醒，避免對人生重大決策做絕對判斷。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B5B14DC-0D5E-4D89-8B6B-3ADC881DF2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829050"/>
            <a:ext cx="3238500" cy="914400"/>
          </a:xfrm>
          <a:prstGeom xmlns:a="http://schemas.openxmlformats.org/drawingml/2006/main" prst="roundRect">
            <a:avLst>
              <a:gd name="adj" fmla="val 20833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E9DDC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4906147-1608-4060-BC2B-33FF9834E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4000500"/>
            <a:ext cx="2819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1">
                <a:solidFill>
                  <a:srgbClr val="C79A35"/>
                </a:solidFill>
                <a:latin typeface="Noto Sans TC"/>
                <a:ea typeface="Noto Sans TC"/>
                <a:cs typeface="Noto Sans TC"/>
              </a:defRPr>
            </a:pPr>
            <a:r>
              <a:rPr sz="1425" b="1">
                <a:solidFill>
                  <a:srgbClr val="C79A35"/>
                </a:solidFill>
                <a:latin typeface="Noto Sans TC"/>
                <a:ea typeface="Noto Sans TC"/>
                <a:cs typeface="Noto Sans TC"/>
              </a:rPr>
              <a:t>回到正式窗口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F22A1CD-546A-4919-B30B-53E7A598FD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4381500"/>
            <a:ext cx="2819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64016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200" b="0">
                <a:solidFill>
                  <a:srgbClr val="5C6670"/>
                </a:solidFill>
                <a:latin typeface="Noto Sans TC"/>
                <a:ea typeface="Noto Sans TC"/>
                <a:cs typeface="Noto Sans TC"/>
              </a:defRPr>
            </a:pPr>
            <a:r>
              <a:rPr sz="1200" b="0">
                <a:solidFill>
                  <a:srgbClr val="5C6670"/>
                </a:solidFill>
                <a:latin typeface="Noto Sans TC"/>
                <a:ea typeface="Noto Sans TC"/>
                <a:cs typeface="Noto Sans TC"/>
              </a:rPr>
              <a:t>涉及活動、服務與現場細節時，提醒以廟方公告與現場人員為準。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C461BF5-D9E4-4067-A738-073F6B1209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4914900"/>
            <a:ext cx="3238500" cy="914400"/>
          </a:xfrm>
          <a:prstGeom xmlns:a="http://schemas.openxmlformats.org/drawingml/2006/main" prst="roundRect">
            <a:avLst>
              <a:gd name="adj" fmla="val 20833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E9DDC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C849439-EBD1-478C-A6EE-5937FF366A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5086350"/>
            <a:ext cx="2819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1">
                <a:solidFill>
                  <a:srgbClr val="244765"/>
                </a:solidFill>
                <a:latin typeface="Noto Sans TC"/>
                <a:ea typeface="Noto Sans TC"/>
                <a:cs typeface="Noto Sans TC"/>
              </a:defRPr>
            </a:pPr>
            <a:r>
              <a:rPr sz="1425" b="1">
                <a:solidFill>
                  <a:srgbClr val="244765"/>
                </a:solidFill>
                <a:latin typeface="Noto Sans TC"/>
                <a:ea typeface="Noto Sans TC"/>
                <a:cs typeface="Noto Sans TC"/>
              </a:rPr>
              <a:t>保留文化語氣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20A7829-95F8-4204-843F-023D5D670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5467350"/>
            <a:ext cx="2819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74453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200" b="0">
                <a:solidFill>
                  <a:srgbClr val="5C6670"/>
                </a:solidFill>
                <a:latin typeface="Noto Sans TC"/>
                <a:ea typeface="Noto Sans TC"/>
                <a:cs typeface="Noto Sans TC"/>
              </a:defRPr>
            </a:pPr>
            <a:r>
              <a:rPr sz="1200" b="0">
                <a:solidFill>
                  <a:srgbClr val="5C6670"/>
                </a:solidFill>
                <a:latin typeface="Noto Sans TC"/>
                <a:ea typeface="Noto Sans TC"/>
                <a:cs typeface="Noto Sans TC"/>
              </a:rPr>
              <a:t>以白話解釋流程，不把民俗互動包裝成神諭或絕對預測。</a:t>
            </a:r>
          </a:p>
        </p:txBody>
      </p:sp>
    </p:spTree>
    <p:extLst>
      <p:ext uri="{BB962C8B-B14F-4D97-AF65-F5344CB8AC3E}">
        <p14:creationId xmlns:p14="http://schemas.microsoft.com/office/powerpoint/2010/main" val="1664379445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D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89CFF7A-03EB-4D9F-98EB-C8F2BC1F8B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2385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1">
                <a:solidFill>
                  <a:srgbClr val="B9251C"/>
                </a:solidFill>
                <a:latin typeface="Noto Sans TC"/>
                <a:ea typeface="Noto Sans TC"/>
                <a:cs typeface="Noto Sans TC"/>
              </a:defRPr>
            </a:pPr>
            <a:r>
              <a:rPr sz="1125" b="1">
                <a:solidFill>
                  <a:srgbClr val="B9251C"/>
                </a:solidFill>
                <a:latin typeface="Noto Sans TC"/>
                <a:ea typeface="Noto Sans TC"/>
                <a:cs typeface="Noto Sans TC"/>
              </a:rPr>
              <a:t>P.06 / 10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B034B95-281F-46B2-B36F-9DB830F50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3238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1">
                <a:solidFill>
                  <a:srgbClr val="5C6670"/>
                </a:solidFill>
                <a:latin typeface="Noto Sans TC"/>
                <a:ea typeface="Noto Sans TC"/>
                <a:cs typeface="Noto Sans TC"/>
              </a:defRPr>
            </a:pPr>
            <a:r>
              <a:rPr sz="1125" b="1">
                <a:solidFill>
                  <a:srgbClr val="5C6670"/>
                </a:solidFill>
                <a:latin typeface="Noto Sans TC"/>
                <a:ea typeface="Noto Sans TC"/>
                <a:cs typeface="Noto Sans TC"/>
              </a:rPr>
              <a:t>AI 展示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FD66976-C6C5-42B8-B9BF-E7AF886DD9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742950"/>
            <a:ext cx="7810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550" b="1">
                <a:solidFill>
                  <a:srgbClr val="1F2933"/>
                </a:solidFill>
                <a:latin typeface="Noto Sans TC"/>
                <a:ea typeface="Noto Sans TC"/>
                <a:cs typeface="Noto Sans TC"/>
              </a:defRPr>
            </a:pPr>
            <a:r>
              <a:rPr sz="2550" b="1">
                <a:solidFill>
                  <a:srgbClr val="1F2933"/>
                </a:solidFill>
                <a:latin typeface="Noto Sans TC"/>
                <a:ea typeface="Noto Sans TC"/>
                <a:cs typeface="Noto Sans TC"/>
              </a:rPr>
              <a:t>AI 文史問答安全邊界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E853E04-0F99-4B78-90EA-2EE463D8B8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276350"/>
            <a:ext cx="7429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275" b="0">
                <a:solidFill>
                  <a:srgbClr val="5C6670"/>
                </a:solidFill>
                <a:latin typeface="Noto Sans TC"/>
                <a:ea typeface="Noto Sans TC"/>
                <a:cs typeface="Noto Sans TC"/>
              </a:defRPr>
            </a:pPr>
            <a:r>
              <a:rPr sz="1275" b="0">
                <a:solidFill>
                  <a:srgbClr val="5C6670"/>
                </a:solidFill>
                <a:latin typeface="Noto Sans TC"/>
                <a:ea typeface="Noto Sans TC"/>
                <a:cs typeface="Noto Sans TC"/>
              </a:rPr>
              <a:t>把公開資料整理成可搜尋知識，讓 AI 回答有依據、有分寸、可被廟方維護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54604AF-015B-4BD8-804B-DF9C776DBA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790700"/>
            <a:ext cx="1752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B9251C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2F6FDA0-8DBC-400D-A7D9-E4ABDA437C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419850"/>
            <a:ext cx="10934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7D8BC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327951D-5A1C-400A-8EA1-463A54D45D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553200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750" b="0">
                <a:solidFill>
                  <a:srgbClr val="8D7A5D"/>
                </a:solidFill>
                <a:latin typeface="Noto Sans TC"/>
                <a:ea typeface="Noto Sans TC"/>
                <a:cs typeface="Noto Sans TC"/>
              </a:defRPr>
            </a:pPr>
            <a:r>
              <a:rPr sz="750" b="0">
                <a:solidFill>
                  <a:srgbClr val="8D7A5D"/>
                </a:solidFill>
                <a:latin typeface="Noto Sans TC"/>
                <a:ea typeface="Noto Sans TC"/>
                <a:cs typeface="Noto Sans TC"/>
              </a:rPr>
              <a:t>Temple AI OS｜2026 LINE AI 創新創業競賽｜公開 Demo 送件版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99F5BD8-BC65-4CB1-B23B-323704C8CE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6553200"/>
            <a:ext cx="3848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750" b="0">
                <a:solidFill>
                  <a:srgbClr val="8D7A5D"/>
                </a:solidFill>
                <a:latin typeface="Noto Sans TC"/>
                <a:ea typeface="Noto Sans TC"/>
                <a:cs typeface="Noto Sans TC"/>
              </a:defRPr>
            </a:pPr>
            <a:r>
              <a:rPr sz="750" b="0">
                <a:solidFill>
                  <a:srgbClr val="8D7A5D"/>
                </a:solidFill>
                <a:latin typeface="Noto Sans TC"/>
                <a:ea typeface="Noto Sans TC"/>
                <a:cs typeface="Noto Sans TC"/>
              </a:rPr>
              <a:t>示範資料採自公開資訊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EE28C63-2BB3-49E7-B21F-4EA3ED2ABE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57400"/>
            <a:ext cx="6381750" cy="257175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9DDC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pic>
        <p:nvPicPr>
          <p:cNvPr id="3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ff6fd52328845d3"/>
          <a:stretch xmlns:a="http://schemas.openxmlformats.org/drawingml/2006/main"/>
        </p:blipFill>
        <p:spPr>
          <a:xfrm xmlns:a="http://schemas.openxmlformats.org/drawingml/2006/main">
            <a:off x="1213435" y="2152650"/>
            <a:ext cx="5326480" cy="2381250"/>
          </a:xfrm>
          <a:prstGeom xmlns:a="http://schemas.openxmlformats.org/drawingml/2006/main" prst="roundRect">
            <a:avLst>
              <a:gd name="adj" fmla="val 6400"/>
            </a:avLst>
          </a:prstGeom>
        </p:spPr>
      </p:pic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6F842CA-36A4-4052-88F0-A30986C513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2152650"/>
            <a:ext cx="304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9941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025" b="1">
                <a:solidFill>
                  <a:srgbClr val="1F2933"/>
                </a:solidFill>
                <a:latin typeface="Noto Sans TC"/>
                <a:ea typeface="Noto Sans TC"/>
                <a:cs typeface="Noto Sans TC"/>
              </a:defRPr>
            </a:pPr>
            <a:r>
              <a:rPr sz="2025" b="1">
                <a:solidFill>
                  <a:srgbClr val="1F2933"/>
                </a:solidFill>
                <a:latin typeface="Noto Sans TC"/>
                <a:ea typeface="Noto Sans TC"/>
                <a:cs typeface="Noto Sans TC"/>
              </a:rPr>
              <a:t>內容治理原則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F07DF40-0C37-49C7-B506-C64E6AFB60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2724150"/>
            <a:ext cx="4953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550" b="1">
                <a:solidFill>
                  <a:srgbClr val="06C755"/>
                </a:solidFill>
                <a:latin typeface="Noto Sans TC"/>
                <a:ea typeface="Noto Sans TC"/>
                <a:cs typeface="Noto Sans TC"/>
              </a:defRPr>
            </a:pPr>
            <a:r>
              <a:rPr sz="2550" b="1">
                <a:solidFill>
                  <a:srgbClr val="06C755"/>
                </a:solidFill>
                <a:latin typeface="Noto Sans TC"/>
                <a:ea typeface="Noto Sans TC"/>
                <a:cs typeface="Noto Sans TC"/>
              </a:rPr>
              <a:t>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0B7B6A1-BB06-4031-A506-8B16AEA0A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743200"/>
            <a:ext cx="2724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1">
                <a:solidFill>
                  <a:srgbClr val="1F2933"/>
                </a:solidFill>
                <a:latin typeface="Noto Sans TC"/>
                <a:ea typeface="Noto Sans TC"/>
                <a:cs typeface="Noto Sans TC"/>
              </a:defRPr>
            </a:pPr>
            <a:r>
              <a:rPr sz="1425" b="1">
                <a:solidFill>
                  <a:srgbClr val="1F2933"/>
                </a:solidFill>
                <a:latin typeface="Noto Sans TC"/>
                <a:ea typeface="Noto Sans TC"/>
                <a:cs typeface="Noto Sans TC"/>
              </a:rPr>
              <a:t>先找資料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1C23C2B-E3D6-4187-8A92-665991663D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3048000"/>
            <a:ext cx="27241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125" b="0">
                <a:solidFill>
                  <a:srgbClr val="5C6670"/>
                </a:solidFill>
                <a:latin typeface="Noto Sans TC"/>
                <a:ea typeface="Noto Sans TC"/>
                <a:cs typeface="Noto Sans TC"/>
              </a:defRPr>
            </a:pPr>
            <a:r>
              <a:rPr sz="1125" b="0">
                <a:solidFill>
                  <a:srgbClr val="5C6670"/>
                </a:solidFill>
                <a:latin typeface="Noto Sans TC"/>
                <a:ea typeface="Noto Sans TC"/>
                <a:cs typeface="Noto Sans TC"/>
              </a:rPr>
              <a:t>以公開文史與服務資料作為回答基礎。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3C35F81-5B07-4571-A4F7-1DDC62800A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3581400"/>
            <a:ext cx="4953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550" b="1">
                <a:solidFill>
                  <a:srgbClr val="B9251C"/>
                </a:solidFill>
                <a:latin typeface="Noto Sans TC"/>
                <a:ea typeface="Noto Sans TC"/>
                <a:cs typeface="Noto Sans TC"/>
              </a:defRPr>
            </a:pPr>
            <a:r>
              <a:rPr sz="2550" b="1">
                <a:solidFill>
                  <a:srgbClr val="B9251C"/>
                </a:solidFill>
                <a:latin typeface="Noto Sans TC"/>
                <a:ea typeface="Noto Sans TC"/>
                <a:cs typeface="Noto Sans TC"/>
              </a:rPr>
              <a:t>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222DF71-7796-4FF6-93C2-5560ACC3A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3600450"/>
            <a:ext cx="2724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1">
                <a:solidFill>
                  <a:srgbClr val="1F2933"/>
                </a:solidFill>
                <a:latin typeface="Noto Sans TC"/>
                <a:ea typeface="Noto Sans TC"/>
                <a:cs typeface="Noto Sans TC"/>
              </a:defRPr>
            </a:pPr>
            <a:r>
              <a:rPr sz="1425" b="1">
                <a:solidFill>
                  <a:srgbClr val="1F2933"/>
                </a:solidFill>
                <a:latin typeface="Noto Sans TC"/>
                <a:ea typeface="Noto Sans TC"/>
                <a:cs typeface="Noto Sans TC"/>
              </a:rPr>
              <a:t>再生成回覆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29248FB-3ACD-439B-8B29-940A2DD44B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3905250"/>
            <a:ext cx="27241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125" b="0">
                <a:solidFill>
                  <a:srgbClr val="5C6670"/>
                </a:solidFill>
                <a:latin typeface="Noto Sans TC"/>
                <a:ea typeface="Noto Sans TC"/>
                <a:cs typeface="Noto Sans TC"/>
              </a:defRPr>
            </a:pPr>
            <a:r>
              <a:rPr sz="1125" b="0">
                <a:solidFill>
                  <a:srgbClr val="5C6670"/>
                </a:solidFill>
                <a:latin typeface="Noto Sans TC"/>
                <a:ea typeface="Noto Sans TC"/>
                <a:cs typeface="Noto Sans TC"/>
              </a:rPr>
              <a:t>AI 只回答可追溯內容，降低錯答與幻想風險。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3EA3218-B2C0-44C4-98CC-2D99F5AF34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4438650"/>
            <a:ext cx="4953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550" b="1">
                <a:solidFill>
                  <a:srgbClr val="C79A35"/>
                </a:solidFill>
                <a:latin typeface="Noto Sans TC"/>
                <a:ea typeface="Noto Sans TC"/>
                <a:cs typeface="Noto Sans TC"/>
              </a:defRPr>
            </a:pPr>
            <a:r>
              <a:rPr sz="2550" b="1">
                <a:solidFill>
                  <a:srgbClr val="C79A35"/>
                </a:solidFill>
                <a:latin typeface="Noto Sans TC"/>
                <a:ea typeface="Noto Sans TC"/>
                <a:cs typeface="Noto Sans TC"/>
              </a:rPr>
              <a:t>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5543D92-94E4-4D7A-A3F3-D59A022DE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4457700"/>
            <a:ext cx="2724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1">
                <a:solidFill>
                  <a:srgbClr val="1F2933"/>
                </a:solidFill>
                <a:latin typeface="Noto Sans TC"/>
                <a:ea typeface="Noto Sans TC"/>
                <a:cs typeface="Noto Sans TC"/>
              </a:defRPr>
            </a:pPr>
            <a:r>
              <a:rPr sz="1425" b="1">
                <a:solidFill>
                  <a:srgbClr val="1F2933"/>
                </a:solidFill>
                <a:latin typeface="Noto Sans TC"/>
                <a:ea typeface="Noto Sans TC"/>
                <a:cs typeface="Noto Sans TC"/>
              </a:rPr>
              <a:t>保留人工審核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6656D24-EA96-4A24-8F34-29E5175D62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4762500"/>
            <a:ext cx="27241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125" b="0">
                <a:solidFill>
                  <a:srgbClr val="5C6670"/>
                </a:solidFill>
                <a:latin typeface="Noto Sans TC"/>
                <a:ea typeface="Noto Sans TC"/>
                <a:cs typeface="Noto Sans TC"/>
              </a:defRPr>
            </a:pPr>
            <a:r>
              <a:rPr sz="1125" b="0">
                <a:solidFill>
                  <a:srgbClr val="5C6670"/>
                </a:solidFill>
                <a:latin typeface="Noto Sans TC"/>
                <a:ea typeface="Noto Sans TC"/>
                <a:cs typeface="Noto Sans TC"/>
              </a:rPr>
              <a:t>文化與儀式資料由廟方或維護者更新。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6AB21FB-761E-4155-B7CB-4103446761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048250"/>
            <a:ext cx="6210300" cy="742950"/>
          </a:xfrm>
          <a:prstGeom xmlns:a="http://schemas.openxmlformats.org/drawingml/2006/main" prst="roundRect">
            <a:avLst>
              <a:gd name="adj" fmla="val 23077"/>
            </a:avLst>
          </a:prstGeom>
          <a:solidFill xmlns:a="http://schemas.openxmlformats.org/drawingml/2006/main">
            <a:srgbClr val="FFF8E7"/>
          </a:solidFill>
          <a:ln xmlns:a="http://schemas.openxmlformats.org/drawingml/2006/main" w="9525">
            <a:solidFill>
              <a:srgbClr val="D9C8A7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95BCB43-2AD5-4E88-9869-E3B057907A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238750"/>
            <a:ext cx="5715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70792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350" b="1">
                <a:solidFill>
                  <a:srgbClr val="7F1D1D"/>
                </a:solidFill>
                <a:latin typeface="Noto Sans TC"/>
                <a:ea typeface="Noto Sans TC"/>
                <a:cs typeface="Noto Sans TC"/>
              </a:defRPr>
            </a:pPr>
            <a:r>
              <a:rPr sz="1350" b="1">
                <a:solidFill>
                  <a:srgbClr val="7F1D1D"/>
                </a:solidFill>
                <a:latin typeface="Noto Sans TC"/>
                <a:ea typeface="Noto Sans TC"/>
                <a:cs typeface="Noto Sans TC"/>
              </a:rPr>
              <a:t>AI 不扮演神明、不宣稱神諭、不處理醫療投資等敏感決策。這條邊界會直接寫進系統提示詞與安全回覆規則。</a:t>
            </a:r>
          </a:p>
        </p:txBody>
      </p:sp>
    </p:spTree>
    <p:extLst>
      <p:ext uri="{BB962C8B-B14F-4D97-AF65-F5344CB8AC3E}">
        <p14:creationId xmlns:p14="http://schemas.microsoft.com/office/powerpoint/2010/main" val="199567664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BF7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4858455-6E67-4553-A850-248A6575B4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2385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1">
                <a:solidFill>
                  <a:srgbClr val="B9251C"/>
                </a:solidFill>
                <a:latin typeface="Noto Sans TC"/>
                <a:ea typeface="Noto Sans TC"/>
                <a:cs typeface="Noto Sans TC"/>
              </a:defRPr>
            </a:pPr>
            <a:r>
              <a:rPr sz="1125" b="1">
                <a:solidFill>
                  <a:srgbClr val="B9251C"/>
                </a:solidFill>
                <a:latin typeface="Noto Sans TC"/>
                <a:ea typeface="Noto Sans TC"/>
                <a:cs typeface="Noto Sans TC"/>
              </a:rPr>
              <a:t>P.07 / 10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9794057-8208-44AF-A3E3-496814A5D0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3238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1">
                <a:solidFill>
                  <a:srgbClr val="5C6670"/>
                </a:solidFill>
                <a:latin typeface="Noto Sans TC"/>
                <a:ea typeface="Noto Sans TC"/>
                <a:cs typeface="Noto Sans TC"/>
              </a:defRPr>
            </a:pPr>
            <a:r>
              <a:rPr sz="1125" b="1">
                <a:solidFill>
                  <a:srgbClr val="5C6670"/>
                </a:solidFill>
                <a:latin typeface="Noto Sans TC"/>
                <a:ea typeface="Noto Sans TC"/>
                <a:cs typeface="Noto Sans TC"/>
              </a:rPr>
              <a:t>廟方後台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7FFB16A-B39E-4F7B-AD45-C57CB738DC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742950"/>
            <a:ext cx="7810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550" b="1">
                <a:solidFill>
                  <a:srgbClr val="1F2933"/>
                </a:solidFill>
                <a:latin typeface="Noto Sans TC"/>
                <a:ea typeface="Noto Sans TC"/>
                <a:cs typeface="Noto Sans TC"/>
              </a:defRPr>
            </a:pPr>
            <a:r>
              <a:rPr sz="2550" b="1">
                <a:solidFill>
                  <a:srgbClr val="1F2933"/>
                </a:solidFill>
                <a:latin typeface="Noto Sans TC"/>
                <a:ea typeface="Noto Sans TC"/>
                <a:cs typeface="Noto Sans TC"/>
              </a:rPr>
              <a:t>廟務營運後台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B8CF6F2-417A-49D9-AA38-C9537BCC8E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276350"/>
            <a:ext cx="7429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275" b="0">
                <a:solidFill>
                  <a:srgbClr val="5C6670"/>
                </a:solidFill>
                <a:latin typeface="Noto Sans TC"/>
                <a:ea typeface="Noto Sans TC"/>
                <a:cs typeface="Noto Sans TC"/>
              </a:defRPr>
            </a:pPr>
            <a:r>
              <a:rPr sz="1275" b="0">
                <a:solidFill>
                  <a:srgbClr val="5C6670"/>
                </a:solidFill>
                <a:latin typeface="Noto Sans TC"/>
                <a:ea typeface="Noto Sans TC"/>
                <a:cs typeface="Noto Sans TC"/>
              </a:rPr>
              <a:t>廟方可自行維護基本資料、公告、活動與服務內容，減少每次都要請工程人員改版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3E946C4-08DB-400F-B2DC-64517B7F54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790700"/>
            <a:ext cx="1752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B9251C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A332EB0-6709-4C4E-999F-E5D61129AF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419850"/>
            <a:ext cx="10934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7D8BC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6FAD4FA-6C88-449D-8B46-4A7B50BC72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553200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750" b="0">
                <a:solidFill>
                  <a:srgbClr val="8D7A5D"/>
                </a:solidFill>
                <a:latin typeface="Noto Sans TC"/>
                <a:ea typeface="Noto Sans TC"/>
                <a:cs typeface="Noto Sans TC"/>
              </a:defRPr>
            </a:pPr>
            <a:r>
              <a:rPr sz="750" b="0">
                <a:solidFill>
                  <a:srgbClr val="8D7A5D"/>
                </a:solidFill>
                <a:latin typeface="Noto Sans TC"/>
                <a:ea typeface="Noto Sans TC"/>
                <a:cs typeface="Noto Sans TC"/>
              </a:rPr>
              <a:t>Temple AI OS｜2026 LINE AI 創新創業競賽｜公開 Demo 送件版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56109C3-B339-4874-87CB-B42562A288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6553200"/>
            <a:ext cx="3848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750" b="0">
                <a:solidFill>
                  <a:srgbClr val="8D7A5D"/>
                </a:solidFill>
                <a:latin typeface="Noto Sans TC"/>
                <a:ea typeface="Noto Sans TC"/>
                <a:cs typeface="Noto Sans TC"/>
              </a:defRPr>
            </a:pPr>
            <a:r>
              <a:rPr sz="750" b="0">
                <a:solidFill>
                  <a:srgbClr val="8D7A5D"/>
                </a:solidFill>
                <a:latin typeface="Noto Sans TC"/>
                <a:ea typeface="Noto Sans TC"/>
                <a:cs typeface="Noto Sans TC"/>
              </a:rPr>
              <a:t>示範資料採自公開資訊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3728C18-412D-4689-9B3A-81BF8FC1BD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924050"/>
            <a:ext cx="6896100" cy="3448050"/>
          </a:xfrm>
          <a:prstGeom xmlns:a="http://schemas.openxmlformats.org/drawingml/2006/main" prst="roundRect">
            <a:avLst>
              <a:gd name="adj" fmla="val 663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9DDC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pic>
        <p:nvPicPr>
          <p:cNvPr id="3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edd3e8e9f9a4a09"/>
          <a:srcRect xmlns:a="http://schemas.openxmlformats.org/drawingml/2006/main" l="0" t="13565" r="0" b="1356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42950" y="2019300"/>
            <a:ext cx="6705600" cy="3257550"/>
          </a:xfrm>
          <a:prstGeom xmlns:a="http://schemas.openxmlformats.org/drawingml/2006/main" prst="roundRect">
            <a:avLst>
              <a:gd name="adj" fmla="val 4678"/>
            </a:avLst>
          </a:prstGeom>
        </p:spPr>
      </p:pic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4B32A9D-03B8-470B-8DB7-5B826FA352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114550"/>
            <a:ext cx="2000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361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925" b="1">
                <a:solidFill>
                  <a:srgbClr val="B9251C"/>
                </a:solidFill>
                <a:latin typeface="Noto Sans TC"/>
                <a:ea typeface="Noto Sans TC"/>
                <a:cs typeface="Noto Sans TC"/>
              </a:defRPr>
            </a:pPr>
            <a:r>
              <a:rPr sz="2925" b="1">
                <a:solidFill>
                  <a:srgbClr val="B9251C"/>
                </a:solidFill>
                <a:latin typeface="Noto Sans TC"/>
                <a:ea typeface="Noto Sans TC"/>
                <a:cs typeface="Noto Sans TC"/>
              </a:rPr>
              <a:t>即時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5BC8914-46FB-463A-B411-2EEAD81EE1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667000"/>
            <a:ext cx="15430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B9251C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DA18D78-E9E8-4203-A1F8-0D948F8578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800350"/>
            <a:ext cx="2000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200" b="1">
                <a:solidFill>
                  <a:srgbClr val="1F2933"/>
                </a:solidFill>
                <a:latin typeface="Noto Sans TC"/>
                <a:ea typeface="Noto Sans TC"/>
                <a:cs typeface="Noto Sans TC"/>
              </a:defRPr>
            </a:pPr>
            <a:r>
              <a:rPr sz="1200" b="1">
                <a:solidFill>
                  <a:srgbClr val="1F2933"/>
                </a:solidFill>
                <a:latin typeface="Noto Sans TC"/>
                <a:ea typeface="Noto Sans TC"/>
                <a:cs typeface="Noto Sans TC"/>
              </a:rPr>
              <a:t>公告與服務資料</a:t>
            </a:r>
          </a:p>
          <a:p xmlns:a="http://schemas.openxmlformats.org/drawingml/2006/main">
            <a:pPr algn="ctr">
              <a:lnSpc>
                <a:spcPct val="110000"/>
              </a:lnSpc>
              <a:buNone/>
              <a:defRPr sz="1200" b="1">
                <a:solidFill>
                  <a:srgbClr val="1F2933"/>
                </a:solidFill>
                <a:latin typeface="Noto Sans TC"/>
                <a:ea typeface="Noto Sans TC"/>
                <a:cs typeface="Noto Sans TC"/>
              </a:defRPr>
            </a:pPr>
            <a:r>
              <a:rPr sz="1200" b="1">
                <a:solidFill>
                  <a:srgbClr val="1F2933"/>
                </a:solidFill>
                <a:latin typeface="Noto Sans TC"/>
                <a:ea typeface="Noto Sans TC"/>
                <a:cs typeface="Noto Sans TC"/>
              </a:rPr>
              <a:t>後台更新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F40DD97-4927-4750-9267-2ED15F691A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3333750"/>
            <a:ext cx="2000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361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925" b="1">
                <a:solidFill>
                  <a:srgbClr val="244765"/>
                </a:solidFill>
                <a:latin typeface="Noto Sans TC"/>
                <a:ea typeface="Noto Sans TC"/>
                <a:cs typeface="Noto Sans TC"/>
              </a:defRPr>
            </a:pPr>
            <a:r>
              <a:rPr sz="2925" b="1">
                <a:solidFill>
                  <a:srgbClr val="244765"/>
                </a:solidFill>
                <a:latin typeface="Noto Sans TC"/>
                <a:ea typeface="Noto Sans TC"/>
                <a:cs typeface="Noto Sans TC"/>
              </a:rPr>
              <a:t>分權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1539597-39E0-4D08-A43C-4F2134CECA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3886200"/>
            <a:ext cx="15430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44765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5FA402E-DBF4-4367-B84F-889C9A0B3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4019550"/>
            <a:ext cx="2000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200" b="1">
                <a:solidFill>
                  <a:srgbClr val="1F2933"/>
                </a:solidFill>
                <a:latin typeface="Noto Sans TC"/>
                <a:ea typeface="Noto Sans TC"/>
                <a:cs typeface="Noto Sans TC"/>
              </a:defRPr>
            </a:pPr>
            <a:r>
              <a:rPr sz="1200" b="1">
                <a:solidFill>
                  <a:srgbClr val="1F2933"/>
                </a:solidFill>
                <a:latin typeface="Noto Sans TC"/>
                <a:ea typeface="Noto Sans TC"/>
                <a:cs typeface="Noto Sans TC"/>
              </a:rPr>
              <a:t>Admin 與 Staff</a:t>
            </a:r>
          </a:p>
          <a:p xmlns:a="http://schemas.openxmlformats.org/drawingml/2006/main">
            <a:pPr algn="ctr">
              <a:lnSpc>
                <a:spcPct val="110000"/>
              </a:lnSpc>
              <a:buNone/>
              <a:defRPr sz="1200" b="1">
                <a:solidFill>
                  <a:srgbClr val="1F2933"/>
                </a:solidFill>
                <a:latin typeface="Noto Sans TC"/>
                <a:ea typeface="Noto Sans TC"/>
                <a:cs typeface="Noto Sans TC"/>
              </a:defRPr>
            </a:pPr>
            <a:r>
              <a:rPr sz="1200" b="1">
                <a:solidFill>
                  <a:srgbClr val="1F2933"/>
                </a:solidFill>
                <a:latin typeface="Noto Sans TC"/>
                <a:ea typeface="Noto Sans TC"/>
                <a:cs typeface="Noto Sans TC"/>
              </a:rPr>
              <a:t>操作權限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6C24626-D690-4C0A-BB8A-63EC7BEDE8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552950"/>
            <a:ext cx="2000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361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925" b="1">
                <a:solidFill>
                  <a:srgbClr val="C79A35"/>
                </a:solidFill>
                <a:latin typeface="Noto Sans TC"/>
                <a:ea typeface="Noto Sans TC"/>
                <a:cs typeface="Noto Sans TC"/>
              </a:defRPr>
            </a:pPr>
            <a:r>
              <a:rPr sz="2925" b="1">
                <a:solidFill>
                  <a:srgbClr val="C79A35"/>
                </a:solidFill>
                <a:latin typeface="Noto Sans TC"/>
                <a:ea typeface="Noto Sans TC"/>
                <a:cs typeface="Noto Sans TC"/>
              </a:rPr>
              <a:t>留痕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1DE0A0E-3470-4787-A2E8-432F85DFB7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5105400"/>
            <a:ext cx="15430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79A35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17ACBDD-9BF3-4527-8C1B-8664CEBFA3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5238750"/>
            <a:ext cx="2000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200" b="1">
                <a:solidFill>
                  <a:srgbClr val="1F2933"/>
                </a:solidFill>
                <a:latin typeface="Noto Sans TC"/>
                <a:ea typeface="Noto Sans TC"/>
                <a:cs typeface="Noto Sans TC"/>
              </a:defRPr>
            </a:pPr>
            <a:r>
              <a:rPr sz="1200" b="1">
                <a:solidFill>
                  <a:srgbClr val="1F2933"/>
                </a:solidFill>
                <a:latin typeface="Noto Sans TC"/>
                <a:ea typeface="Noto Sans TC"/>
                <a:cs typeface="Noto Sans TC"/>
              </a:rPr>
              <a:t>登入與異動</a:t>
            </a:r>
          </a:p>
          <a:p xmlns:a="http://schemas.openxmlformats.org/drawingml/2006/main">
            <a:pPr algn="ctr">
              <a:lnSpc>
                <a:spcPct val="110000"/>
              </a:lnSpc>
              <a:buNone/>
              <a:defRPr sz="1200" b="1">
                <a:solidFill>
                  <a:srgbClr val="1F2933"/>
                </a:solidFill>
                <a:latin typeface="Noto Sans TC"/>
                <a:ea typeface="Noto Sans TC"/>
                <a:cs typeface="Noto Sans TC"/>
              </a:defRPr>
            </a:pPr>
            <a:r>
              <a:rPr sz="1200" b="1">
                <a:solidFill>
                  <a:srgbClr val="1F2933"/>
                </a:solidFill>
                <a:latin typeface="Noto Sans TC"/>
                <a:ea typeface="Noto Sans TC"/>
                <a:cs typeface="Noto Sans TC"/>
              </a:rPr>
              <a:t>便於追蹤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DD02FB3-CBBF-40C1-BDAB-A059E2C088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619750"/>
            <a:ext cx="6286500" cy="400050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FFFFFF">
              <a:alpha val="82000"/>
            </a:srgbClr>
          </a:solidFill>
          <a:ln xmlns:a="http://schemas.openxmlformats.org/drawingml/2006/main" w="9525">
            <a:solidFill>
              <a:srgbClr val="E9DDC9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458EEFA-E423-4C6E-9681-F00A5FFF6C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734050"/>
            <a:ext cx="5753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0078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1">
                <a:solidFill>
                  <a:srgbClr val="5C6670"/>
                </a:solidFill>
                <a:latin typeface="Noto Sans TC"/>
                <a:ea typeface="Noto Sans TC"/>
                <a:cs typeface="Noto Sans TC"/>
              </a:defRPr>
            </a:pPr>
            <a:r>
              <a:rPr sz="1200" b="1">
                <a:solidFill>
                  <a:srgbClr val="5C6670"/>
                </a:solidFill>
                <a:latin typeface="Noto Sans TC"/>
                <a:ea typeface="Noto Sans TC"/>
                <a:cs typeface="Noto Sans TC"/>
              </a:rPr>
              <a:t>此頁呈現實際後台設定畫面：廟名、全銜、主祀神祇、開放時段、公告與服務指引可集中維護。</a:t>
            </a:r>
          </a:p>
        </p:txBody>
      </p:sp>
    </p:spTree>
    <p:extLst>
      <p:ext uri="{BB962C8B-B14F-4D97-AF65-F5344CB8AC3E}">
        <p14:creationId xmlns:p14="http://schemas.microsoft.com/office/powerpoint/2010/main" val="380060156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D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90F0BC3-0B81-45EA-B938-E419C3B076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2385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1">
                <a:solidFill>
                  <a:srgbClr val="B9251C"/>
                </a:solidFill>
                <a:latin typeface="Noto Sans TC"/>
                <a:ea typeface="Noto Sans TC"/>
                <a:cs typeface="Noto Sans TC"/>
              </a:defRPr>
            </a:pPr>
            <a:r>
              <a:rPr sz="1125" b="1">
                <a:solidFill>
                  <a:srgbClr val="B9251C"/>
                </a:solidFill>
                <a:latin typeface="Noto Sans TC"/>
                <a:ea typeface="Noto Sans TC"/>
                <a:cs typeface="Noto Sans TC"/>
              </a:rPr>
              <a:t>P.08 / 10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C9BA7A3-3D16-4251-9E01-DF2E1E8535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3238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1">
                <a:solidFill>
                  <a:srgbClr val="5C6670"/>
                </a:solidFill>
                <a:latin typeface="Noto Sans TC"/>
                <a:ea typeface="Noto Sans TC"/>
                <a:cs typeface="Noto Sans TC"/>
              </a:defRPr>
            </a:pPr>
            <a:r>
              <a:rPr sz="1125" b="1">
                <a:solidFill>
                  <a:srgbClr val="5C6670"/>
                </a:solidFill>
                <a:latin typeface="Noto Sans TC"/>
                <a:ea typeface="Noto Sans TC"/>
                <a:cs typeface="Noto Sans TC"/>
              </a:rPr>
              <a:t>技術架構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7FEB023-F1F5-4524-8CDB-7AC890F10F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742950"/>
            <a:ext cx="7810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550" b="1">
                <a:solidFill>
                  <a:srgbClr val="1F2933"/>
                </a:solidFill>
                <a:latin typeface="Noto Sans TC"/>
                <a:ea typeface="Noto Sans TC"/>
                <a:cs typeface="Noto Sans TC"/>
              </a:defRPr>
            </a:pPr>
            <a:r>
              <a:rPr sz="2550" b="1">
                <a:solidFill>
                  <a:srgbClr val="1F2933"/>
                </a:solidFill>
                <a:latin typeface="Noto Sans TC"/>
                <a:ea typeface="Noto Sans TC"/>
                <a:cs typeface="Noto Sans TC"/>
              </a:rPr>
              <a:t>LINE 到資料庫的服務閉環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62816DE-13CE-4BB1-95BF-EF8FB1BB33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276350"/>
            <a:ext cx="7429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275" b="0">
                <a:solidFill>
                  <a:srgbClr val="5C6670"/>
                </a:solidFill>
                <a:latin typeface="Noto Sans TC"/>
                <a:ea typeface="Noto Sans TC"/>
                <a:cs typeface="Noto Sans TC"/>
              </a:defRPr>
            </a:pPr>
            <a:r>
              <a:rPr sz="1275" b="0">
                <a:solidFill>
                  <a:srgbClr val="5C6670"/>
                </a:solidFill>
                <a:latin typeface="Noto Sans TC"/>
                <a:ea typeface="Noto Sans TC"/>
                <a:cs typeface="Noto Sans TC"/>
              </a:rPr>
              <a:t>入口、Webhook、LIFF、後端、資料庫與知識庫都有清楚責任邊界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E03EDF8-A4D6-4734-BD0A-16263B32F6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790700"/>
            <a:ext cx="1752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B9251C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EF0112A-97D6-4A82-8DA1-3E1703FF96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419850"/>
            <a:ext cx="10934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7D8BC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91243CF-9B1B-4DAD-91AD-52B904EE4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553200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750" b="0">
                <a:solidFill>
                  <a:srgbClr val="8D7A5D"/>
                </a:solidFill>
                <a:latin typeface="Noto Sans TC"/>
                <a:ea typeface="Noto Sans TC"/>
                <a:cs typeface="Noto Sans TC"/>
              </a:defRPr>
            </a:pPr>
            <a:r>
              <a:rPr sz="750" b="0">
                <a:solidFill>
                  <a:srgbClr val="8D7A5D"/>
                </a:solidFill>
                <a:latin typeface="Noto Sans TC"/>
                <a:ea typeface="Noto Sans TC"/>
                <a:cs typeface="Noto Sans TC"/>
              </a:rPr>
              <a:t>Temple AI OS｜2026 LINE AI 創新創業競賽｜公開 Demo 送件版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B758983-51A0-461A-931B-5E919E435B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6553200"/>
            <a:ext cx="3848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750" b="0">
                <a:solidFill>
                  <a:srgbClr val="8D7A5D"/>
                </a:solidFill>
                <a:latin typeface="Noto Sans TC"/>
                <a:ea typeface="Noto Sans TC"/>
                <a:cs typeface="Noto Sans TC"/>
              </a:defRPr>
            </a:pPr>
            <a:r>
              <a:rPr sz="750" b="0">
                <a:solidFill>
                  <a:srgbClr val="8D7A5D"/>
                </a:solidFill>
                <a:latin typeface="Noto Sans TC"/>
                <a:ea typeface="Noto Sans TC"/>
                <a:cs typeface="Noto Sans TC"/>
              </a:rPr>
              <a:t>示範資料採自公開資訊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98EB71A-0C26-43AC-82CE-C741184649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66900"/>
            <a:ext cx="6972300" cy="3924300"/>
          </a:xfrm>
          <a:prstGeom xmlns:a="http://schemas.openxmlformats.org/drawingml/2006/main" prst="roundRect">
            <a:avLst>
              <a:gd name="adj" fmla="val 582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9DDC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pic>
        <p:nvPicPr>
          <p:cNvPr id="3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726e633008f40b2"/>
          <a:stretch xmlns:a="http://schemas.openxmlformats.org/drawingml/2006/main"/>
        </p:blipFill>
        <p:spPr>
          <a:xfrm xmlns:a="http://schemas.openxmlformats.org/drawingml/2006/main">
            <a:off x="895350" y="1962150"/>
            <a:ext cx="6400800" cy="3733800"/>
          </a:xfrm>
          <a:prstGeom xmlns:a="http://schemas.openxmlformats.org/drawingml/2006/main" prst="roundRect">
            <a:avLst>
              <a:gd name="adj" fmla="val 4082"/>
            </a:avLst>
          </a:prstGeom>
        </p:spPr>
      </p:pic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3EA81EC-71CE-4474-B5AA-A86772424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2038350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9941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025" b="1">
                <a:solidFill>
                  <a:srgbClr val="1F2933"/>
                </a:solidFill>
                <a:latin typeface="Noto Sans TC"/>
                <a:ea typeface="Noto Sans TC"/>
                <a:cs typeface="Noto Sans TC"/>
              </a:defRPr>
            </a:pPr>
            <a:r>
              <a:rPr sz="2025" b="1">
                <a:solidFill>
                  <a:srgbClr val="1F2933"/>
                </a:solidFill>
                <a:latin typeface="Noto Sans TC"/>
                <a:ea typeface="Noto Sans TC"/>
                <a:cs typeface="Noto Sans TC"/>
              </a:rPr>
              <a:t>架構重點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BE98A2F-102A-48BC-B6BB-4E883A8C67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2571750"/>
            <a:ext cx="3009900" cy="819150"/>
          </a:xfrm>
          <a:prstGeom xmlns:a="http://schemas.openxmlformats.org/drawingml/2006/main" prst="roundRect">
            <a:avLst>
              <a:gd name="adj" fmla="val 23256"/>
            </a:avLst>
          </a:prstGeom>
          <a:solidFill xmlns:a="http://schemas.openxmlformats.org/drawingml/2006/main">
            <a:srgbClr val="F2FFF8"/>
          </a:solidFill>
          <a:ln xmlns:a="http://schemas.openxmlformats.org/drawingml/2006/main" w="9525">
            <a:solidFill>
              <a:srgbClr val="E9DDC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7AAF0B8-4DA6-40F2-87E7-5537D94634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743200"/>
            <a:ext cx="2590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1">
                <a:solidFill>
                  <a:srgbClr val="06C755"/>
                </a:solidFill>
                <a:latin typeface="Noto Sans TC"/>
                <a:ea typeface="Noto Sans TC"/>
                <a:cs typeface="Noto Sans TC"/>
              </a:defRPr>
            </a:pPr>
            <a:r>
              <a:rPr sz="1425" b="1">
                <a:solidFill>
                  <a:srgbClr val="06C755"/>
                </a:solidFill>
                <a:latin typeface="Noto Sans TC"/>
                <a:ea typeface="Noto Sans TC"/>
                <a:cs typeface="Noto Sans TC"/>
              </a:rPr>
              <a:t>LINE 入口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F0B624C-5011-427D-8A48-8316D696B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3124200"/>
            <a:ext cx="2590800" cy="95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43403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200" b="0">
                <a:solidFill>
                  <a:srgbClr val="5C6670"/>
                </a:solidFill>
                <a:latin typeface="Noto Sans TC"/>
                <a:ea typeface="Noto Sans TC"/>
                <a:cs typeface="Noto Sans TC"/>
              </a:defRPr>
            </a:pPr>
            <a:r>
              <a:rPr sz="1200" b="0">
                <a:solidFill>
                  <a:srgbClr val="5C6670"/>
                </a:solidFill>
                <a:latin typeface="Noto Sans TC"/>
                <a:ea typeface="Noto Sans TC"/>
                <a:cs typeface="Noto Sans TC"/>
              </a:rPr>
              <a:t>Rich Menu 與 Messaging API 接住高頻服務需求。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1D0788F-7011-4C06-A9B6-EBCE4DA8B7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3562350"/>
            <a:ext cx="3009900" cy="819150"/>
          </a:xfrm>
          <a:prstGeom xmlns:a="http://schemas.openxmlformats.org/drawingml/2006/main" prst="roundRect">
            <a:avLst>
              <a:gd name="adj" fmla="val 23256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E9DDC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BD2E8CF-E715-4059-8998-BA4D98161A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3733800"/>
            <a:ext cx="2590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1">
                <a:solidFill>
                  <a:srgbClr val="B9251C"/>
                </a:solidFill>
                <a:latin typeface="Noto Sans TC"/>
                <a:ea typeface="Noto Sans TC"/>
                <a:cs typeface="Noto Sans TC"/>
              </a:defRPr>
            </a:pPr>
            <a:r>
              <a:rPr sz="1425" b="1">
                <a:solidFill>
                  <a:srgbClr val="B9251C"/>
                </a:solidFill>
                <a:latin typeface="Noto Sans TC"/>
                <a:ea typeface="Noto Sans TC"/>
                <a:cs typeface="Noto Sans TC"/>
              </a:rPr>
              <a:t>後端任務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9973687-577B-41A1-99E5-0069ACAF5C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4114800"/>
            <a:ext cx="2590800" cy="95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43403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200" b="0">
                <a:solidFill>
                  <a:srgbClr val="5C6670"/>
                </a:solidFill>
                <a:latin typeface="Noto Sans TC"/>
                <a:ea typeface="Noto Sans TC"/>
                <a:cs typeface="Noto Sans TC"/>
              </a:defRPr>
            </a:pPr>
            <a:r>
              <a:rPr sz="1200" b="0">
                <a:solidFill>
                  <a:srgbClr val="5C6670"/>
                </a:solidFill>
                <a:latin typeface="Noto Sans TC"/>
                <a:ea typeface="Noto Sans TC"/>
                <a:cs typeface="Noto Sans TC"/>
              </a:rPr>
              <a:t>FastAPI 負責驗證、資料處理、RAG 與通知流程。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70142D6-D96A-4601-93D1-0651078BBB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4552950"/>
            <a:ext cx="3009900" cy="971550"/>
          </a:xfrm>
          <a:prstGeom xmlns:a="http://schemas.openxmlformats.org/drawingml/2006/main" prst="roundRect">
            <a:avLst>
              <a:gd name="adj" fmla="val 19608"/>
            </a:avLst>
          </a:prstGeom>
          <a:solidFill xmlns:a="http://schemas.openxmlformats.org/drawingml/2006/main">
            <a:srgbClr val="FFF8E7"/>
          </a:solidFill>
          <a:ln xmlns:a="http://schemas.openxmlformats.org/drawingml/2006/main" w="9525">
            <a:solidFill>
              <a:srgbClr val="E9DDC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3C6FA89-4270-47B9-A4AE-132A497F3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4724400"/>
            <a:ext cx="2590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1">
                <a:solidFill>
                  <a:srgbClr val="C79A35"/>
                </a:solidFill>
                <a:latin typeface="Noto Sans TC"/>
                <a:ea typeface="Noto Sans TC"/>
                <a:cs typeface="Noto Sans TC"/>
              </a:defRPr>
            </a:pPr>
            <a:r>
              <a:rPr sz="1425" b="1">
                <a:solidFill>
                  <a:srgbClr val="C79A35"/>
                </a:solidFill>
                <a:latin typeface="Noto Sans TC"/>
                <a:ea typeface="Noto Sans TC"/>
                <a:cs typeface="Noto Sans TC"/>
              </a:rPr>
              <a:t>資料治理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6099886-3430-4037-ADF4-624B934CE4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5105400"/>
            <a:ext cx="25908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57766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200" b="0">
                <a:solidFill>
                  <a:srgbClr val="5C6670"/>
                </a:solidFill>
                <a:latin typeface="Noto Sans TC"/>
                <a:ea typeface="Noto Sans TC"/>
                <a:cs typeface="Noto Sans TC"/>
              </a:defRPr>
            </a:pPr>
            <a:r>
              <a:rPr sz="1200" b="0">
                <a:solidFill>
                  <a:srgbClr val="5C6670"/>
                </a:solidFill>
                <a:latin typeface="Noto Sans TC"/>
                <a:ea typeface="Noto Sans TC"/>
                <a:cs typeface="Noto Sans TC"/>
              </a:rPr>
              <a:t>PostgreSQL 保存使用者、活動與營運資料，知識庫支援文化問答。</a:t>
            </a:r>
          </a:p>
        </p:txBody>
      </p:sp>
    </p:spTree>
    <p:extLst>
      <p:ext uri="{BB962C8B-B14F-4D97-AF65-F5344CB8AC3E}">
        <p14:creationId xmlns:p14="http://schemas.microsoft.com/office/powerpoint/2010/main" val="820317018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BF7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6897F48-B33F-47AD-98EA-73C6A1691B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2385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1">
                <a:solidFill>
                  <a:srgbClr val="B9251C"/>
                </a:solidFill>
                <a:latin typeface="Noto Sans TC"/>
                <a:ea typeface="Noto Sans TC"/>
                <a:cs typeface="Noto Sans TC"/>
              </a:defRPr>
            </a:pPr>
            <a:r>
              <a:rPr sz="1125" b="1">
                <a:solidFill>
                  <a:srgbClr val="B9251C"/>
                </a:solidFill>
                <a:latin typeface="Noto Sans TC"/>
                <a:ea typeface="Noto Sans TC"/>
                <a:cs typeface="Noto Sans TC"/>
              </a:rPr>
              <a:t>P.09 / 10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7603380-D9CD-4825-8B4D-5804409BCE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3238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1">
                <a:solidFill>
                  <a:srgbClr val="5C6670"/>
                </a:solidFill>
                <a:latin typeface="Noto Sans TC"/>
                <a:ea typeface="Noto Sans TC"/>
                <a:cs typeface="Noto Sans TC"/>
              </a:defRPr>
            </a:pPr>
            <a:r>
              <a:rPr sz="1125" b="1">
                <a:solidFill>
                  <a:srgbClr val="5C6670"/>
                </a:solidFill>
                <a:latin typeface="Noto Sans TC"/>
                <a:ea typeface="Noto Sans TC"/>
                <a:cs typeface="Noto Sans TC"/>
              </a:rPr>
              <a:t>商業模式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48B62AF-6CFE-4E39-8EC1-4DE599D26F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742950"/>
            <a:ext cx="7810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550" b="1">
                <a:solidFill>
                  <a:srgbClr val="1F2933"/>
                </a:solidFill>
                <a:latin typeface="Noto Sans TC"/>
                <a:ea typeface="Noto Sans TC"/>
                <a:cs typeface="Noto Sans TC"/>
              </a:defRPr>
            </a:pPr>
            <a:r>
              <a:rPr sz="2550" b="1">
                <a:solidFill>
                  <a:srgbClr val="1F2933"/>
                </a:solidFill>
                <a:latin typeface="Noto Sans TC"/>
                <a:ea typeface="Noto Sans TC"/>
                <a:cs typeface="Noto Sans TC"/>
              </a:rPr>
              <a:t>商業模式與驗證成果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D7B1C22-4D8A-440B-8D0F-DE10DCE2C6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276350"/>
            <a:ext cx="7429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275" b="0">
                <a:solidFill>
                  <a:srgbClr val="5C6670"/>
                </a:solidFill>
                <a:latin typeface="Noto Sans TC"/>
                <a:ea typeface="Noto Sans TC"/>
                <a:cs typeface="Noto Sans TC"/>
              </a:defRPr>
            </a:pPr>
            <a:r>
              <a:rPr sz="1275" b="0">
                <a:solidFill>
                  <a:srgbClr val="5C6670"/>
                </a:solidFill>
                <a:latin typeface="Noto Sans TC"/>
                <a:ea typeface="Noto Sans TC"/>
                <a:cs typeface="Noto Sans TC"/>
              </a:rPr>
              <a:t>以 SaaS 訂閱為基礎，活動模組、客製導入與文創內容提高長期收入彈性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CB3F961-08FB-4876-B138-71E7288429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790700"/>
            <a:ext cx="1752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B9251C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448C383-C5F5-4370-886E-3C16D29CF6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419850"/>
            <a:ext cx="10934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7D8BC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61DBA73-8C14-46C9-A38A-1E79C7D1B6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553200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750" b="0">
                <a:solidFill>
                  <a:srgbClr val="8D7A5D"/>
                </a:solidFill>
                <a:latin typeface="Noto Sans TC"/>
                <a:ea typeface="Noto Sans TC"/>
                <a:cs typeface="Noto Sans TC"/>
              </a:defRPr>
            </a:pPr>
            <a:r>
              <a:rPr sz="750" b="0">
                <a:solidFill>
                  <a:srgbClr val="8D7A5D"/>
                </a:solidFill>
                <a:latin typeface="Noto Sans TC"/>
                <a:ea typeface="Noto Sans TC"/>
                <a:cs typeface="Noto Sans TC"/>
              </a:rPr>
              <a:t>Temple AI OS｜2026 LINE AI 創新創業競賽｜公開 Demo 送件版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D4A0FA6-5CF6-4FD8-873C-CDBFB0FBCC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6553200"/>
            <a:ext cx="3848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750" b="0">
                <a:solidFill>
                  <a:srgbClr val="8D7A5D"/>
                </a:solidFill>
                <a:latin typeface="Noto Sans TC"/>
                <a:ea typeface="Noto Sans TC"/>
                <a:cs typeface="Noto Sans TC"/>
              </a:defRPr>
            </a:pPr>
            <a:r>
              <a:rPr sz="750" b="0">
                <a:solidFill>
                  <a:srgbClr val="8D7A5D"/>
                </a:solidFill>
                <a:latin typeface="Noto Sans TC"/>
                <a:ea typeface="Noto Sans TC"/>
                <a:cs typeface="Noto Sans TC"/>
              </a:rPr>
              <a:t>示範資料採自公開資訊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3F2B3DC-4351-48F4-8DEF-C1385F3BA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171700"/>
            <a:ext cx="2476500" cy="142875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9DDC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906FE03-FED3-4D93-B950-6FE2E9B712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343150"/>
            <a:ext cx="2057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1">
                <a:solidFill>
                  <a:srgbClr val="B9251C"/>
                </a:solidFill>
                <a:latin typeface="Noto Sans TC"/>
                <a:ea typeface="Noto Sans TC"/>
                <a:cs typeface="Noto Sans TC"/>
              </a:defRPr>
            </a:pPr>
            <a:r>
              <a:rPr sz="1425" b="1">
                <a:solidFill>
                  <a:srgbClr val="B9251C"/>
                </a:solidFill>
                <a:latin typeface="Noto Sans TC"/>
                <a:ea typeface="Noto Sans TC"/>
                <a:cs typeface="Noto Sans TC"/>
              </a:rPr>
              <a:t>基礎訂閱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9A17BBF-0CA7-4F13-840E-D0FE2255B5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724150"/>
            <a:ext cx="2057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200" b="0">
                <a:solidFill>
                  <a:srgbClr val="5C6670"/>
                </a:solidFill>
                <a:latin typeface="Noto Sans TC"/>
                <a:ea typeface="Noto Sans TC"/>
                <a:cs typeface="Noto Sans TC"/>
              </a:defRPr>
            </a:pPr>
            <a:r>
              <a:rPr sz="1200" b="0">
                <a:solidFill>
                  <a:srgbClr val="5C6670"/>
                </a:solidFill>
                <a:latin typeface="Noto Sans TC"/>
                <a:ea typeface="Noto Sans TC"/>
                <a:cs typeface="Noto Sans TC"/>
              </a:rPr>
              <a:t>中小型宮廟使用標準化 LINE 入口、AI 問答、活動報名與後台管理。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E1F8EA7-B861-4928-AB80-87D0F0E179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2171700"/>
            <a:ext cx="2476500" cy="142875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FFF8E7"/>
          </a:solidFill>
          <a:ln xmlns:a="http://schemas.openxmlformats.org/drawingml/2006/main" w="9525">
            <a:solidFill>
              <a:srgbClr val="E9DDC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C3C03BF-A874-408C-9AB2-58322718EA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2343150"/>
            <a:ext cx="2057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1">
                <a:solidFill>
                  <a:srgbClr val="C79A35"/>
                </a:solidFill>
                <a:latin typeface="Noto Sans TC"/>
                <a:ea typeface="Noto Sans TC"/>
                <a:cs typeface="Noto Sans TC"/>
              </a:defRPr>
            </a:pPr>
            <a:r>
              <a:rPr sz="1425" b="1">
                <a:solidFill>
                  <a:srgbClr val="C79A35"/>
                </a:solidFill>
                <a:latin typeface="Noto Sans TC"/>
                <a:ea typeface="Noto Sans TC"/>
                <a:cs typeface="Noto Sans TC"/>
              </a:rPr>
              <a:t>客製導入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79F56F4-268F-4AEF-BF0B-A922B5BB85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2724150"/>
            <a:ext cx="2057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200" b="0">
                <a:solidFill>
                  <a:srgbClr val="5C6670"/>
                </a:solidFill>
                <a:latin typeface="Noto Sans TC"/>
                <a:ea typeface="Noto Sans TC"/>
                <a:cs typeface="Noto Sans TC"/>
              </a:defRPr>
            </a:pPr>
            <a:r>
              <a:rPr sz="1200" b="0">
                <a:solidFill>
                  <a:srgbClr val="5C6670"/>
                </a:solidFill>
                <a:latin typeface="Noto Sans TC"/>
                <a:ea typeface="Noto Sans TC"/>
                <a:cs typeface="Noto Sans TC"/>
              </a:rPr>
              <a:t>百年宮廟可擴充專屬文史、科儀流程、導覽內容與後台欄位。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3BED8E7-7397-4B44-B3E8-BF1486B37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886200"/>
            <a:ext cx="2476500" cy="142875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9DDC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9D938AC-E81F-4A54-87F5-393B6C3AED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057650"/>
            <a:ext cx="2057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1">
                <a:solidFill>
                  <a:srgbClr val="244765"/>
                </a:solidFill>
                <a:latin typeface="Noto Sans TC"/>
                <a:ea typeface="Noto Sans TC"/>
                <a:cs typeface="Noto Sans TC"/>
              </a:defRPr>
            </a:pPr>
            <a:r>
              <a:rPr sz="1425" b="1">
                <a:solidFill>
                  <a:srgbClr val="244765"/>
                </a:solidFill>
                <a:latin typeface="Noto Sans TC"/>
                <a:ea typeface="Noto Sans TC"/>
                <a:cs typeface="Noto Sans TC"/>
              </a:rPr>
              <a:t>慶典模組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BC5C7B6-7B35-46BC-B442-C4203BE78D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438650"/>
            <a:ext cx="2057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200" b="0">
                <a:solidFill>
                  <a:srgbClr val="5C6670"/>
                </a:solidFill>
                <a:latin typeface="Noto Sans TC"/>
                <a:ea typeface="Noto Sans TC"/>
                <a:cs typeface="Noto Sans TC"/>
              </a:defRPr>
            </a:pPr>
            <a:r>
              <a:rPr sz="1200" b="0">
                <a:solidFill>
                  <a:srgbClr val="5C6670"/>
                </a:solidFill>
                <a:latin typeface="Noto Sans TC"/>
                <a:ea typeface="Noto Sans TC"/>
                <a:cs typeface="Noto Sans TC"/>
              </a:rPr>
              <a:t>媽祖誕辰、普度與建醮等高峰活動可啟用報名、通知與排隊能力。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1A0A3D7-AD7C-4D7C-98A3-B3CA02D545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3886200"/>
            <a:ext cx="2476500" cy="142875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F2FFF8"/>
          </a:solidFill>
          <a:ln xmlns:a="http://schemas.openxmlformats.org/drawingml/2006/main" w="9525">
            <a:solidFill>
              <a:srgbClr val="E9DDC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3B8ED93-85B7-400C-9D06-46E832DE81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4057650"/>
            <a:ext cx="2057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1">
                <a:solidFill>
                  <a:srgbClr val="16815F"/>
                </a:solidFill>
                <a:latin typeface="Noto Sans TC"/>
                <a:ea typeface="Noto Sans TC"/>
                <a:cs typeface="Noto Sans TC"/>
              </a:defRPr>
            </a:pPr>
            <a:r>
              <a:rPr sz="1425" b="1">
                <a:solidFill>
                  <a:srgbClr val="16815F"/>
                </a:solidFill>
                <a:latin typeface="Noto Sans TC"/>
                <a:ea typeface="Noto Sans TC"/>
                <a:cs typeface="Noto Sans TC"/>
              </a:rPr>
              <a:t>文創延伸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9A1DFFA-0E3F-40DE-A8FD-E2466C1395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4438650"/>
            <a:ext cx="2057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200" b="0">
                <a:solidFill>
                  <a:srgbClr val="5C6670"/>
                </a:solidFill>
                <a:latin typeface="Noto Sans TC"/>
                <a:ea typeface="Noto Sans TC"/>
                <a:cs typeface="Noto Sans TC"/>
              </a:defRPr>
            </a:pPr>
            <a:r>
              <a:rPr sz="1200" b="0">
                <a:solidFill>
                  <a:srgbClr val="5C6670"/>
                </a:solidFill>
                <a:latin typeface="Noto Sans TC"/>
                <a:ea typeface="Noto Sans TC"/>
                <a:cs typeface="Noto Sans TC"/>
              </a:rPr>
              <a:t>春福小使貼圖與商圈導流，讓文化互動延伸到日常社群。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B2F42A5-889E-43F8-9337-1B3348078B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171700"/>
            <a:ext cx="4133850" cy="2457450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9DDC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pic>
        <p:nvPicPr>
          <p:cNvPr id="5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2889bbeaa624960"/>
          <a:stretch xmlns:a="http://schemas.openxmlformats.org/drawingml/2006/main"/>
        </p:blipFill>
        <p:spPr>
          <a:xfrm xmlns:a="http://schemas.openxmlformats.org/drawingml/2006/main">
            <a:off x="7236619" y="2266950"/>
            <a:ext cx="2995613" cy="2266950"/>
          </a:xfrm>
          <a:prstGeom xmlns:a="http://schemas.openxmlformats.org/drawingml/2006/main" prst="roundRect">
            <a:avLst>
              <a:gd name="adj" fmla="val 6723"/>
            </a:avLst>
          </a:prstGeom>
        </p:spPr>
      </p:pic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07F7432-0CCF-4B3D-BF25-E571795AC2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4838700"/>
            <a:ext cx="4038600" cy="762000"/>
          </a:xfrm>
          <a:prstGeom xmlns:a="http://schemas.openxmlformats.org/drawingml/2006/main" prst="roundRect">
            <a:avLst>
              <a:gd name="adj" fmla="val 225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9DDC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E1E3AFA-BB9F-40CE-963C-5EA9D64B02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4914900"/>
            <a:ext cx="1809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361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925" b="1">
                <a:solidFill>
                  <a:srgbClr val="06C755"/>
                </a:solidFill>
                <a:latin typeface="Noto Sans TC"/>
                <a:ea typeface="Noto Sans TC"/>
                <a:cs typeface="Noto Sans TC"/>
              </a:defRPr>
            </a:pPr>
            <a:r>
              <a:rPr sz="2925" b="1">
                <a:solidFill>
                  <a:srgbClr val="06C755"/>
                </a:solidFill>
                <a:latin typeface="Noto Sans TC"/>
                <a:ea typeface="Noto Sans TC"/>
                <a:cs typeface="Noto Sans TC"/>
              </a:rPr>
              <a:t>69 / 69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052AFF2-6067-4345-9F2F-55EA119D7A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5467350"/>
            <a:ext cx="13525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6C755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678532A-46BF-401B-949A-009444CCA4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5600700"/>
            <a:ext cx="1809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200" b="1">
                <a:solidFill>
                  <a:srgbClr val="1F2933"/>
                </a:solidFill>
                <a:latin typeface="Noto Sans TC"/>
                <a:ea typeface="Noto Sans TC"/>
                <a:cs typeface="Noto Sans TC"/>
              </a:defRPr>
            </a:pPr>
            <a:r>
              <a:rPr sz="1200" b="1">
                <a:solidFill>
                  <a:srgbClr val="1F2933"/>
                </a:solidFill>
                <a:latin typeface="Noto Sans TC"/>
                <a:ea typeface="Noto Sans TC"/>
                <a:cs typeface="Noto Sans TC"/>
              </a:rPr>
              <a:t>後端測試通過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99DF26A-D948-423D-80F2-9807F6F1F0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4914900"/>
            <a:ext cx="2000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361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925" b="1">
                <a:solidFill>
                  <a:srgbClr val="B9251C"/>
                </a:solidFill>
                <a:latin typeface="Noto Sans TC"/>
                <a:ea typeface="Noto Sans TC"/>
                <a:cs typeface="Noto Sans TC"/>
              </a:defRPr>
            </a:pPr>
            <a:r>
              <a:rPr sz="2925" b="1">
                <a:solidFill>
                  <a:srgbClr val="B9251C"/>
                </a:solidFill>
                <a:latin typeface="Noto Sans TC"/>
                <a:ea typeface="Noto Sans TC"/>
                <a:cs typeface="Noto Sans TC"/>
              </a:rPr>
              <a:t>20 / 20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7624D86-CD24-4F1B-83F1-B40B3B3746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5467350"/>
            <a:ext cx="15430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B9251C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64BC738-F655-4426-AF36-F1D4A56D36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5600700"/>
            <a:ext cx="2000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200" b="1">
                <a:solidFill>
                  <a:srgbClr val="1F2933"/>
                </a:solidFill>
                <a:latin typeface="Noto Sans TC"/>
                <a:ea typeface="Noto Sans TC"/>
                <a:cs typeface="Noto Sans TC"/>
              </a:defRPr>
            </a:pPr>
            <a:r>
              <a:rPr sz="1200" b="1">
                <a:solidFill>
                  <a:srgbClr val="1F2933"/>
                </a:solidFill>
                <a:latin typeface="Noto Sans TC"/>
                <a:ea typeface="Noto Sans TC"/>
                <a:cs typeface="Noto Sans TC"/>
              </a:rPr>
              <a:t>公開服務檢查通過</a:t>
            </a:r>
          </a:p>
        </p:txBody>
      </p:sp>
    </p:spTree>
    <p:extLst>
      <p:ext uri="{BB962C8B-B14F-4D97-AF65-F5344CB8AC3E}">
        <p14:creationId xmlns:p14="http://schemas.microsoft.com/office/powerpoint/2010/main" val="1349894635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D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0CBB7EF-8A7C-492F-9944-17812058F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2385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1">
                <a:solidFill>
                  <a:srgbClr val="B9251C"/>
                </a:solidFill>
                <a:latin typeface="Noto Sans TC"/>
                <a:ea typeface="Noto Sans TC"/>
                <a:cs typeface="Noto Sans TC"/>
              </a:defRPr>
            </a:pPr>
            <a:r>
              <a:rPr sz="1125" b="1">
                <a:solidFill>
                  <a:srgbClr val="B9251C"/>
                </a:solidFill>
                <a:latin typeface="Noto Sans TC"/>
                <a:ea typeface="Noto Sans TC"/>
                <a:cs typeface="Noto Sans TC"/>
              </a:rPr>
              <a:t>P.10 / 10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1D21C1F-33F8-403A-9720-424C34F0DC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3238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1">
                <a:solidFill>
                  <a:srgbClr val="5C6670"/>
                </a:solidFill>
                <a:latin typeface="Noto Sans TC"/>
                <a:ea typeface="Noto Sans TC"/>
                <a:cs typeface="Noto Sans TC"/>
              </a:defRPr>
            </a:pPr>
            <a:r>
              <a:rPr sz="1125" b="1">
                <a:solidFill>
                  <a:srgbClr val="5C6670"/>
                </a:solidFill>
                <a:latin typeface="Noto Sans TC"/>
                <a:ea typeface="Noto Sans TC"/>
                <a:cs typeface="Noto Sans TC"/>
              </a:rPr>
              <a:t>發展藍圖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699DE95-0463-4327-B8DB-B1BA02E2EA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742950"/>
            <a:ext cx="7810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550" b="1">
                <a:solidFill>
                  <a:srgbClr val="1F2933"/>
                </a:solidFill>
                <a:latin typeface="Noto Sans TC"/>
                <a:ea typeface="Noto Sans TC"/>
                <a:cs typeface="Noto Sans TC"/>
              </a:defRPr>
            </a:pPr>
            <a:r>
              <a:rPr sz="2550" b="1">
                <a:solidFill>
                  <a:srgbClr val="1F2933"/>
                </a:solidFill>
                <a:latin typeface="Noto Sans TC"/>
                <a:ea typeface="Noto Sans TC"/>
                <a:cs typeface="Noto Sans TC"/>
              </a:rPr>
              <a:t>從公開 Demo 到可導入產品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7DA5149-703D-4F3B-A8D3-6A7045B0B8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276350"/>
            <a:ext cx="7429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275" b="0">
                <a:solidFill>
                  <a:srgbClr val="5C6670"/>
                </a:solidFill>
                <a:latin typeface="Noto Sans TC"/>
                <a:ea typeface="Noto Sans TC"/>
                <a:cs typeface="Noto Sans TC"/>
              </a:defRPr>
            </a:pPr>
            <a:r>
              <a:rPr sz="1275" b="0">
                <a:solidFill>
                  <a:srgbClr val="5C6670"/>
                </a:solidFill>
                <a:latin typeface="Noto Sans TC"/>
                <a:ea typeface="Noto Sans TC"/>
                <a:cs typeface="Noto Sans TC"/>
              </a:rPr>
              <a:t>目前先交付可體驗 Demo，後續補齊現場硬體互動、正式場域授權與跨廟模板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4C9C79F-5997-41A2-A3E5-BB39493E46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790700"/>
            <a:ext cx="1752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B9251C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51484B6-A8C0-4653-AEC5-30A7F80872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419850"/>
            <a:ext cx="10934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7D8BC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33DD90D-4CD7-4018-9D8B-E874792F44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553200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750" b="0">
                <a:solidFill>
                  <a:srgbClr val="8D7A5D"/>
                </a:solidFill>
                <a:latin typeface="Noto Sans TC"/>
                <a:ea typeface="Noto Sans TC"/>
                <a:cs typeface="Noto Sans TC"/>
              </a:defRPr>
            </a:pPr>
            <a:r>
              <a:rPr sz="750" b="0">
                <a:solidFill>
                  <a:srgbClr val="8D7A5D"/>
                </a:solidFill>
                <a:latin typeface="Noto Sans TC"/>
                <a:ea typeface="Noto Sans TC"/>
                <a:cs typeface="Noto Sans TC"/>
              </a:rPr>
              <a:t>Temple AI OS｜2026 LINE AI 創新創業競賽｜公開 Demo 送件版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DCB0824-191E-4CD0-A758-92662482CA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6553200"/>
            <a:ext cx="3848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750" b="0">
                <a:solidFill>
                  <a:srgbClr val="8D7A5D"/>
                </a:solidFill>
                <a:latin typeface="Noto Sans TC"/>
                <a:ea typeface="Noto Sans TC"/>
                <a:cs typeface="Noto Sans TC"/>
              </a:defRPr>
            </a:pPr>
            <a:r>
              <a:rPr sz="750" b="0">
                <a:solidFill>
                  <a:srgbClr val="8D7A5D"/>
                </a:solidFill>
                <a:latin typeface="Noto Sans TC"/>
                <a:ea typeface="Noto Sans TC"/>
                <a:cs typeface="Noto Sans TC"/>
              </a:rPr>
              <a:t>示範資料採自公開資訊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3597833-BCC6-40E7-B8EB-D70A41B9B2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866900"/>
            <a:ext cx="7296150" cy="3943350"/>
          </a:xfrm>
          <a:prstGeom xmlns:a="http://schemas.openxmlformats.org/drawingml/2006/main" prst="roundRect">
            <a:avLst>
              <a:gd name="adj" fmla="val 57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9DDC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pic>
        <p:nvPicPr>
          <p:cNvPr id="3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b63872e21d14ef8"/>
          <a:stretch xmlns:a="http://schemas.openxmlformats.org/drawingml/2006/main"/>
        </p:blipFill>
        <p:spPr>
          <a:xfrm xmlns:a="http://schemas.openxmlformats.org/drawingml/2006/main">
            <a:off x="751417" y="1962150"/>
            <a:ext cx="7088717" cy="3752850"/>
          </a:xfrm>
          <a:prstGeom xmlns:a="http://schemas.openxmlformats.org/drawingml/2006/main" prst="roundRect">
            <a:avLst>
              <a:gd name="adj" fmla="val 4061"/>
            </a:avLst>
          </a:prstGeom>
        </p:spPr>
      </p:pic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A8BE549-2880-4C97-A1D7-DAAEEA8E56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076450"/>
            <a:ext cx="4953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550" b="1">
                <a:solidFill>
                  <a:srgbClr val="06C755"/>
                </a:solidFill>
                <a:latin typeface="Noto Sans TC"/>
                <a:ea typeface="Noto Sans TC"/>
                <a:cs typeface="Noto Sans TC"/>
              </a:defRPr>
            </a:pPr>
            <a:r>
              <a:rPr sz="2550" b="1">
                <a:solidFill>
                  <a:srgbClr val="06C755"/>
                </a:solidFill>
                <a:latin typeface="Noto Sans TC"/>
                <a:ea typeface="Noto Sans TC"/>
                <a:cs typeface="Noto Sans TC"/>
              </a:rPr>
              <a:t>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81303E2-A4A4-401B-AE9D-ADF9E082CE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2095500"/>
            <a:ext cx="2438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1">
                <a:solidFill>
                  <a:srgbClr val="1F2933"/>
                </a:solidFill>
                <a:latin typeface="Noto Sans TC"/>
                <a:ea typeface="Noto Sans TC"/>
                <a:cs typeface="Noto Sans TC"/>
              </a:defRPr>
            </a:pPr>
            <a:r>
              <a:rPr sz="1425" b="1">
                <a:solidFill>
                  <a:srgbClr val="1F2933"/>
                </a:solidFill>
                <a:latin typeface="Noto Sans TC"/>
                <a:ea typeface="Noto Sans TC"/>
                <a:cs typeface="Noto Sans TC"/>
              </a:rPr>
              <a:t>送件階段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C24B571-DF3D-416C-BD75-01B491EEF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2400300"/>
            <a:ext cx="2438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125" b="0">
                <a:solidFill>
                  <a:srgbClr val="5C6670"/>
                </a:solidFill>
                <a:latin typeface="Noto Sans TC"/>
                <a:ea typeface="Noto Sans TC"/>
                <a:cs typeface="Noto Sans TC"/>
              </a:defRPr>
            </a:pPr>
            <a:r>
              <a:rPr sz="1125" b="0">
                <a:solidFill>
                  <a:srgbClr val="5C6670"/>
                </a:solidFill>
                <a:latin typeface="Noto Sans TC"/>
                <a:ea typeface="Noto Sans TC"/>
                <a:cs typeface="Noto Sans TC"/>
              </a:rPr>
              <a:t>Demo、簡報、影片與測試紀錄完成，評審可先體驗公開服務。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2B517C6-91B9-430A-8C7E-CA8DDDBC38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3105150"/>
            <a:ext cx="4953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550" b="1">
                <a:solidFill>
                  <a:srgbClr val="B9251C"/>
                </a:solidFill>
                <a:latin typeface="Noto Sans TC"/>
                <a:ea typeface="Noto Sans TC"/>
                <a:cs typeface="Noto Sans TC"/>
              </a:defRPr>
            </a:pPr>
            <a:r>
              <a:rPr sz="2550" b="1">
                <a:solidFill>
                  <a:srgbClr val="B9251C"/>
                </a:solidFill>
                <a:latin typeface="Noto Sans TC"/>
                <a:ea typeface="Noto Sans TC"/>
                <a:cs typeface="Noto Sans TC"/>
              </a:rPr>
              <a:t>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2BA33E5-A274-450D-BB32-866097654A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3124200"/>
            <a:ext cx="2438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1">
                <a:solidFill>
                  <a:srgbClr val="1F2933"/>
                </a:solidFill>
                <a:latin typeface="Noto Sans TC"/>
                <a:ea typeface="Noto Sans TC"/>
                <a:cs typeface="Noto Sans TC"/>
              </a:defRPr>
            </a:pPr>
            <a:r>
              <a:rPr sz="1425" b="1">
                <a:solidFill>
                  <a:srgbClr val="1F2933"/>
                </a:solidFill>
                <a:latin typeface="Noto Sans TC"/>
                <a:ea typeface="Noto Sans TC"/>
                <a:cs typeface="Noto Sans TC"/>
              </a:rPr>
              <a:t>入選三個月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87F5985-738C-4F52-BBC0-BBDF693E35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3429000"/>
            <a:ext cx="2438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86207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125" b="0">
                <a:solidFill>
                  <a:srgbClr val="5C6670"/>
                </a:solidFill>
                <a:latin typeface="Noto Sans TC"/>
                <a:ea typeface="Noto Sans TC"/>
                <a:cs typeface="Noto Sans TC"/>
              </a:defRPr>
            </a:pPr>
            <a:r>
              <a:rPr sz="1125" b="0">
                <a:solidFill>
                  <a:srgbClr val="5C6670"/>
                </a:solidFill>
                <a:latin typeface="Noto Sans TC"/>
                <a:ea typeface="Noto Sans TC"/>
                <a:cs typeface="Noto Sans TC"/>
              </a:rPr>
              <a:t>補齊現場 QR、NFC 或 Beacon 互動，取得場域授權後再對外宣稱合作導入。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3008937-7154-4B6D-85A9-A41EC15947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4400550"/>
            <a:ext cx="4953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550" b="1">
                <a:solidFill>
                  <a:srgbClr val="C79A35"/>
                </a:solidFill>
                <a:latin typeface="Noto Sans TC"/>
                <a:ea typeface="Noto Sans TC"/>
                <a:cs typeface="Noto Sans TC"/>
              </a:defRPr>
            </a:pPr>
            <a:r>
              <a:rPr sz="2550" b="1">
                <a:solidFill>
                  <a:srgbClr val="C79A35"/>
                </a:solidFill>
                <a:latin typeface="Noto Sans TC"/>
                <a:ea typeface="Noto Sans TC"/>
                <a:cs typeface="Noto Sans TC"/>
              </a:rPr>
              <a:t>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CB50B7E-F65C-4D30-ABEB-664D700691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4419600"/>
            <a:ext cx="2438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1">
                <a:solidFill>
                  <a:srgbClr val="1F2933"/>
                </a:solidFill>
                <a:latin typeface="Noto Sans TC"/>
                <a:ea typeface="Noto Sans TC"/>
                <a:cs typeface="Noto Sans TC"/>
              </a:defRPr>
            </a:pPr>
            <a:r>
              <a:rPr sz="1425" b="1">
                <a:solidFill>
                  <a:srgbClr val="1F2933"/>
                </a:solidFill>
                <a:latin typeface="Noto Sans TC"/>
                <a:ea typeface="Noto Sans TC"/>
                <a:cs typeface="Noto Sans TC"/>
              </a:rPr>
              <a:t>一年藍圖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6C58884-1F33-496C-85C3-6D30CE8140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4724400"/>
            <a:ext cx="2438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125" b="0">
                <a:solidFill>
                  <a:srgbClr val="5C6670"/>
                </a:solidFill>
                <a:latin typeface="Noto Sans TC"/>
                <a:ea typeface="Noto Sans TC"/>
                <a:cs typeface="Noto Sans TC"/>
              </a:defRPr>
            </a:pPr>
            <a:r>
              <a:rPr sz="1125" b="0">
                <a:solidFill>
                  <a:srgbClr val="5C6670"/>
                </a:solidFill>
                <a:latin typeface="Noto Sans TC"/>
                <a:ea typeface="Noto Sans TC"/>
                <a:cs typeface="Noto Sans TC"/>
              </a:rPr>
              <a:t>將活動、知識庫、Rich Menu 與後台設定包裝成可複製模板。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37A8CFB-3144-4438-9768-2282B65E30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5524500"/>
            <a:ext cx="3105150" cy="4572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FFF8E7"/>
          </a:solidFill>
          <a:ln xmlns:a="http://schemas.openxmlformats.org/drawingml/2006/main" w="9525">
            <a:solidFill>
              <a:srgbClr val="D9C8A7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6511805-3CD5-4237-A613-12A384D0A6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5648325"/>
            <a:ext cx="2762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7422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00" b="1">
                <a:solidFill>
                  <a:srgbClr val="7F1D1D"/>
                </a:solidFill>
                <a:latin typeface="Noto Sans TC"/>
                <a:ea typeface="Noto Sans TC"/>
                <a:cs typeface="Noto Sans TC"/>
              </a:defRPr>
            </a:pPr>
            <a:r>
              <a:rPr sz="1200" b="1">
                <a:solidFill>
                  <a:srgbClr val="7F1D1D"/>
                </a:solidFill>
                <a:latin typeface="Noto Sans TC"/>
                <a:ea typeface="Noto Sans TC"/>
                <a:cs typeface="Noto Sans TC"/>
              </a:rPr>
              <a:t>送件前仍需補 YouTube 連結與簽署文件。</a:t>
            </a:r>
          </a:p>
        </p:txBody>
      </p:sp>
    </p:spTree>
    <p:extLst>
      <p:ext uri="{BB962C8B-B14F-4D97-AF65-F5344CB8AC3E}">
        <p14:creationId xmlns:p14="http://schemas.microsoft.com/office/powerpoint/2010/main" val="1232530771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BF7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FD2EC8B-D59D-4F7C-8F7E-0A1534742C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F1D1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A03182D-C7D6-4DEE-BF34-A90E387915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0"/>
            <a:ext cx="60007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7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8DA1F67-B42A-4EAA-9DAA-6D403A1477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361950"/>
            <a:ext cx="2667000" cy="61341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7A1F1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7"/>
          <a:fontRef xmlns:a="http://schemas.openxmlformats.org/drawingml/2006/main" idx="major"/>
        </p:style>
      </p:sp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b6092a041004b0c"/>
          <a:stretch xmlns:a="http://schemas.openxmlformats.org/drawingml/2006/main"/>
        </p:blipFill>
        <p:spPr>
          <a:xfrm xmlns:a="http://schemas.openxmlformats.org/drawingml/2006/main">
            <a:off x="7962900" y="808775"/>
            <a:ext cx="2476500" cy="5240451"/>
          </a:xfrm>
          <a:prstGeom xmlns:a="http://schemas.openxmlformats.org/drawingml/2006/main" prst="roundRect">
            <a:avLst>
              <a:gd name="adj" fmla="val 9231"/>
            </a:avLst>
          </a:prstGeom>
        </p:spPr>
      </p:pic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4e80ea590f046d5"/>
          <a:stretch xmlns:a="http://schemas.openxmlformats.org/drawingml/2006/main"/>
        </p:blipFill>
        <p:spPr>
          <a:xfrm xmlns:a="http://schemas.openxmlformats.org/drawingml/2006/main">
            <a:off x="876300" y="990600"/>
            <a:ext cx="1104900" cy="1104900"/>
          </a:xfrm>
          <a:prstGeom xmlns:a="http://schemas.openxmlformats.org/drawingml/2006/main" prst="ellipse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483E7D7-0DF6-456B-A0B5-4FF6E1182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457450"/>
            <a:ext cx="47625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3225" b="1">
                <a:solidFill>
                  <a:srgbClr val="FFFFFF"/>
                </a:solidFill>
                <a:latin typeface="Noto Sans TC"/>
                <a:ea typeface="Noto Sans TC"/>
                <a:cs typeface="Noto Sans TC"/>
              </a:defRPr>
            </a:pPr>
            <a:r>
              <a:rPr sz="3225" b="1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科技賦能信仰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3225" b="1">
                <a:solidFill>
                  <a:srgbClr val="FFFFFF"/>
                </a:solidFill>
                <a:latin typeface="Noto Sans TC"/>
                <a:ea typeface="Noto Sans TC"/>
                <a:cs typeface="Noto Sans TC"/>
              </a:defRPr>
            </a:pPr>
            <a:r>
              <a:rPr sz="3225" b="1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智慧傳承文化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8A3F77B-8803-4AB5-BCFF-08DB5D49CB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981450"/>
            <a:ext cx="4381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725" b="1">
                <a:solidFill>
                  <a:srgbClr val="FFF1C1"/>
                </a:solidFill>
                <a:latin typeface="Noto Sans TC"/>
                <a:ea typeface="Noto Sans TC"/>
                <a:cs typeface="Noto Sans TC"/>
              </a:defRPr>
            </a:pPr>
            <a:r>
              <a:rPr sz="1725" b="1">
                <a:solidFill>
                  <a:srgbClr val="FFF1C1"/>
                </a:solidFill>
                <a:latin typeface="Noto Sans TC"/>
                <a:ea typeface="Noto Sans TC"/>
                <a:cs typeface="Noto Sans TC"/>
              </a:rPr>
              <a:t>Temple AI OS 智慧宮廟平台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1DED999-7F88-4C36-9213-037A044CB8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648200"/>
            <a:ext cx="4953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1350" b="0">
                <a:solidFill>
                  <a:srgbClr val="FFFFFF"/>
                </a:solidFill>
                <a:latin typeface="Noto Sans TC"/>
                <a:ea typeface="Noto Sans TC"/>
                <a:cs typeface="Noto Sans TC"/>
              </a:defRPr>
            </a:pPr>
            <a:r>
              <a:rPr sz="1350" b="0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LINE OA：@983zhzni</a:t>
            </a:r>
          </a:p>
          <a:p xmlns:a="http://schemas.openxmlformats.org/drawingml/2006/main">
            <a:pPr algn="l">
              <a:lnSpc>
                <a:spcPct val="122000"/>
              </a:lnSpc>
              <a:buNone/>
              <a:defRPr sz="1350" b="0">
                <a:solidFill>
                  <a:srgbClr val="FFFFFF"/>
                </a:solidFill>
                <a:latin typeface="Noto Sans TC"/>
                <a:ea typeface="Noto Sans TC"/>
                <a:cs typeface="Noto Sans TC"/>
              </a:defRPr>
            </a:pPr>
            <a:r>
              <a:rPr sz="1350" b="0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公開 Demo：前台、後台、API 已完成基礎驗證</a:t>
            </a:r>
          </a:p>
          <a:p xmlns:a="http://schemas.openxmlformats.org/drawingml/2006/main">
            <a:pPr algn="l">
              <a:lnSpc>
                <a:spcPct val="122000"/>
              </a:lnSpc>
              <a:buNone/>
              <a:defRPr sz="1350" b="0">
                <a:solidFill>
                  <a:srgbClr val="FFFFFF"/>
                </a:solidFill>
                <a:latin typeface="Noto Sans TC"/>
                <a:ea typeface="Noto Sans TC"/>
                <a:cs typeface="Noto Sans TC"/>
              </a:defRPr>
            </a:pPr>
            <a:r>
              <a:rPr sz="1350" b="0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補件提醒：YouTube 連結與簽署文件需送件前完成</a:t>
            </a:r>
          </a:p>
        </p:txBody>
      </p:sp>
    </p:spTree>
    <p:extLst>
      <p:ext uri="{BB962C8B-B14F-4D97-AF65-F5344CB8AC3E}">
        <p14:creationId xmlns:p14="http://schemas.microsoft.com/office/powerpoint/2010/main" val="955521347"/>
      </p:ext>
    </p:extLst>
  </p:cSld>
</p:sld>
</file>

<file path=ppt/theme/theme1.xml><?xml version="1.0" encoding="utf-8"?>
<a:theme xmlns:a="http://schemas.openxmlformats.org/drawingml/2006/main" name="ChatGPT">
  <a:themeElements>
    <a:clrScheme name="Temple Editorial">
      <a:dk1>
        <a:srgbClr val="000000"/>
      </a:dk1>
      <a:lt1>
        <a:srgbClr val="FFFFFF"/>
      </a:lt1>
      <a:dk2>
        <a:srgbClr val="1F2933"/>
      </a:dk2>
      <a:lt2>
        <a:srgbClr val="FBF7EF"/>
      </a:lt2>
      <a:accent1>
        <a:srgbClr val="B9251C"/>
      </a:accent1>
      <a:accent2>
        <a:srgbClr val="C79A35"/>
      </a:accent2>
      <a:accent3>
        <a:srgbClr val="06C755"/>
      </a:accent3>
      <a:accent4>
        <a:srgbClr val="244765"/>
      </a:accent4>
      <a:accent5>
        <a:srgbClr val="16815F"/>
      </a:accent5>
      <a:accent6>
        <a:srgbClr val="FFF4D8"/>
      </a:accent6>
      <a:hlink>
        <a:srgbClr val="244765"/>
      </a:hlink>
      <a:folHlink>
        <a:srgbClr val="7F1D1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Temple Editorial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2026-09-13T05:54:59.4470000Z</dcterms:created>
  <dcterms:modified xsi:type="dcterms:W3CDTF">2026-09-13T05:54:59.4470000Z</dcterms:modified>
</coreProperties>
</file>