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b103273fc4c63" /><Relationship Type="http://schemas.openxmlformats.org/officeDocument/2006/relationships/extended-properties" Target="/docProps/app.xml" Id="Raf0c5d4c65dd4784" /><Relationship Type="http://schemas.openxmlformats.org/officeDocument/2006/relationships/officeDocument" Target="/ppt/presentation.xml" Id="R8009f48bbd61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dd3e214f54b02"/>
  </p:sldMasterIdLst>
  <p:notesMasterIdLst>
    <p:notesMasterId xmlns:r="http://schemas.openxmlformats.org/officeDocument/2006/relationships" r:id="Rb23b909528124e4d"/>
  </p:notesMasterIdLst>
  <p:sldIdLst>
    <p:sldId xmlns:r="http://schemas.openxmlformats.org/officeDocument/2006/relationships" id="256" r:id="Rda0e0508a74548a5"/>
    <p:sldId xmlns:r="http://schemas.openxmlformats.org/officeDocument/2006/relationships" id="257" r:id="R474b7900d6d94cb4"/>
    <p:sldId xmlns:r="http://schemas.openxmlformats.org/officeDocument/2006/relationships" id="258" r:id="Rf02b50bd489f4f6a"/>
    <p:sldId xmlns:r="http://schemas.openxmlformats.org/officeDocument/2006/relationships" id="259" r:id="R8e580b114ddd4172"/>
    <p:sldId xmlns:r="http://schemas.openxmlformats.org/officeDocument/2006/relationships" id="260" r:id="Re9bb6fba4c524c3c"/>
    <p:sldId xmlns:r="http://schemas.openxmlformats.org/officeDocument/2006/relationships" id="261" r:id="Rfb510cff86e54b0c"/>
    <p:sldId xmlns:r="http://schemas.openxmlformats.org/officeDocument/2006/relationships" id="262" r:id="Rd3f7c253ca2b41d1"/>
    <p:sldId xmlns:r="http://schemas.openxmlformats.org/officeDocument/2006/relationships" id="263" r:id="Ra6f81187196d43a4"/>
    <p:sldId xmlns:r="http://schemas.openxmlformats.org/officeDocument/2006/relationships" id="264" r:id="R967aba44af074b7f"/>
    <p:sldId xmlns:r="http://schemas.openxmlformats.org/officeDocument/2006/relationships" id="265" r:id="R907393348fab4fd8"/>
    <p:sldId xmlns:r="http://schemas.openxmlformats.org/officeDocument/2006/relationships" id="266" r:id="R133c247d7d5649ed"/>
    <p:sldId xmlns:r="http://schemas.openxmlformats.org/officeDocument/2006/relationships" id="267" r:id="Rb49536ce5edd43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9e56ddc644db0" /><Relationship Type="http://schemas.openxmlformats.org/officeDocument/2006/relationships/slideMaster" Target="/ppt/slideMasters/slideMaster1.xml" Id="Rd7cdd3e214f54b02" /><Relationship Type="http://schemas.openxmlformats.org/officeDocument/2006/relationships/notesMaster" Target="/ppt/notesMasters/notesMaster1.xml" Id="Rb23b909528124e4d" /><Relationship Type="http://schemas.openxmlformats.org/officeDocument/2006/relationships/presProps" Target="/ppt/presProps.xml" Id="Reb596c380199498c" /><Relationship Type="http://schemas.openxmlformats.org/officeDocument/2006/relationships/tableStyles" Target="/ppt/tableStyles.xml" Id="Ra06564a760ea4fc4" /><Relationship Type="http://schemas.openxmlformats.org/officeDocument/2006/relationships/slide" Target="/ppt/slides/slide1.xml" Id="Rda0e0508a74548a5" /><Relationship Type="http://schemas.openxmlformats.org/officeDocument/2006/relationships/slide" Target="/ppt/slides/slide2.xml" Id="R474b7900d6d94cb4" /><Relationship Type="http://schemas.openxmlformats.org/officeDocument/2006/relationships/slide" Target="/ppt/slides/slide3.xml" Id="Rf02b50bd489f4f6a" /><Relationship Type="http://schemas.openxmlformats.org/officeDocument/2006/relationships/slide" Target="/ppt/slides/slide4.xml" Id="R8e580b114ddd4172" /><Relationship Type="http://schemas.openxmlformats.org/officeDocument/2006/relationships/slide" Target="/ppt/slides/slide5.xml" Id="Re9bb6fba4c524c3c" /><Relationship Type="http://schemas.openxmlformats.org/officeDocument/2006/relationships/slide" Target="/ppt/slides/slide6.xml" Id="Rfb510cff86e54b0c" /><Relationship Type="http://schemas.openxmlformats.org/officeDocument/2006/relationships/slide" Target="/ppt/slides/slide7.xml" Id="Rd3f7c253ca2b41d1" /><Relationship Type="http://schemas.openxmlformats.org/officeDocument/2006/relationships/slide" Target="/ppt/slides/slide8.xml" Id="Ra6f81187196d43a4" /><Relationship Type="http://schemas.openxmlformats.org/officeDocument/2006/relationships/slide" Target="/ppt/slides/slide9.xml" Id="R967aba44af074b7f" /><Relationship Type="http://schemas.openxmlformats.org/officeDocument/2006/relationships/slide" Target="/ppt/slides/slide10.xml" Id="R907393348fab4fd8" /><Relationship Type="http://schemas.openxmlformats.org/officeDocument/2006/relationships/slide" Target="/ppt/slides/slide11.xml" Id="R133c247d7d5649ed" /><Relationship Type="http://schemas.openxmlformats.org/officeDocument/2006/relationships/slide" Target="/ppt/slides/slide12.xml" Id="Rb49536ce5edd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9773342ec42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f7fa5d69946a3" /><Relationship Type="http://schemas.openxmlformats.org/officeDocument/2006/relationships/notesMaster" Target="/ppt/notesMasters/notesMaster1.xml" Id="R48f586ac966947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5530fadaf64d2e" /><Relationship Type="http://schemas.openxmlformats.org/officeDocument/2006/relationships/notesMaster" Target="/ppt/notesMasters/notesMaster1.xml" Id="R242517538f6749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5197ffba6e4274" /><Relationship Type="http://schemas.openxmlformats.org/officeDocument/2006/relationships/notesMaster" Target="/ppt/notesMasters/notesMaster1.xml" Id="R5c4df6902221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74b1be97b4a48" /><Relationship Type="http://schemas.openxmlformats.org/officeDocument/2006/relationships/notesMaster" Target="/ppt/notesMasters/notesMaster1.xml" Id="R949c29be7dd6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75d8e37cfe4979" /><Relationship Type="http://schemas.openxmlformats.org/officeDocument/2006/relationships/notesMaster" Target="/ppt/notesMasters/notesMaster1.xml" Id="Re6be68ccaded4b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124b8a90024f8c" /><Relationship Type="http://schemas.openxmlformats.org/officeDocument/2006/relationships/notesMaster" Target="/ppt/notesMasters/notesMaster1.xml" Id="R658c65d9a6e044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d9be617fcc4b5a" /><Relationship Type="http://schemas.openxmlformats.org/officeDocument/2006/relationships/notesMaster" Target="/ppt/notesMasters/notesMaster1.xml" Id="R44882abd659840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6472c074cf4f3d" /><Relationship Type="http://schemas.openxmlformats.org/officeDocument/2006/relationships/notesMaster" Target="/ppt/notesMasters/notesMaster1.xml" Id="R9a97c293b7a147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25c08cb2a64a1c" /><Relationship Type="http://schemas.openxmlformats.org/officeDocument/2006/relationships/notesMaster" Target="/ppt/notesMasters/notesMaster1.xml" Id="Rd30526a05e2e46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dde405a8384c90" /><Relationship Type="http://schemas.openxmlformats.org/officeDocument/2006/relationships/notesMaster" Target="/ppt/notesMasters/notesMaster1.xml" Id="R0049f339bdbe44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e0adbe60b04649" /><Relationship Type="http://schemas.openxmlformats.org/officeDocument/2006/relationships/notesMaster" Target="/ppt/notesMasters/notesMaster1.xml" Id="R0d584adfcd3d45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5dd92e0aba44c8" /><Relationship Type="http://schemas.openxmlformats.org/officeDocument/2006/relationships/notesMaster" Target="/ppt/notesMasters/notesMaster1.xml" Id="Ra66f287a6e6e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封面使用既有視覺素材。送件主張為公開 Demo 與公開資料示範場景。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活動中心截圖。市場問題來自企畫書與產品需求整理。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本頁為產品定位說明。右側為 Demo LINE 入口截圖。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本頁強調 LINE 生態結合度。Rich Menu 圖檔來自本專案產生素材。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 LIFF 報名與活動中心截圖。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的抽籤與擲筊頁面截圖。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 RAG 與任務型 Agent 架構圖，說明 AI 安全邊界。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後台設定截圖。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本頁使用本專案架構圖。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本頁使用貼圖預覽圖與本輪驗證結果。69/69 後端測試、20/20 公開服務檢查已在本工作區驗證。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本頁區分已完成、待入選後導入與正式送件仍待補項目。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封底維持安全對外說法，提醒外部待補項目。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a4ceb4c1640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be9f165da4972" /><Relationship Type="http://schemas.openxmlformats.org/officeDocument/2006/relationships/slideLayout" Target="/ppt/slideLayouts/slideLayout1.xml" Id="Rcadaca7014674b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aca7014674b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4a4933fb742b4" /><Relationship Type="http://schemas.openxmlformats.org/officeDocument/2006/relationships/image" Target="/ppt/media/image.jpeg" Id="R6d56bb3c29014cc2" /><Relationship Type="http://schemas.openxmlformats.org/officeDocument/2006/relationships/notesSlide" Target="/ppt/notesSlides/notesSlide1.xml" Id="R97bb23a6b8c641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328eed2994362" /><Relationship Type="http://schemas.openxmlformats.org/officeDocument/2006/relationships/image" Target="/ppt/media/image.png" Id="Rf0da631e84554aab" /><Relationship Type="http://schemas.openxmlformats.org/officeDocument/2006/relationships/notesSlide" Target="/ppt/notesSlides/notesSlide2.xml" Id="Rc0fe89847f8e4e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971e5518642b7" /><Relationship Type="http://schemas.openxmlformats.org/officeDocument/2006/relationships/image" Target="/ppt/media/image2.png" Id="Ra505c979e75c4a6d" /><Relationship Type="http://schemas.openxmlformats.org/officeDocument/2006/relationships/notesSlide" Target="/ppt/notesSlides/notesSlide3.xml" Id="Rd8415996875a4d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58701e50c45e8" /><Relationship Type="http://schemas.openxmlformats.org/officeDocument/2006/relationships/image" Target="/ppt/media/image3.png" Id="Rff68670fe8d04361" /><Relationship Type="http://schemas.openxmlformats.org/officeDocument/2006/relationships/notesSlide" Target="/ppt/notesSlides/notesSlide4.xml" Id="Rb71ef5edacc4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bd2d65a364107" /><Relationship Type="http://schemas.openxmlformats.org/officeDocument/2006/relationships/image" Target="/ppt/media/image4.png" Id="R2ed4843db37a4d3f" /><Relationship Type="http://schemas.openxmlformats.org/officeDocument/2006/relationships/image" Target="/ppt/media/image5.png" Id="Rad4873f622294cc2" /><Relationship Type="http://schemas.openxmlformats.org/officeDocument/2006/relationships/notesSlide" Target="/ppt/notesSlides/notesSlide5.xml" Id="R6f1f374f120244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4a1d18e934782" /><Relationship Type="http://schemas.openxmlformats.org/officeDocument/2006/relationships/image" Target="/ppt/media/image6.png" Id="R1bf5ae12dd164203" /><Relationship Type="http://schemas.openxmlformats.org/officeDocument/2006/relationships/image" Target="/ppt/media/image7.png" Id="R5fa59d172b3f4c5d" /><Relationship Type="http://schemas.openxmlformats.org/officeDocument/2006/relationships/notesSlide" Target="/ppt/notesSlides/notesSlide6.xml" Id="Rd08c8ee737a8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c4a5fd2dc4862" /><Relationship Type="http://schemas.openxmlformats.org/officeDocument/2006/relationships/image" Target="/ppt/media/image8.png" Id="R6eba95794c3b4664" /><Relationship Type="http://schemas.openxmlformats.org/officeDocument/2006/relationships/notesSlide" Target="/ppt/notesSlides/notesSlide7.xml" Id="Rfab4a98a571b4e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f4178e23d4321" /><Relationship Type="http://schemas.openxmlformats.org/officeDocument/2006/relationships/image" Target="/ppt/media/image9.png" Id="R2eccd492cd564312" /><Relationship Type="http://schemas.openxmlformats.org/officeDocument/2006/relationships/notesSlide" Target="/ppt/notesSlides/notesSlide8.xml" Id="R23b2b71122f34a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560f663e54cb6" /><Relationship Type="http://schemas.openxmlformats.org/officeDocument/2006/relationships/image" Target="/ppt/media/image10.png" Id="R72e82ad75c3d4bb2" /><Relationship Type="http://schemas.openxmlformats.org/officeDocument/2006/relationships/notesSlide" Target="/ppt/notesSlides/notesSlide9.xml" Id="Rcc69ef93da1040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f138c55b14cdf" /><Relationship Type="http://schemas.openxmlformats.org/officeDocument/2006/relationships/image" Target="/ppt/media/image11.png" Id="R5828503c72914507" /><Relationship Type="http://schemas.openxmlformats.org/officeDocument/2006/relationships/notesSlide" Target="/ppt/notesSlides/notesSlide10.xml" Id="R6721de83fd0d46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91390c4b745ca" /><Relationship Type="http://schemas.openxmlformats.org/officeDocument/2006/relationships/image" Target="/ppt/media/image12.png" Id="R6743f0ececeb4e99" /><Relationship Type="http://schemas.openxmlformats.org/officeDocument/2006/relationships/notesSlide" Target="/ppt/notesSlides/notesSlide11.xml" Id="R8bc96b796bcf46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0034bd06f4bf2" /><Relationship Type="http://schemas.openxmlformats.org/officeDocument/2006/relationships/image" Target="/ppt/media/image2.jpeg" Id="R972f5c0d856946e2" /><Relationship Type="http://schemas.openxmlformats.org/officeDocument/2006/relationships/image" Target="/ppt/media/image13.png" Id="R470c6d070adf4f6f" /><Relationship Type="http://schemas.openxmlformats.org/officeDocument/2006/relationships/notesSlide" Target="/ppt/notesSlides/notesSlide12.xml" Id="Rc2980dae4fc04a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6bb3c29014cc2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A4A1-6210-4D45-B7E3-2A67DD2E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9D353-99D4-4D72-8325-57D55DFD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410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391D4-E4B0-4CA5-8263-7D63841C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2026 LINE AI 創新創業競賽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D2340-42F0-4040-BD15-79EDAC1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Temple AI 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99794-4A83-487D-9958-85DCFB5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智慧宮廟 AI 服務入口與數位營運平台</a:t>
            </a:r>
          </a:p>
        </p:txBody>
      </p:sp>
    </p:spTree>
    <p:extLst>
      <p:ext uri="{BB962C8B-B14F-4D97-AF65-F5344CB8AC3E}">
        <p14:creationId xmlns:p14="http://schemas.microsoft.com/office/powerpoint/2010/main" val="1499037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25E3F-E25E-47C7-BB6D-E5728B5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EC144-E743-4D7F-9537-2693BD0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3B964-74A2-4BD5-A0DE-7D2FA55C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宮廟數位服務缺口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4F8A6-8AFD-48A8-A965-E018C40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信眾已經在 LINE 裡，宮廟服務仍分散在電話、紙本與現場口耳相傳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8CFFF-A694-4CC9-943D-DB9CCFC5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81B46-2C6F-4133-AB98-E4EBB1ED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014CA-49A6-490F-B7AA-B9A46087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188EA-5CCF-4619-BCF7-212F797C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579DA-BC8D-4057-9442-38E3AE98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62050"/>
            <a:ext cx="4191000" cy="4381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a631e84554aab"/>
          <a:srcRect xmlns:a="http://schemas.openxmlformats.org/drawingml/2006/main" l="0" t="33399" r="0" b="3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57300"/>
            <a:ext cx="4000500" cy="41910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5BE0C-68EC-40EB-BD19-F7B6927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7526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B9251C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42B84-02E2-4C0C-8994-31E393CE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FF98B-6144-4744-977C-B8F5EE52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入口分散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資料斷裂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志工耗時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23D9F-9B58-4A08-A451-CE4F968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05119-AAC2-40BE-A07A-15189BC1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信眾找不到入口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7561D-6E2D-408B-99DE-88FC076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參拜規矩、活動資訊、交通與客服分散，第一次到訪者需要有人帶路。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57F9B-9863-410B-AF6F-1E56E48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5E125-6818-4066-9A4C-84681897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廟方行政重複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A1575-D74D-4B25-B6D3-7E30C5E6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報名、通知、查詢與名冊整理仰賴人工，越接近祭典越容易出錯。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52053-2678-4574-B50A-5C80F01D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2B7D5-D750-489C-A635-BDE24478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文化知識難延續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73B7F-7CF2-41C8-A238-309F2391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神明由來、建築故事與儀式禁忌缺少可搜尋、可更新、可審核的數位載體。</a:t>
            </a:r>
          </a:p>
        </p:txBody>
      </p:sp>
    </p:spTree>
    <p:extLst>
      <p:ext uri="{BB962C8B-B14F-4D97-AF65-F5344CB8AC3E}">
        <p14:creationId xmlns:p14="http://schemas.microsoft.com/office/powerpoint/2010/main" val="803490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3AE91-F9F2-44AB-A1DD-9002756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BA160-E4B3-4C1F-97F8-5BC5F0C1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產品定位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BB1E0-D253-47CA-95E2-52BE94B1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裡的智慧宮廟入口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F1381-4E94-4E49-95A3-C99CB039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以官方帳號為主入口，把導覽、問答、活動與後台營運連成一條服務路徑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F9448-9E6A-4A18-831B-3767ECF3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AC270-4907-4845-9F0F-27D6FFB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B7F57-FB89-43FA-9082-CC1AC0E6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BC899-2A1F-4ADC-9056-064F546D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54591-1C76-4C94-AB33-00FEEE71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71550"/>
            <a:ext cx="2819400" cy="54102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5c979e75c4a6d"/>
          <a:srcRect xmlns:a="http://schemas.openxmlformats.org/drawingml/2006/main" l="0" t="3085" r="0" b="3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2628900" cy="52197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A36AD-1F46-491D-AA9D-A61C3A46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8D28D-2626-4ACE-B77C-6684EA48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信眾端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533D2-B4EA-42DA-843B-E07AF4D3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掃碼加入後，直接在聊天室進入參拜指南、文化解籤、法會報名、宮廟動態與客服。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5E56B-3C6C-471C-8D4A-39F4BD3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A1574-8EC0-4979-A834-DAA182B9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廟方端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60A68-8959-4987-A41F-AC2173BC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後台集中管理活動、公告、報名名冊、客服追蹤與知識內容，降低日常行政負擔。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D104A-F2ED-447D-903F-9ED0F1E2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8293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A643F-4FFC-4535-A3A3-B8A0315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文化端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C6E1A-D5D9-4A9E-9D20-130CA64F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41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把公開文史資料、參拜流程與民俗互動整理為可查詢、可審核、可持續更新的知識庫。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01CEE-61CA-43CE-A5EC-D533DF36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8391D-E034-4588-A3EC-3939FC8D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OA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18E22-F686-4831-8341-BB478A3B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435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2909A-C9BF-4692-8297-ACB04C6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Rich Menu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4B08F-B3F5-4181-A1E8-F71D3AFE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435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CFE9D-1F09-4FCF-A23B-8C13D5C3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B6A06-83B4-4206-B767-3ED1495A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D8FE7-7C98-4622-A4EE-6A364E8C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00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Messaging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210B8-C374-47F3-8E61-E682A5AC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43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86C73C-8138-4405-90F5-B57FB55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544686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8B834-6486-4FE8-94B0-C0E0087D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C6D9E-9BEF-4166-85B2-E2B9249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LINE 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AF3FD-B3B7-4415-BF64-7B10B180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官方帳號成為服務大廳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45E05-F8BD-48F5-B1A9-16E816D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負責分流，LIFF 負責表單，Messaging API 負責提醒與回覆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3402D-A443-4885-81EF-051E4C36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B1C27-6299-4908-9DCE-126C603D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95D77-E0EC-4176-AD4E-6DAE2C1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DD422-3158-449C-AA1E-6864125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76A99-70D6-4D48-9166-0EED20D8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625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8670fe8d04361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09800"/>
            <a:ext cx="4972050" cy="33528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3F531-91DA-4AE0-B3C2-8BA31D1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六格入口覆蓋高頻需求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5E659-5795-49C5-9B85-3BFC0D80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參拜指南、解籤諮詢、法會報名、AI 分析、宮廟動態與客服，全部從同一個 LINE 入口開始。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7C97C-9309-4F8A-AD2C-2D042B67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E8B2E-3977-4AF1-8538-346761DC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點選 Rich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DA1B3-1BBD-4947-83F2-0EAC5955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信眾不用記網址，依需求點選圖文選單。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F1BC4-43FA-40AB-968B-0C2CD031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B2B7C-8B65-4CAB-B325-2618AAEC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開啟 LIFF 或 Flex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FF28F-7846-4135-A136-B425F358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活動與表單保留 LINE 內的使用情境。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C9D67-95CB-40F1-A62A-AC6BB31A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5A884-BDB8-4F1B-BD62-6BBE25C2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回到通知與客服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A9708-11C3-4961-9E9B-296A0F9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報名後可查進度，也能由 Messaging API 發送提醒。</a:t>
            </a:r>
          </a:p>
        </p:txBody>
      </p:sp>
    </p:spTree>
    <p:extLst>
      <p:ext uri="{BB962C8B-B14F-4D97-AF65-F5344CB8AC3E}">
        <p14:creationId xmlns:p14="http://schemas.microsoft.com/office/powerpoint/2010/main" val="363281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14F29-D3F3-4154-A3EA-75867235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51D26-95AE-4ABB-BCA6-60F8DD26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 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0DAFF-5B98-4D06-B030-10A46BE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LIFF 活動報名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9A107-C6BE-48AA-8BF4-6F3FF5D0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聊天室內完成活動瀏覽、資料填寫與提醒勾選，後台同步管理名額與名冊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83097-DF05-4CDB-BA61-5A032863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0C23E-314E-4E5B-8778-E7FD95E7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8D3E8-5F4A-4AF6-A715-7BF31840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3E720-42AF-40F9-ADD1-F9F4F376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5019D-2C84-4D05-AF57-731C5F31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533650" cy="400050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4843db37a4d3f"/>
          <a:srcRect xmlns:a="http://schemas.openxmlformats.org/drawingml/2006/main" l="0" t="25728" r="0" b="25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981200"/>
            <a:ext cx="2343150" cy="3810000"/>
          </a:xfrm>
          <a:prstGeom xmlns:a="http://schemas.openxmlformats.org/drawingml/2006/main" prst="roundRect">
            <a:avLst>
              <a:gd name="adj" fmla="val 650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6BB54-FE89-4C57-8748-50CDABD5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285750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873f622294cc2"/>
          <a:srcRect xmlns:a="http://schemas.openxmlformats.org/drawingml/2006/main" l="0" t="27363" r="0" b="27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981200"/>
            <a:ext cx="2667000" cy="3810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BDBC8-FB93-460F-9C48-AC1FD0DC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報名流程收斂成三步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A7D2C-E57B-49D7-9A8C-102688D3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32871-4705-4CF5-8FBA-639B4AAA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看活動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A652C-FF9E-4517-8F23-58AAC7A4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活動中心展示法會、導覽與講堂內容。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A685D-71E2-4AC3-B894-3DC08E9A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49FE5-120C-4ADF-8289-324509A4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填表單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F8FE5-AAD6-40B7-8DB9-8E9A1A06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姓名、人數、提醒選項在 LIFF 頁面完成。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13266-051F-49B3-9B71-1FF14ABA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B7D04-2D75-4EF1-B1B9-378BBB62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進後台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324AA-F9F9-442D-86D8-1577655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報名資料進入後台清冊，廟方可查詢與匯出。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615BF-72D1-4AC0-A31F-00E276FB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D14B5-16F1-4742-9111-19C06FA2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 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7F74C-FA44-4E8F-B013-92F6981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43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0023D-B14A-44D9-9451-66E2FCEF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00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React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B32E5-86B1-4E96-923C-AF6B52F2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435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42205-5C86-4666-B31E-45F34D8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00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FastAPI</a:t>
            </a:r>
          </a:p>
        </p:txBody>
      </p:sp>
    </p:spTree>
    <p:extLst>
      <p:ext uri="{BB962C8B-B14F-4D97-AF65-F5344CB8AC3E}">
        <p14:creationId xmlns:p14="http://schemas.microsoft.com/office/powerpoint/2010/main" val="815144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608EA-8AED-4D37-963D-937C611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74725-6810-40C1-AD69-744009B5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87100-C6D2-4299-95E5-43CC119B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抽籤與擲筊變成可理解流程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7DD3C-ABD0-42D7-87E4-CEAE952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保留民俗儀式的節奏，同時用清楚介面降低第一次使用者的心理門檻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A77A3-C9D4-463D-815C-DEABD9E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148C6-DC93-457A-A55C-98CF62EA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86F3F-FFAD-4B41-BB03-D1470ED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23CC2-6561-45EC-9E62-FA14A6C6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2888B-0BBD-4CD4-86B6-F997F9F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5ae12dd164203"/>
          <a:srcRect xmlns:a="http://schemas.openxmlformats.org/drawingml/2006/main" l="0" t="17851" r="0" b="17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32FC7-4EBE-4A2F-8D02-7A7BA1D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59d172b3f4c5d"/>
          <a:srcRect xmlns:a="http://schemas.openxmlformats.org/drawingml/2006/main" l="0" t="16932" r="0" b="16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5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906BD-F033-43ED-A481-8E53D3A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三個安全邊界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A31DE-D5E2-4A2F-A70E-4ADC0BEB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C9D37-081B-4F1D-A116-C9BFA1D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不斷言吉凶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CD884-EBD9-4A72-B95B-04CCA06C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籤詩解讀採正向提醒，避免對人生重大決策做絕對判斷。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D7FB6-F971-44D6-84BE-F0A6EFF1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EC60E-1848-46D6-BB3F-C837815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回到正式窗口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D5E3E-7DEE-4EAC-9E6C-CBFE3280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涉及活動、服務與現場細節時，提醒以廟方公告與現場人員為準。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882FC-AAF9-4BE1-BE21-803461DE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BCA40-126E-45D9-AD24-26C88DD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保留文化語氣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24722-DCF0-4E52-B6B4-83D85F3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以白話解釋流程，不把民俗互動包裝成神諭或絕對預測。</a:t>
            </a:r>
          </a:p>
        </p:txBody>
      </p:sp>
    </p:spTree>
    <p:extLst>
      <p:ext uri="{BB962C8B-B14F-4D97-AF65-F5344CB8AC3E}">
        <p14:creationId xmlns:p14="http://schemas.microsoft.com/office/powerpoint/2010/main" val="1100468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1CE0C-3EC4-4C4E-B153-AF22D70A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DFB22-CB68-4B6E-9B94-ED41502A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3EF4D-CA43-4E9E-BC9F-06987384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AI 文史問答安全邊界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10841-D2C4-4927-8AB9-6D58B75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把公開資料整理成可搜尋知識，讓 AI 回答有依據、有分寸、可被廟方維護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79264-DCFB-4126-B61D-C3963E70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17937-1B9A-4497-98C3-26EAC24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BFF9A-CC74-47DF-9EA9-C9C47001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D6375-21BA-450D-A9B0-50D4413D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60EBD-AE18-4EED-ABB6-3E269F86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38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a95794c3b4664"/>
          <a:stretch xmlns:a="http://schemas.openxmlformats.org/drawingml/2006/main"/>
        </p:blipFill>
        <p:spPr>
          <a:xfrm xmlns:a="http://schemas.openxmlformats.org/drawingml/2006/main">
            <a:off x="1213435" y="2152650"/>
            <a:ext cx="532648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34111-C5ED-412B-89DA-998FA8EC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內容治理原則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4D764-31FF-403C-BE4B-4A8C707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EBC7C-3311-456B-A100-2E7C8471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先找資料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A7D09-B65D-4CD3-90A2-7DF99D5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以公開文史與服務資料作為回答基礎。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55BCC-AA64-4065-9F1F-5E9577B1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E73F7-EB99-4BE2-B795-1254F17D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再生成回覆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86F10-7B30-40ED-981F-5FF0C80F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只回答可追溯內容，降低錯答與幻想風險。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F14C7-7885-4913-BF18-5CBF6F7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FA30-093A-4602-B018-64E69E7D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保留人工審核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8239-F928-467C-89AB-EE0239C1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文化與儀式資料由廟方或維護者更新。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96B9-A62D-40F0-AAC3-01275C65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62103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2F8AA-8D40-453A-B6C0-64C4630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AI 不扮演神明、不宣稱神諭、不處理醫療投資等敏感決策。這條邊界會直接寫進系統提示詞與安全回覆規則。</a:t>
            </a:r>
          </a:p>
        </p:txBody>
      </p:sp>
    </p:spTree>
    <p:extLst>
      <p:ext uri="{BB962C8B-B14F-4D97-AF65-F5344CB8AC3E}">
        <p14:creationId xmlns:p14="http://schemas.microsoft.com/office/powerpoint/2010/main" val="558408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CB935-0F90-42A9-BF75-8124B179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CDF8D-0A11-4E50-B99F-701D755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5EBE6-FC19-43CA-9C64-BABAE452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廟務營運後台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1A214-450A-4A68-804A-E1473BC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廟方可自行維護基本資料、公告、活動與服務內容，減少每次都要請工程人員改版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3BEC3-5CF0-4470-AE93-25F8ACDD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4EF33-E297-437F-9FE3-2E18BD6E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DFD24-022B-46F6-907B-3481BAA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052C2-CDC4-4908-80A0-E2846B6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B23C7-5CC3-46C4-B282-79C642E9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961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cd492cd564312"/>
          <a:srcRect xmlns:a="http://schemas.openxmlformats.org/drawingml/2006/main" l="0" t="13565" r="0" b="1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19300"/>
            <a:ext cx="6705600" cy="3257550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B988B-ABFA-49E8-B686-5F1FD7F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即時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BF928-AEC2-49C4-A44C-E029F2CF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8B201-F7D6-41D6-9977-F833F85A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公告與服務資料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後台更新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48677-5C62-479E-B336-7528E50B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分權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C44CA-D1EE-4CD1-B1C4-848FED08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862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983E7-ECF0-4105-A4C9-3BDC8622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9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Admin 與 Staff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操作權限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7C869-216B-4D4C-B022-1B5BC43E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B1357-5F5E-4424-8B0F-FEAE8F37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0BD05-17AF-4754-AD1B-8C024A0F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登入與異動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便於追蹤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A7469-D59E-4DE5-BCEA-FFF34839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286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C9C9F-872A-4CC1-A06C-93E132BE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此頁呈現實際後台設定畫面：廟名、全銜、主祀神祇、開放時段、公告與服務指引可集中維護。</a:t>
            </a:r>
          </a:p>
        </p:txBody>
      </p:sp>
    </p:spTree>
    <p:extLst>
      <p:ext uri="{BB962C8B-B14F-4D97-AF65-F5344CB8AC3E}">
        <p14:creationId xmlns:p14="http://schemas.microsoft.com/office/powerpoint/2010/main" val="1077174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8F6C1-CBE3-471B-87B6-E524ED7E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7F3D0-0313-42D9-B660-98E6A150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技術架構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77AFC-85BA-493B-A88B-2844B083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到資料庫的服務閉環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2D88D-A422-44E5-96F3-A711E61D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入口、Webhook、LIFF、後端、資料庫與知識庫都有清楚責任邊界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D8BCD-2BC8-4B2A-9737-09BE1ADE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CDD83-ECC8-4045-AE7A-B17B1417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64DAA-9C4B-492C-860B-C4CCCF06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EFEBB-7749-4281-9EB7-3DE8A91A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AD5DA-39C1-4A20-BFD8-2DDD051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9723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82ad75c3d4bb2"/>
          <a:stretch xmlns:a="http://schemas.openxmlformats.org/drawingml/2006/main"/>
        </p:blipFill>
        <p:spPr>
          <a:xfrm xmlns:a="http://schemas.openxmlformats.org/drawingml/2006/main">
            <a:off x="895350" y="1962150"/>
            <a:ext cx="6400800" cy="37338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2F99B-F015-414D-9CF8-05FAC9C3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架構重點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7B712-E284-493F-AD30-CE086132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DD778-D188-40F0-89A5-1473DC6E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25DAF-5ED5-4E81-85D7-67BF35AD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與 Messaging API 接住高頻服務需求。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5AD9C-7E32-4591-8468-CAC012A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33C52-34BE-49FB-B6C8-E31C4044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後端任務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A685E-8BDD-4326-861B-53F7A3E4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FastAPI 負責驗證、資料處理、RAG 與通知流程。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71D90-E390-423E-8169-B5D5CB4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0099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6B78B-737C-4ACE-81CD-F2765F29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資料治理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127E1-D383-4A97-9467-9CC756D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7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PostgreSQL 保存使用者、活動與營運資料，知識庫支援文化問答。</a:t>
            </a:r>
          </a:p>
        </p:txBody>
      </p:sp>
    </p:spTree>
    <p:extLst>
      <p:ext uri="{BB962C8B-B14F-4D97-AF65-F5344CB8AC3E}">
        <p14:creationId xmlns:p14="http://schemas.microsoft.com/office/powerpoint/2010/main" val="1793596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B2E5B-3528-48FD-945E-6FA7141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4E9C3-CADC-4F43-83AF-48C099A5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商業模式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13E7E-A9A5-4F16-BAC1-01E28FAF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商業模式與驗證成果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60D3A-DAD6-4345-82A6-D7C0B21A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 SaaS 訂閱為基礎，活動模組、客製導入與文創內容提高長期收入彈性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90138-551D-4FF9-92A0-1DFD2EB9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C18D6-EB5F-464E-8CA7-6A129A6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BFEDA-5DC3-4D00-B1AD-9258302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9158-4305-441D-A87D-25EBF36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FB1A9-2C11-4A7E-BE82-CA27E3FC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0602A-BDC1-49C3-BB03-1164C915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基礎訂閱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97464-1A26-4E0C-A2A2-26B029EA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中小型宮廟使用標準化 LINE 入口、AI 問答、活動報名與後台管理。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3AFB7-1AAE-4ABE-9ECB-713828AD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1AC7B-2F5D-44A8-8F3C-C9CC243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客製導入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6A48C-937D-413E-96B3-5A95541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百年宮廟可擴充專屬文史、科儀流程、導覽內容與後台欄位。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AF93F-D7AC-458B-A5BD-C682A2B6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B70C0-1819-41D6-8D39-FBC54A48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慶典模組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DC410-2576-4237-A76A-6C8B6822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媽祖誕辰、普度與建醮等高峰活動可啟用報名、通知與排隊能力。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53A0D-84A9-42A7-B3EE-09092D7B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5D9B6-EE49-4AAA-ADAD-93A66F2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rPr>
              <a:t>文創延伸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560F0-E634-40BF-AF1C-986379C8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春福小使貼圖與商圈導流，讓文化互動延伸到日常社群。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422AC-2C83-4236-9B36-64A56FC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133850" cy="24574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8503c72914507"/>
          <a:stretch xmlns:a="http://schemas.openxmlformats.org/drawingml/2006/main"/>
        </p:blipFill>
        <p:spPr>
          <a:xfrm xmlns:a="http://schemas.openxmlformats.org/drawingml/2006/main">
            <a:off x="7236619" y="2266950"/>
            <a:ext cx="2995613" cy="2266950"/>
          </a:xfrm>
          <a:prstGeom xmlns:a="http://schemas.openxmlformats.org/drawingml/2006/main" prst="roundRect">
            <a:avLst>
              <a:gd name="adj" fmla="val 672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F6FC6-6842-4AC1-B838-473A5EB8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0386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53E5B-A0E6-4302-8AA6-A005F220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69 / 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1C7FF-4486-4034-ABF1-239A3085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673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C7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F849B-AF67-43E5-A288-7353DAC8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後端測試通過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7B278B-4EFB-4CDA-A03A-3C4FBCDE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 / 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8C523-0D2A-4929-A15D-EDB7A052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A6CB6-FED2-482A-8896-6F0A06F6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公開服務檢查通過</a:t>
            </a:r>
          </a:p>
        </p:txBody>
      </p:sp>
    </p:spTree>
    <p:extLst>
      <p:ext uri="{BB962C8B-B14F-4D97-AF65-F5344CB8AC3E}">
        <p14:creationId xmlns:p14="http://schemas.microsoft.com/office/powerpoint/2010/main" val="1327894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716F3-028C-48DA-B483-785CF45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8BB4C-F038-4BF0-B734-36EF503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發展藍圖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B786E-1509-4989-B000-8313E8F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從公開 Demo 到可導入產品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B857C-8614-4B04-967A-33516712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目前先交付可體驗 Demo，後續補齊現場硬體互動、正式場域授權與跨廟模板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B1D9A-B4A1-492D-9EEF-04DB20D8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75297-F77B-41E8-8760-4597CF8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A4EDA-5173-4C1D-AA42-98DDFCA0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8E4DA-8907-43BD-B519-23198C90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CF03E-5EDF-4A58-AEED-33E2093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7296150" cy="3943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3f0ececeb4e99"/>
          <a:stretch xmlns:a="http://schemas.openxmlformats.org/drawingml/2006/main"/>
        </p:blipFill>
        <p:spPr>
          <a:xfrm xmlns:a="http://schemas.openxmlformats.org/drawingml/2006/main">
            <a:off x="751417" y="1962150"/>
            <a:ext cx="7088717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B1513-46B5-409C-95D7-A6C6AB97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DD1F2-E5A1-404B-A4B4-D578B1C9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送件階段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75ED9-5D7E-4FA1-A696-5E06A81C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Demo、簡報、影片與測試紀錄完成，評審可先體驗公開服務。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2CFA7-81A5-4ABC-9912-E1EC1EA4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DC40D-A2C8-45FC-B7EF-9534E50A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入選三個月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A58FF-A5ED-4789-8C41-FAA55397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補齊現場 QR、NFC 或 Beacon 互動，取得正式場域授權後再對外宣稱合作部署。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9CB14-800C-41BA-9171-B064BEFE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2A9CD-A5B6-425D-BA3B-A5BDEE3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一年藍圖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025F8-9318-407D-A894-F26A4A15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將活動、知識庫、Rich Menu 與後台設定包裝成可複製模板。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702F5-1A9B-4913-9FAA-7B483A41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05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696AE-FDC5-452E-AFBC-2F5DD16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48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送件前仍需補 YouTube 連結與簽署文件。</a:t>
            </a:r>
          </a:p>
        </p:txBody>
      </p:sp>
    </p:spTree>
    <p:extLst>
      <p:ext uri="{BB962C8B-B14F-4D97-AF65-F5344CB8AC3E}">
        <p14:creationId xmlns:p14="http://schemas.microsoft.com/office/powerpoint/2010/main" val="1230697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941E7-7951-4964-8405-15ACEBE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f5c0d856946e2"/>
          <a:srcRect xmlns:a="http://schemas.openxmlformats.org/drawingml/2006/main" l="25581" t="0" r="25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7EEA4-D0FB-4382-9924-D2D95FEB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c6d070adf4f6f"/>
          <a:stretch xmlns:a="http://schemas.openxmlformats.org/drawingml/2006/main"/>
        </p:blipFill>
        <p:spPr>
          <a:xfrm xmlns:a="http://schemas.openxmlformats.org/drawingml/2006/main">
            <a:off x="876300" y="9906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BF9B8-1693-4EC7-A938-7F438B43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科技賦能信仰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智慧傳承文化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3D7F8-8195-49B5-85A3-965F5D1A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rPr>
              <a:t>Temple AI OS 智慧宮廟平台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ACCBF-514A-4989-9B56-347A9D60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LINE OA：@983zhzni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 Demo：前台、後台、API 已完成基礎驗證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補件提醒：YouTube 連結與簽署文件需送件前完成</a:t>
            </a:r>
          </a:p>
        </p:txBody>
      </p:sp>
    </p:spTree>
    <p:extLst>
      <p:ext uri="{BB962C8B-B14F-4D97-AF65-F5344CB8AC3E}">
        <p14:creationId xmlns:p14="http://schemas.microsoft.com/office/powerpoint/2010/main" val="1530912037"/>
      </p:ext>
    </p:extLst>
  </p:cSld>
</p:sld>
</file>

<file path=ppt/theme/theme1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2026-09-13T05:49:53.9890000Z</dcterms:created>
  <dcterms:modified xsi:type="dcterms:W3CDTF">2026-09-13T05:49:53.9890000Z</dcterms:modified>
</coreProperties>
</file>