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d3fc28536647d0" /><Relationship Type="http://schemas.openxmlformats.org/officeDocument/2006/relationships/extended-properties" Target="/docProps/app.xml" Id="Rde9381bf56cc4dee" /><Relationship Type="http://schemas.openxmlformats.org/officeDocument/2006/relationships/officeDocument" Target="/ppt/presentation.xml" Id="R59c8f88e58c0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e2b620b4924e61"/>
  </p:sldMasterIdLst>
  <p:notesMasterIdLst>
    <p:notesMasterId xmlns:r="http://schemas.openxmlformats.org/officeDocument/2006/relationships" r:id="R36d0b3e7d934449f"/>
  </p:notesMasterIdLst>
  <p:sldIdLst>
    <p:sldId xmlns:r="http://schemas.openxmlformats.org/officeDocument/2006/relationships" id="256" r:id="R93174eb62b874697"/>
    <p:sldId xmlns:r="http://schemas.openxmlformats.org/officeDocument/2006/relationships" id="257" r:id="R42ac5623ac8e4f20"/>
    <p:sldId xmlns:r="http://schemas.openxmlformats.org/officeDocument/2006/relationships" id="258" r:id="R4408417b3d2348a7"/>
    <p:sldId xmlns:r="http://schemas.openxmlformats.org/officeDocument/2006/relationships" id="259" r:id="R31391f87354c481c"/>
    <p:sldId xmlns:r="http://schemas.openxmlformats.org/officeDocument/2006/relationships" id="260" r:id="Rd25d01beb8014ba0"/>
    <p:sldId xmlns:r="http://schemas.openxmlformats.org/officeDocument/2006/relationships" id="261" r:id="R99031e95730a43c5"/>
    <p:sldId xmlns:r="http://schemas.openxmlformats.org/officeDocument/2006/relationships" id="262" r:id="R607fa378a17e4ed7"/>
    <p:sldId xmlns:r="http://schemas.openxmlformats.org/officeDocument/2006/relationships" id="263" r:id="R1009aa13cbad45af"/>
    <p:sldId xmlns:r="http://schemas.openxmlformats.org/officeDocument/2006/relationships" id="264" r:id="R2dbe52144e864dda"/>
    <p:sldId xmlns:r="http://schemas.openxmlformats.org/officeDocument/2006/relationships" id="265" r:id="R0115907596994bfa"/>
    <p:sldId xmlns:r="http://schemas.openxmlformats.org/officeDocument/2006/relationships" id="266" r:id="R7fc5fbf0122046f0"/>
    <p:sldId xmlns:r="http://schemas.openxmlformats.org/officeDocument/2006/relationships" id="267" r:id="R6d6893ff2ce142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2dcf97ccf94253" /><Relationship Type="http://schemas.openxmlformats.org/officeDocument/2006/relationships/slideMaster" Target="/ppt/slideMasters/slideMaster1.xml" Id="R9de2b620b4924e61" /><Relationship Type="http://schemas.openxmlformats.org/officeDocument/2006/relationships/notesMaster" Target="/ppt/notesMasters/notesMaster1.xml" Id="R36d0b3e7d934449f" /><Relationship Type="http://schemas.openxmlformats.org/officeDocument/2006/relationships/presProps" Target="/ppt/presProps.xml" Id="Re259011c411349f5" /><Relationship Type="http://schemas.openxmlformats.org/officeDocument/2006/relationships/tableStyles" Target="/ppt/tableStyles.xml" Id="R45eec73b13d54938" /><Relationship Type="http://schemas.openxmlformats.org/officeDocument/2006/relationships/slide" Target="/ppt/slides/slide1.xml" Id="R93174eb62b874697" /><Relationship Type="http://schemas.openxmlformats.org/officeDocument/2006/relationships/slide" Target="/ppt/slides/slide2.xml" Id="R42ac5623ac8e4f20" /><Relationship Type="http://schemas.openxmlformats.org/officeDocument/2006/relationships/slide" Target="/ppt/slides/slide3.xml" Id="R4408417b3d2348a7" /><Relationship Type="http://schemas.openxmlformats.org/officeDocument/2006/relationships/slide" Target="/ppt/slides/slide4.xml" Id="R31391f87354c481c" /><Relationship Type="http://schemas.openxmlformats.org/officeDocument/2006/relationships/slide" Target="/ppt/slides/slide5.xml" Id="Rd25d01beb8014ba0" /><Relationship Type="http://schemas.openxmlformats.org/officeDocument/2006/relationships/slide" Target="/ppt/slides/slide6.xml" Id="R99031e95730a43c5" /><Relationship Type="http://schemas.openxmlformats.org/officeDocument/2006/relationships/slide" Target="/ppt/slides/slide7.xml" Id="R607fa378a17e4ed7" /><Relationship Type="http://schemas.openxmlformats.org/officeDocument/2006/relationships/slide" Target="/ppt/slides/slide8.xml" Id="R1009aa13cbad45af" /><Relationship Type="http://schemas.openxmlformats.org/officeDocument/2006/relationships/slide" Target="/ppt/slides/slide9.xml" Id="R2dbe52144e864dda" /><Relationship Type="http://schemas.openxmlformats.org/officeDocument/2006/relationships/slide" Target="/ppt/slides/slide10.xml" Id="R0115907596994bfa" /><Relationship Type="http://schemas.openxmlformats.org/officeDocument/2006/relationships/slide" Target="/ppt/slides/slide11.xml" Id="R7fc5fbf0122046f0" /><Relationship Type="http://schemas.openxmlformats.org/officeDocument/2006/relationships/slide" Target="/ppt/slides/slide12.xml" Id="R6d6893ff2ce142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9a02032f164b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66097e29044ea9" /><Relationship Type="http://schemas.openxmlformats.org/officeDocument/2006/relationships/notesMaster" Target="/ppt/notesMasters/notesMaster1.xml" Id="Rd5fc462049fe45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276700ca2c4d20" /><Relationship Type="http://schemas.openxmlformats.org/officeDocument/2006/relationships/notesMaster" Target="/ppt/notesMasters/notesMaster1.xml" Id="R9090abcbb08d44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43e7642dff4b6b" /><Relationship Type="http://schemas.openxmlformats.org/officeDocument/2006/relationships/notesMaster" Target="/ppt/notesMasters/notesMaster1.xml" Id="R0047c3dfa417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dcfbce5cf64354" /><Relationship Type="http://schemas.openxmlformats.org/officeDocument/2006/relationships/notesMaster" Target="/ppt/notesMasters/notesMaster1.xml" Id="Re42d7895f0a044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c9756c9acb439f" /><Relationship Type="http://schemas.openxmlformats.org/officeDocument/2006/relationships/notesMaster" Target="/ppt/notesMasters/notesMaster1.xml" Id="R97881a8b258444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64f0f510e841f0" /><Relationship Type="http://schemas.openxmlformats.org/officeDocument/2006/relationships/notesMaster" Target="/ppt/notesMasters/notesMaster1.xml" Id="R1ae898cd8a3e42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2e60a0dc1643ac" /><Relationship Type="http://schemas.openxmlformats.org/officeDocument/2006/relationships/notesMaster" Target="/ppt/notesMasters/notesMaster1.xml" Id="R3a6b9e1777164d3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0d561694644374" /><Relationship Type="http://schemas.openxmlformats.org/officeDocument/2006/relationships/notesMaster" Target="/ppt/notesMasters/notesMaster1.xml" Id="R6b9f4728037348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cfd380668f4d2a" /><Relationship Type="http://schemas.openxmlformats.org/officeDocument/2006/relationships/notesMaster" Target="/ppt/notesMasters/notesMaster1.xml" Id="R9baf222f129c4e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15fad4f5fb471f" /><Relationship Type="http://schemas.openxmlformats.org/officeDocument/2006/relationships/notesMaster" Target="/ppt/notesMasters/notesMaster1.xml" Id="Rf8fa55d8f9d146b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3dc20a487c94b38" /><Relationship Type="http://schemas.openxmlformats.org/officeDocument/2006/relationships/notesMaster" Target="/ppt/notesMasters/notesMaster1.xml" Id="Rb561bd13ea74456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e050cc1cbed417a" /><Relationship Type="http://schemas.openxmlformats.org/officeDocument/2006/relationships/notesMaster" Target="/ppt/notesMasters/notesMaster1.xml" Id="R80cdfee834dd41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封面使用既有視覺素材。送件主張為公開 Demo 與公開資料示範場景。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活動中心截圖。市場問題來自企畫書與產品需求整理。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本頁為產品定位說明。右側為 Demo LINE 入口截圖。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本頁強調 LINE 生態結合度。Rich Menu 圖檔來自本專案產生素材。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 LIFF 報名與活動中心截圖。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的抽籤與擲筊頁面截圖。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 RAG 與任務型 Agent 架構圖，說明 AI 安全邊界。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本頁使用實際 Demo 後台設定截圖。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本頁使用本專案架構圖。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本頁使用貼圖預覽圖與本輪驗證結果。69/69 後端測試、20/20 公開服務檢查已在本工作區驗證。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本頁區分已完成、待入選後導入與正式送件仍待補項目。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封底維持安全對外說法，提醒外部待補項目。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dce9b0a4b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f3829b6de34566" /><Relationship Type="http://schemas.openxmlformats.org/officeDocument/2006/relationships/slideLayout" Target="/ppt/slideLayouts/slideLayout1.xml" Id="Reee7c8a6fab340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e7c8a6fab340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bfae4502c451f" /><Relationship Type="http://schemas.openxmlformats.org/officeDocument/2006/relationships/image" Target="/ppt/media/image.jpeg" Id="Rcf263adfd5eb49e0" /><Relationship Type="http://schemas.openxmlformats.org/officeDocument/2006/relationships/notesSlide" Target="/ppt/notesSlides/notesSlide1.xml" Id="R4a34290268254e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1df64e0da4f9a" /><Relationship Type="http://schemas.openxmlformats.org/officeDocument/2006/relationships/image" Target="/ppt/media/image.png" Id="Rb43f035168334085" /><Relationship Type="http://schemas.openxmlformats.org/officeDocument/2006/relationships/notesSlide" Target="/ppt/notesSlides/notesSlide2.xml" Id="R2a7f25ab7833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6cb5af0ba4f71" /><Relationship Type="http://schemas.openxmlformats.org/officeDocument/2006/relationships/image" Target="/ppt/media/image2.png" Id="Rc7b95da578fa4b03" /><Relationship Type="http://schemas.openxmlformats.org/officeDocument/2006/relationships/notesSlide" Target="/ppt/notesSlides/notesSlide3.xml" Id="Rf7e58e920bbc46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be7e1a492e474b" /><Relationship Type="http://schemas.openxmlformats.org/officeDocument/2006/relationships/image" Target="/ppt/media/image3.png" Id="R4c5aad07ebbd422f" /><Relationship Type="http://schemas.openxmlformats.org/officeDocument/2006/relationships/notesSlide" Target="/ppt/notesSlides/notesSlide4.xml" Id="R01504f41e75545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222951ee242d5" /><Relationship Type="http://schemas.openxmlformats.org/officeDocument/2006/relationships/image" Target="/ppt/media/image4.png" Id="R1849735d84db4618" /><Relationship Type="http://schemas.openxmlformats.org/officeDocument/2006/relationships/image" Target="/ppt/media/image5.png" Id="R251c5cb261594a0c" /><Relationship Type="http://schemas.openxmlformats.org/officeDocument/2006/relationships/notesSlide" Target="/ppt/notesSlides/notesSlide5.xml" Id="R482228d850264b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086d973514d1e" /><Relationship Type="http://schemas.openxmlformats.org/officeDocument/2006/relationships/image" Target="/ppt/media/image6.png" Id="R7b34135a78604f27" /><Relationship Type="http://schemas.openxmlformats.org/officeDocument/2006/relationships/image" Target="/ppt/media/image7.png" Id="Rc5c52fe8cee74d17" /><Relationship Type="http://schemas.openxmlformats.org/officeDocument/2006/relationships/notesSlide" Target="/ppt/notesSlides/notesSlide6.xml" Id="R701892cafb9b4df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15166488b48ea" /><Relationship Type="http://schemas.openxmlformats.org/officeDocument/2006/relationships/image" Target="/ppt/media/image8.png" Id="Ra73700a997704d53" /><Relationship Type="http://schemas.openxmlformats.org/officeDocument/2006/relationships/notesSlide" Target="/ppt/notesSlides/notesSlide7.xml" Id="R9ad07174db4c4b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3a175d0544d50" /><Relationship Type="http://schemas.openxmlformats.org/officeDocument/2006/relationships/image" Target="/ppt/media/image9.png" Id="R4bf73725e5744ec0" /><Relationship Type="http://schemas.openxmlformats.org/officeDocument/2006/relationships/notesSlide" Target="/ppt/notesSlides/notesSlide8.xml" Id="Re506937efeb444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26961f9c684ec3" /><Relationship Type="http://schemas.openxmlformats.org/officeDocument/2006/relationships/image" Target="/ppt/media/image10.png" Id="R607de57c5ac949f7" /><Relationship Type="http://schemas.openxmlformats.org/officeDocument/2006/relationships/notesSlide" Target="/ppt/notesSlides/notesSlide9.xml" Id="R72e1fca4a8cf4b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1f520e3504a6f" /><Relationship Type="http://schemas.openxmlformats.org/officeDocument/2006/relationships/image" Target="/ppt/media/image11.png" Id="Rc75462c7e17e40d0" /><Relationship Type="http://schemas.openxmlformats.org/officeDocument/2006/relationships/notesSlide" Target="/ppt/notesSlides/notesSlide10.xml" Id="R62a052219e214e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07607db114aab" /><Relationship Type="http://schemas.openxmlformats.org/officeDocument/2006/relationships/image" Target="/ppt/media/image12.png" Id="Rb4e582c09171469c" /><Relationship Type="http://schemas.openxmlformats.org/officeDocument/2006/relationships/notesSlide" Target="/ppt/notesSlides/notesSlide11.xml" Id="R7850d94f3df4426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ab2d4d8d54f88" /><Relationship Type="http://schemas.openxmlformats.org/officeDocument/2006/relationships/image" Target="/ppt/media/image13.png" Id="R3f9054f8294a4275" /><Relationship Type="http://schemas.openxmlformats.org/officeDocument/2006/relationships/image" Target="/ppt/media/image14.png" Id="R9c5f1c6b7bd04c2a" /><Relationship Type="http://schemas.openxmlformats.org/officeDocument/2006/relationships/notesSlide" Target="/ppt/notesSlides/notesSlide12.xml" Id="Rbaa41efabd0b4b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263adfd5eb49e0"/>
          <a:srcRect xmlns:a="http://schemas.openxmlformats.org/drawingml/2006/main" l="388" t="0" r="38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345D4-9239-4FB5-8189-55F6A623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432005-3BBD-4539-97CD-A11D6A31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00600"/>
            <a:ext cx="54102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>
              <a:alpha val="8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C0042B-1307-49DA-8443-2A2CD4C8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2026 LINE AI 創新創業競賽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F94DC-EDE3-482F-A472-6FAB41F6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7685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30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Temple AI 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C2E27-E4C5-4E07-A6DE-38407F920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智慧宮廟 AI 服務入口與數位營運平台</a:t>
            </a:r>
          </a:p>
        </p:txBody>
      </p:sp>
    </p:spTree>
    <p:extLst>
      <p:ext uri="{BB962C8B-B14F-4D97-AF65-F5344CB8AC3E}">
        <p14:creationId xmlns:p14="http://schemas.microsoft.com/office/powerpoint/2010/main" val="1988985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22356A-7182-448C-8498-1ABC429C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P.01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FC774C-4C58-4C64-B83A-646F789B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市場需求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E566D-684F-4EB2-B5D6-5AAB5243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宮廟數位服務缺口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070FA-3BA3-4B4F-8DB6-B09B3BDA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信眾已經在 LINE 裡，宮廟服務仍分散在電話、紙本與現場口耳相傳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28EA09-D4F8-4B1B-8B20-16284532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E3D15-7188-4CA4-AF00-150A0141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584BE-E128-48EA-BDAF-76462B32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99972-F473-4D01-8D64-A60130ADF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87D8E3-A4B0-477D-AF3B-1E40C330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62050"/>
            <a:ext cx="4191000" cy="4381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f035168334085"/>
          <a:srcRect xmlns:a="http://schemas.openxmlformats.org/drawingml/2006/main" l="0" t="33399" r="0" b="333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257300"/>
            <a:ext cx="4000500" cy="41910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2F4C11-809B-4C4F-AF2D-24E009C1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95750"/>
            <a:ext cx="1752600" cy="1200150"/>
          </a:xfrm>
          <a:prstGeom xmlns:a="http://schemas.openxmlformats.org/drawingml/2006/main" prst="roundRect">
            <a:avLst>
              <a:gd name="adj" fmla="val 17460"/>
            </a:avLst>
          </a:prstGeom>
          <a:solidFill xmlns:a="http://schemas.openxmlformats.org/drawingml/2006/main">
            <a:srgbClr val="B9251C">
              <a:alpha val="92000"/>
            </a:srgbClr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319AC1-0816-4BB7-980A-D97FEAC1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32435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核心缺口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A7386C-039C-4970-9A87-4F19BB4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1333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83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入口分散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資料斷裂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志工耗時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8A9948-7853-47C9-A70C-7E7CB7B2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66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797C1-82B8-4613-AFBB-256063404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信眾找不到入口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CED42-7EF2-41EC-BA0B-1B5FECF7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590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參拜規矩、活動資訊、交通與客服分散，第一次到訪者需要有人帶路。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2A94C-188B-4848-9DC2-3F2DD1BB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09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C71BC-F6C8-4A64-9D9D-4C97A24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29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廟方行政重複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4B8B50-171A-4679-A1F9-1ADB00BF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733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報名、通知、查詢與名冊整理仰賴人工，越接近祭典越容易出錯。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7B61AD-9243-44E6-9B79-87F7AA8E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0A8D86-0AC8-4FDF-BB40-C558BB1E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文化知識難延續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0F55A2-801B-4CCF-B65A-A2744C24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87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神明由來、建築故事與儀式禁忌缺少可搜尋、可更新、可審核的數位載體。</a:t>
            </a:r>
          </a:p>
        </p:txBody>
      </p:sp>
    </p:spTree>
    <p:extLst>
      <p:ext uri="{BB962C8B-B14F-4D97-AF65-F5344CB8AC3E}">
        <p14:creationId xmlns:p14="http://schemas.microsoft.com/office/powerpoint/2010/main" val="1489617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2AA7D2-9DD0-4BC9-8420-47F37D6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P.02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727244-19D7-43AE-9315-4CA770FF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產品定位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E2780E-25DE-45D4-A3FF-AB87DCCB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裡的智慧宮廟入口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95FB5E-E899-4510-9F9D-41489FF0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以官方帳號為主入口，把導覽、問答、活動與後台營運連成一條服務路徑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6680D-F4A5-4D56-83CE-871A4BB0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E43C8-BDE1-40F7-88CF-B8EE4309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77C867-94C8-4C74-BB42-3D11EC4E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D18751-0E39-4DEB-86B1-332EAE6E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B473F-935C-4C56-8CE2-283D985C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971550"/>
            <a:ext cx="2819400" cy="54102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95da578fa4b03"/>
          <a:srcRect xmlns:a="http://schemas.openxmlformats.org/drawingml/2006/main" l="0" t="3085" r="0" b="30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066800"/>
            <a:ext cx="2628900" cy="5219700"/>
          </a:xfrm>
          <a:prstGeom xmlns:a="http://schemas.openxmlformats.org/drawingml/2006/main" prst="roundRect">
            <a:avLst>
              <a:gd name="adj" fmla="val 579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187AE-6472-40B8-8AFC-2B757558B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F09650-6D75-4CE3-9ADA-65FEA26F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信眾端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357BB8-7911-40C5-8611-FD987091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掃碼加入後，直接在聊天室進入參拜指南、文化解籤、法會報名、宮廟動態與客服。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72AF72-7516-47EB-A60A-FD172FAD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47900"/>
            <a:ext cx="2762250" cy="1352550"/>
          </a:xfrm>
          <a:prstGeom xmlns:a="http://schemas.openxmlformats.org/drawingml/2006/main" prst="roundRect">
            <a:avLst>
              <a:gd name="adj" fmla="val 14085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A5C82-73B8-4D16-A5D0-FD1C94E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19350"/>
            <a:ext cx="2343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廟方端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D910D4-B588-4E63-917F-E1F35226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8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後台集中管理活動、公告、報名名冊、客服追蹤與知識內容，降低日常行政負擔。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741A6E-867B-45F3-BC68-C96CED84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5829300" cy="125730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4B6E2-C08D-4875-A78A-BFE98768B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95750"/>
            <a:ext cx="5410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文化端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53DDF2-46EC-4AA9-A1ED-BB66D939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76750"/>
            <a:ext cx="54102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把公開文史資料、參拜流程與民俗互動整理為可查詢、可審核、可持續更新的知識庫。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1DA2A8-202D-454D-9B49-B6B0DFCEB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1047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7584BF-1416-4ED0-A44F-F64EDA9B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007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OA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A927D6-0DED-4DDF-871F-9AA5E397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43550"/>
            <a:ext cx="1238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46C34C-2B60-4345-A571-D5F9F8EC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600700"/>
            <a:ext cx="1009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Rich Menu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8E3829-486B-42D6-BF2D-7DA74CBB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43550"/>
            <a:ext cx="8382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396389-51E8-4001-9BDA-E69939ED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007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4DA203-4318-465D-B22A-B8771F06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543550"/>
            <a:ext cx="1466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23D04-53A1-4CF9-BF77-19A89F6D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560070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Messaging API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33B4FC-7411-4B59-B1C9-7ABAA6192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543550"/>
            <a:ext cx="17145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70A501-F57F-427C-BABA-FCDB5D8B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600700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Admin Dashboard</a:t>
            </a:r>
          </a:p>
        </p:txBody>
      </p:sp>
    </p:spTree>
    <p:extLst>
      <p:ext uri="{BB962C8B-B14F-4D97-AF65-F5344CB8AC3E}">
        <p14:creationId xmlns:p14="http://schemas.microsoft.com/office/powerpoint/2010/main" val="12885385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325692-9F30-4FB6-84E5-D3F69F5D8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P.03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2B7EB-236E-461B-97D4-844FD0D3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LINE 生態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2BEDC7-5434-47D5-9EBB-B7CA52E4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官方帳號成為服務大廳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2A828A-A91A-4439-9EE0-A577C70A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負責分流，LIFF 負責表單，Messaging API 負責提醒與回覆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BD156-3B17-41D7-A9E3-3B1EABD2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30E44-93A0-465A-A1DD-53915C91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43F21-3C4C-4DB3-B6FE-CFD9833B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8B2E2-182B-4B93-A424-9EB2CB27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C9735-6A95-49D8-8981-DFA88669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5162550" cy="3543300"/>
          </a:xfrm>
          <a:prstGeom xmlns:a="http://schemas.openxmlformats.org/drawingml/2006/main" prst="roundRect">
            <a:avLst>
              <a:gd name="adj" fmla="val 64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aad07ebbd422f"/>
          <a:srcRect xmlns:a="http://schemas.openxmlformats.org/drawingml/2006/main" l="0" t="5" r="0" b="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209800"/>
            <a:ext cx="4972050" cy="33528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C4A827-0DC7-431B-B831-404A19558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六格入口覆蓋高頻需求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EB5F9B-C0F4-4F01-8BF2-F7D278E9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47900"/>
            <a:ext cx="4476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6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參拜指南、解籤諮詢、法會報名、AI 分析、宮廟動態與客服，全部從同一個 LINE 入口開始。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7ED0FE-A3CC-4265-A529-E6371F1C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57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9D379C-4497-4A7F-9824-C853C78E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766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點選 Rich Menu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BD28B0-F7BD-4142-941E-AFE8AF26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信眾不用記網址，依需求點選圖文選單。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3C6B3-39C1-41C3-A1E0-BAA9BE0E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71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30562-452C-4E34-B2C2-33E4A4FB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開啟 LIFF 或 Flex Message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9681C-EB6B-4731-B613-0B685B19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958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活動與表單保留 LINE 內的使用情境。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3FB94-92EB-4B47-9179-966BE88E1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D1D44-4A9E-45AD-ABDD-44BFE400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回到通知與客服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ACF6D7-F63E-46B8-B09B-E34F6023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410200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報名後可查進度，也能由 Messaging API 發送提醒。</a:t>
            </a:r>
          </a:p>
        </p:txBody>
      </p:sp>
    </p:spTree>
    <p:extLst>
      <p:ext uri="{BB962C8B-B14F-4D97-AF65-F5344CB8AC3E}">
        <p14:creationId xmlns:p14="http://schemas.microsoft.com/office/powerpoint/2010/main" val="186471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920683-0E31-47E0-ABE2-E682106E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P.04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CF42C-B462-40D3-A126-6734EF382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 功能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1EC3F0-57E7-4974-B235-7B37256C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LIFF 活動報名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83E72-B7E5-4D96-A8D0-35687870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聊天室內完成活動瀏覽、資料填寫與提醒勾選，後台同步管理名額與名冊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01CBE-DDC7-4F89-B3EF-394389A6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7339B6-3B74-4011-8262-1EF315B0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315D3F-977B-4D44-8E66-6FB3E82F3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CCE1E6-050F-4B45-81E8-7CFDA25F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553C11-0F38-43D3-9899-553010FF8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85950"/>
            <a:ext cx="2533650" cy="4000500"/>
          </a:xfrm>
          <a:prstGeom xmlns:a="http://schemas.openxmlformats.org/drawingml/2006/main" prst="roundRect">
            <a:avLst>
              <a:gd name="adj" fmla="val 9023"/>
            </a:avLst>
          </a:prstGeom>
          <a:solidFill xmlns:a="http://schemas.openxmlformats.org/drawingml/2006/main">
            <a:srgbClr val="FBF7E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9735d84db4618"/>
          <a:srcRect xmlns:a="http://schemas.openxmlformats.org/drawingml/2006/main" l="0" t="25728" r="0" b="257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90600" y="1981200"/>
            <a:ext cx="2343150" cy="3810000"/>
          </a:xfrm>
          <a:prstGeom xmlns:a="http://schemas.openxmlformats.org/drawingml/2006/main" prst="roundRect">
            <a:avLst>
              <a:gd name="adj" fmla="val 6504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763F97-15C1-457B-8F8B-EACAEF9E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85950"/>
            <a:ext cx="2857500" cy="4000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c5cb261594a0c"/>
          <a:srcRect xmlns:a="http://schemas.openxmlformats.org/drawingml/2006/main" l="0" t="27363" r="0" b="27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10000" y="1981200"/>
            <a:ext cx="2667000" cy="3810000"/>
          </a:xfrm>
          <a:prstGeom xmlns:a="http://schemas.openxmlformats.org/drawingml/2006/main" prst="roundRect">
            <a:avLst>
              <a:gd name="adj" fmla="val 571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186D8F-4987-49DD-B920-1AE5DF6A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87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報名流程收斂成三步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9B9C0-2469-419E-AF15-5E07E3BA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860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F0985-C810-442B-91E7-05385AAE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051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看活動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C86C11-FD2A-4310-874B-EA92B9D41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99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活動中心展示法會、導覽與講堂內容。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0D3AAE-B367-4E2B-98B6-CD38A61F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623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E5C36-229E-4FD2-863D-330952CC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填表單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1B591-AA1C-49B4-ADDA-BAFC0C211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862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姓名、人數、提醒選項在 LIFF 頁面完成。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F75932-D787-4F34-AB5E-D069F77B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4F42D3-D485-408D-B14F-522D0E6D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577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進後台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D569C6-6806-4F56-A703-A4138717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66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報名資料進入後台清冊，廟方可查詢與匯出。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8A1A6A-9042-40C5-9E8B-C525A95B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543550"/>
            <a:ext cx="9144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F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76743E-41AE-48C5-A4CC-E7C36208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6007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LIFF v2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2BAF2F-5C20-47FD-B22E-C5251F312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543550"/>
            <a:ext cx="876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AAD9D-C27F-432D-A3B3-062D3175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60070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React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2DE990-2D76-445E-965F-34EA2658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543550"/>
            <a:ext cx="1066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1627D1-DAC5-472B-8286-07B4E15B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600700"/>
            <a:ext cx="83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0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FastAPI</a:t>
            </a:r>
          </a:p>
        </p:txBody>
      </p:sp>
    </p:spTree>
    <p:extLst>
      <p:ext uri="{BB962C8B-B14F-4D97-AF65-F5344CB8AC3E}">
        <p14:creationId xmlns:p14="http://schemas.microsoft.com/office/powerpoint/2010/main" val="479714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B4E95-826F-4F19-BFCB-DF7F35F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P.05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26BAB-2DB6-4C07-9393-DE08B67A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文化互動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CFA12-0D29-4DCC-89C9-427B073B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抽籤與擲筊變成可理解流程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F7FC7-8D76-4943-8054-D8CD6203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保留民俗儀式的節奏，同時用清楚介面降低第一次使用者的心理門檻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7ECB18-75C8-4DF1-A122-7574D7F4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29F6F-7DCD-414F-AEA0-B19AFE2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347AB-4F2B-4729-B482-6F08A6590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78AD9-A098-432F-B69A-DBBD16F8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4075B-337D-407F-92CA-BB4CD94CB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4135a78604f27"/>
          <a:srcRect xmlns:a="http://schemas.openxmlformats.org/drawingml/2006/main" l="0" t="17851" r="0" b="178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719BA4-8A56-49CA-A4A7-D9A5F621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885950"/>
            <a:ext cx="2552700" cy="41719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52fe8cee74d17"/>
          <a:srcRect xmlns:a="http://schemas.openxmlformats.org/drawingml/2006/main" l="0" t="16932" r="0" b="169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76650" y="1981200"/>
            <a:ext cx="2362200" cy="3981450"/>
          </a:xfrm>
          <a:prstGeom xmlns:a="http://schemas.openxmlformats.org/drawingml/2006/main" prst="roundRect">
            <a:avLst>
              <a:gd name="adj" fmla="val 645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73E3A0-8B47-4DC4-A078-91CF2B08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71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三個安全邊界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3E09E-D4B0-48E8-9D69-EC97F890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432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0A813-69F8-4137-951C-0F941858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146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不斷言吉凶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0724F1-A7BD-4CD8-942B-02663DCE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956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籤詩解讀採正向提醒，避免對人生重大決策做絕對判斷。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3F5FC1-145A-44FD-B0EE-D4986512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3A3A58-882C-46C5-9A42-2CD93782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回到正式窗口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A5DE7-37B8-408A-9ED1-2840832E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815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640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涉及活動、服務與現場細節時，提醒以廟方公告與現場人員為準。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866E7C-037E-484A-B531-A7E21F62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14900"/>
            <a:ext cx="3238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B8E04C-000B-467F-916E-A66CFC04C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863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保留文化語氣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C6BE7E-AC61-4CB5-B44D-27ED266A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46735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4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以白話解釋流程，不把民俗互動包裝成神諭或絕對預測。</a:t>
            </a:r>
          </a:p>
        </p:txBody>
      </p:sp>
    </p:spTree>
    <p:extLst>
      <p:ext uri="{BB962C8B-B14F-4D97-AF65-F5344CB8AC3E}">
        <p14:creationId xmlns:p14="http://schemas.microsoft.com/office/powerpoint/2010/main" val="16027808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3EF6B1-EA52-4429-8E0E-DC34B167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P.06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C6C04E-B15D-4508-88C9-C4576DDB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展示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DF0986-D51E-4AE5-8367-5A91ABFF8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AI 文史問答安全邊界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FA3F9-7A1A-4DC6-AD76-C7DCC25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把公開資料整理成可搜尋知識，讓 AI 回答有依據、有分寸、可被廟方維護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1802A-20EA-4197-A22D-D1912DA1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EB72E-C819-4718-B79E-F17DC212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623D8-746A-47B3-B7EB-1C4E4DCB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DD4FFF-73C2-4F7D-8228-A329280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86B2EF-8025-4DCA-93A6-B3C49715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6381750" cy="25717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700a997704d53"/>
          <a:stretch xmlns:a="http://schemas.openxmlformats.org/drawingml/2006/main"/>
        </p:blipFill>
        <p:spPr>
          <a:xfrm xmlns:a="http://schemas.openxmlformats.org/drawingml/2006/main">
            <a:off x="1213435" y="2152650"/>
            <a:ext cx="5326480" cy="2381250"/>
          </a:xfrm>
          <a:prstGeom xmlns:a="http://schemas.openxmlformats.org/drawingml/2006/main" prst="roundRect">
            <a:avLst>
              <a:gd name="adj" fmla="val 640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00406-776D-46B4-A521-E64CD08A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526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內容治理原則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8A6D1-6459-4E57-B6F6-4E799AE4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D5AFEB-92FB-4FEC-8E81-E7800F89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432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先找資料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79FF1-BA5E-4374-907F-5F8DC7E3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480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以公開文史與服務資料作為回答基礎。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B87A31-7D00-433C-95B8-104845CC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8140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4B6AB-DF53-4955-A20B-CA6B0091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再生成回覆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A62AA2-36FB-491F-995C-B3BA01A47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AI 只回答可追溯內容，降低錯答與幻想風險。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95993CC-33BD-4883-A15E-0A87707C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D5D9AA-00C2-4518-AF6F-F3E2C6D7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5770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保留人工審核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F0AA64-4A09-4F78-A1F1-92D6C649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62500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文化與儀式資料由廟方或維護者更新。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E687FB-E716-4C01-90DA-4ADCCA06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6210300" cy="74295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3196AC-14C4-44B2-B97E-84787DA5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38750"/>
            <a:ext cx="571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07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AI 不扮演神明、不宣稱神諭、不處理醫療投資等敏感決策。這條邊界會直接寫進系統提示詞與安全回覆規則。</a:t>
            </a:r>
          </a:p>
        </p:txBody>
      </p:sp>
    </p:spTree>
    <p:extLst>
      <p:ext uri="{BB962C8B-B14F-4D97-AF65-F5344CB8AC3E}">
        <p14:creationId xmlns:p14="http://schemas.microsoft.com/office/powerpoint/2010/main" val="514923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7B7E51-0B42-430A-BA64-B1F337E23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P.07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9C6A5-8B6B-4F46-AD90-739A665F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EE2AC9-F5B0-451F-BD42-A0533E50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廟務營運後台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6ED2D3-6A42-4327-A951-EAB88246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廟方可自行維護基本資料、公告、活動與服務內容，減少每次都要請工程人員改版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43ADA-5727-45D6-AEFB-88066397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2AA3A-29E9-43A6-BD76-B15D3C9F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E51162-A9B9-4513-A4A5-ECC637DC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8A1F91-A0A3-43CD-AC11-900B7841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C94AD-1BDE-44FF-AA3A-A8B2EE61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24050"/>
            <a:ext cx="6896100" cy="3448050"/>
          </a:xfrm>
          <a:prstGeom xmlns:a="http://schemas.openxmlformats.org/drawingml/2006/main" prst="roundRect">
            <a:avLst>
              <a:gd name="adj" fmla="val 663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f73725e5744ec0"/>
          <a:srcRect xmlns:a="http://schemas.openxmlformats.org/drawingml/2006/main" l="0" t="13565" r="0" b="135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2950" y="2019300"/>
            <a:ext cx="6705600" cy="3257550"/>
          </a:xfrm>
          <a:prstGeom xmlns:a="http://schemas.openxmlformats.org/drawingml/2006/main" prst="roundRect">
            <a:avLst>
              <a:gd name="adj" fmla="val 4678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706E5-FD3C-401F-8CE4-9654DE6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145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即時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BEB7EF-FFAA-46CD-9A86-5ADB8628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670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41E0D-E3E8-431B-BD20-FBDC5E79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003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公告與服務資料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後台更新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A595B-D5E1-403E-89BD-E34741B9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3337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分權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AEDEC-125C-4963-ADA7-92D5559B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8862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4476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D8C34-CB28-40AA-81B2-48FADEB9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195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Admin 與 Staff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操作權限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75442D-DEE9-436C-A7C1-970DBBA5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55295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09D90-FD11-46C5-8BCE-41BE2E90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0540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79A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0A2FE-B11C-4306-9C3E-BF031D6C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23875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登入與異動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便於追蹤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3C77E-A438-43F6-A4D0-0518672A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6286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FFFF">
              <a:alpha val="82000"/>
            </a:srgbClr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96F38-50B0-479F-910D-E36CF4EE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575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00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此頁呈現實際後台設定畫面：廟名、全銜、主祀神祇、開放時段、公告與服務指引可集中維護。</a:t>
            </a:r>
          </a:p>
        </p:txBody>
      </p:sp>
    </p:spTree>
    <p:extLst>
      <p:ext uri="{BB962C8B-B14F-4D97-AF65-F5344CB8AC3E}">
        <p14:creationId xmlns:p14="http://schemas.microsoft.com/office/powerpoint/2010/main" val="6643665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5F154-DEC4-4060-ABAB-7C8B4352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P.08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330D6-73E9-4051-AFC3-0BFD280D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技術架構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BB145-99CF-4169-9A28-3CDA2963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LINE 到資料庫的服務閉環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14579A-6B70-455F-B927-807E8DA21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入口、Webhook、LIFF、後端、資料庫與知識庫都有清楚責任邊界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597BB-C4CC-4EB0-81CF-84AE865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A4EBD-594D-466D-9B9B-1F09F49D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0634FA-15B9-451F-BCF1-7067BC36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4650F-E82B-439C-BF3F-42456A7B7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02EB1-EA66-4ABB-94C9-30DF4F006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972300" cy="3924300"/>
          </a:xfrm>
          <a:prstGeom xmlns:a="http://schemas.openxmlformats.org/drawingml/2006/main" prst="roundRect">
            <a:avLst>
              <a:gd name="adj" fmla="val 5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7de57c5ac949f7"/>
          <a:stretch xmlns:a="http://schemas.openxmlformats.org/drawingml/2006/main"/>
        </p:blipFill>
        <p:spPr>
          <a:xfrm xmlns:a="http://schemas.openxmlformats.org/drawingml/2006/main">
            <a:off x="895350" y="1962150"/>
            <a:ext cx="6400800" cy="3733800"/>
          </a:xfrm>
          <a:prstGeom xmlns:a="http://schemas.openxmlformats.org/drawingml/2006/main" prst="roundRect">
            <a:avLst>
              <a:gd name="adj" fmla="val 408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E5CD3-D7D7-4859-9C03-91B6A4AB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38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0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架構重點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10B97-ACD2-414F-8565-57E636F1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69F9A2-3535-4041-B243-4417C9DD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432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LINE 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10DF59-BB00-4ABC-A669-C7BD52A2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Rich Menu 與 Messaging API 接住高頻服務需求。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3B3F2E-8A54-48A9-B341-A59E520E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3009900" cy="819150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8CE9F4-460D-43CD-919E-3E3ACC9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後端任務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127CA-AA1F-4A60-B5E1-3489B57E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2590800" cy="9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434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FastAPI 負責驗證、資料處理、RAG 與通知流程。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0A6773-4404-4952-AADE-534D5BB7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3009900" cy="971550"/>
          </a:xfrm>
          <a:prstGeom xmlns:a="http://schemas.openxmlformats.org/drawingml/2006/main" prst="roundRect">
            <a:avLst>
              <a:gd name="adj" fmla="val 19608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5FF2F3-EF39-4CCA-A252-C8F4B197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24400"/>
            <a:ext cx="2590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資料治理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5DDE1-79E4-4899-A648-E6EBC9A6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105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57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PostgreSQL 保存使用者、活動與營運資料，知識庫支援文化問答。</a:t>
            </a:r>
          </a:p>
        </p:txBody>
      </p:sp>
    </p:spTree>
    <p:extLst>
      <p:ext uri="{BB962C8B-B14F-4D97-AF65-F5344CB8AC3E}">
        <p14:creationId xmlns:p14="http://schemas.microsoft.com/office/powerpoint/2010/main" val="1438853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4574AB-0C31-4230-BBFB-1E1A68AD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P.09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E5B4C-3CD7-4C08-B8F6-19AEF6E3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商業模式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F27034-9774-4907-AD7B-A78515AA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商業模式與驗證成果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20363-8426-4F0E-8E36-BB89262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以 SaaS 訂閱為基礎，活動模組、客製導入與文創內容提高長期收入彈性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31FD8B-FF39-4956-A1F5-9E7C1E3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5A444-99AF-4896-9D72-386278D8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3B7D0-F32C-4116-9534-14158B56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838F76-4A2F-462D-BCFF-64F66207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50308-772D-43BB-89F8-C65788BB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846007-4EFF-4EB0-B653-EA741A91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基礎訂閱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518CE5-6EB7-431F-BE6F-450CCAEB1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中小型宮廟使用標準化 LINE 入口、AI 問答、活動報名與後台管理。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7B69B8-511F-4623-A8F3-290356FD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717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18DA8-7FB5-48B4-BE31-DBA75D35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3431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客製導入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44E694-3245-40A8-AF82-86679EA30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百年宮廟可擴充專屬文史、科儀流程、導覽內容與後台欄位。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3BC17B-5D26-4CB3-96B5-24A036F8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A1EC83-E8D0-4FC2-BC41-87E278C03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244765"/>
                </a:solidFill>
                <a:latin typeface="Noto Sans TC"/>
                <a:ea typeface="Noto Sans TC"/>
                <a:cs typeface="Noto Sans TC"/>
              </a:rPr>
              <a:t>慶典模組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C98CA7-FC09-4A90-9452-3EB958BC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媽祖誕辰、普度與建醮等高峰活動可啟用報名、通知與排隊能力。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2631FF-DD57-4EA4-A3FF-D4517E49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886200"/>
            <a:ext cx="24765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FF8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AFE4F9-B2CB-4070-BB81-FCA615C2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05765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6815F"/>
                </a:solidFill>
                <a:latin typeface="Noto Sans TC"/>
                <a:ea typeface="Noto Sans TC"/>
                <a:cs typeface="Noto Sans TC"/>
              </a:rPr>
              <a:t>文創延伸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6A9659-BB54-4F07-ACEA-51AB23394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38650"/>
            <a:ext cx="2057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春福小使貼圖與商圈導流，讓文化互動延伸到日常社群。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BC6A9B-AE76-4AED-8619-ECB9AF04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71700"/>
            <a:ext cx="4133850" cy="24574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462c7e17e40d0"/>
          <a:stretch xmlns:a="http://schemas.openxmlformats.org/drawingml/2006/main"/>
        </p:blipFill>
        <p:spPr>
          <a:xfrm xmlns:a="http://schemas.openxmlformats.org/drawingml/2006/main">
            <a:off x="7236619" y="2266950"/>
            <a:ext cx="2995613" cy="2266950"/>
          </a:xfrm>
          <a:prstGeom xmlns:a="http://schemas.openxmlformats.org/drawingml/2006/main" prst="roundRect">
            <a:avLst>
              <a:gd name="adj" fmla="val 6723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28C8B-7E7D-4FAD-BB47-8E40FDB4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38700"/>
            <a:ext cx="4038600" cy="762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92BD13-E3A1-4CC2-9166-49818640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9149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69 / 69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9C991D-EAE1-46E7-96A2-035856B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67350"/>
            <a:ext cx="1352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6C75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635376D-DE61-442A-9C1E-D68D28F7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6007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後端測試通過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AAF629-8E2C-4DD4-A8C0-BA3BDF3C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914900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6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9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20 / 20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3884D1-3CD2-4D14-8B13-124B4557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467350"/>
            <a:ext cx="1543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251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B42BC9-1A7D-4B29-B781-BEB69479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6007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公開服務檢查通過</a:t>
            </a:r>
          </a:p>
        </p:txBody>
      </p:sp>
    </p:spTree>
    <p:extLst>
      <p:ext uri="{BB962C8B-B14F-4D97-AF65-F5344CB8AC3E}">
        <p14:creationId xmlns:p14="http://schemas.microsoft.com/office/powerpoint/2010/main" val="19638169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D2D200-4860-4723-91F0-043BFC723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P.10 / 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B0DB0-4650-4CD4-8885-0536D88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238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1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發展藍圖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425307-C35D-4BB3-A7A8-BEA455AE0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從公開 Demo 到可導入產品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7E31B-B467-469D-9B09-492E3CF4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763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27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目前先交付可體驗 Demo，後續補齊現場硬體互動、正式場域授權與跨廟模板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1BCF73-3BB0-4130-B812-B2361F231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90700"/>
            <a:ext cx="175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925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69D963-BDBD-4763-A0C7-73D37DD1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D8B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CCB8C-BC42-480B-804C-FA51F1F44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5532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Temple AI OS｜2026 LINE AI 創新創業競賽｜公開 Demo 送件版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038E52-1DE3-4A48-A0F4-DD14696F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3848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defRPr>
            </a:pPr>
            <a:r>
              <a:rPr sz="750" b="0">
                <a:solidFill>
                  <a:srgbClr val="8D7A5D"/>
                </a:solidFill>
                <a:latin typeface="Noto Sans TC"/>
                <a:ea typeface="Noto Sans TC"/>
                <a:cs typeface="Noto Sans TC"/>
              </a:rPr>
              <a:t>示範資料採自公開資訊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7087C0-5F19-4406-BF64-95145535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66900"/>
            <a:ext cx="7296150" cy="39433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9DD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e582c09171469c"/>
          <a:stretch xmlns:a="http://schemas.openxmlformats.org/drawingml/2006/main"/>
        </p:blipFill>
        <p:spPr>
          <a:xfrm xmlns:a="http://schemas.openxmlformats.org/drawingml/2006/main">
            <a:off x="751417" y="1962150"/>
            <a:ext cx="7088717" cy="3752850"/>
          </a:xfrm>
          <a:prstGeom xmlns:a="http://schemas.openxmlformats.org/drawingml/2006/main" prst="roundRect">
            <a:avLst>
              <a:gd name="adj" fmla="val 4061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7666DD-6012-4DC1-A988-2DBA4D1F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06C755"/>
                </a:solidFill>
                <a:latin typeface="Noto Sans TC"/>
                <a:ea typeface="Noto Sans TC"/>
                <a:cs typeface="Noto Sans TC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7A8CD-79C3-439C-A469-F48B94175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送件階段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A3E07-FA1D-4F6D-AC81-8A0F4E15B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003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Demo、簡報、影片與測試紀錄完成，評審可先體驗公開服務。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1D290-0BF3-477B-8609-BD9CD006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B9251C"/>
                </a:solidFill>
                <a:latin typeface="Noto Sans TC"/>
                <a:ea typeface="Noto Sans TC"/>
                <a:cs typeface="Noto Sans TC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2EDB5D-8625-4557-9678-DE01454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1242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入選三個月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A1C4BF-86C8-45FE-A831-C42788FC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290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6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補齊現場 QR、NFC 或 Beacon 互動，取得場域授權後再對外宣稱合作導入。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C32C5-F1FB-42EE-99F0-5DDFEC44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005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defRPr>
            </a:pPr>
            <a:r>
              <a:rPr sz="2550" b="1">
                <a:solidFill>
                  <a:srgbClr val="C79A35"/>
                </a:solidFill>
                <a:latin typeface="Noto Sans TC"/>
                <a:ea typeface="Noto Sans TC"/>
                <a:cs typeface="Noto Sans TC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6F4896-1E2B-44E7-A311-F86B26C5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419600"/>
            <a:ext cx="2438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defRPr>
            </a:pPr>
            <a:r>
              <a:rPr sz="1425" b="1">
                <a:solidFill>
                  <a:srgbClr val="1F2933"/>
                </a:solidFill>
                <a:latin typeface="Noto Sans TC"/>
                <a:ea typeface="Noto Sans TC"/>
                <a:cs typeface="Noto Sans TC"/>
              </a:rPr>
              <a:t>一年藍圖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7C0B74-D80C-49BB-AD7A-B32C8037A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724400"/>
            <a:ext cx="243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defRPr>
            </a:pPr>
            <a:r>
              <a:rPr sz="1125" b="0">
                <a:solidFill>
                  <a:srgbClr val="5C6670"/>
                </a:solidFill>
                <a:latin typeface="Noto Sans TC"/>
                <a:ea typeface="Noto Sans TC"/>
                <a:cs typeface="Noto Sans TC"/>
              </a:rPr>
              <a:t>將活動、知識庫、Rich Menu 與後台設定包裝成可複製模板。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17CC8B-4B7C-498F-A504-EA196B0B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524500"/>
            <a:ext cx="3105150" cy="457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FF8E7"/>
          </a:solidFill>
          <a:ln xmlns:a="http://schemas.openxmlformats.org/drawingml/2006/main" w="9525">
            <a:solidFill>
              <a:srgbClr val="D9C8A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E2F67F-F9DD-48D8-9BB9-417114CA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4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20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送件前仍需補 YouTube 連結與簽署文件。</a:t>
            </a:r>
          </a:p>
        </p:txBody>
      </p:sp>
    </p:spTree>
    <p:extLst>
      <p:ext uri="{BB962C8B-B14F-4D97-AF65-F5344CB8AC3E}">
        <p14:creationId xmlns:p14="http://schemas.microsoft.com/office/powerpoint/2010/main" val="15738160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B72A8-3F55-42F5-8556-DB19BA04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1D1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698F8-A81F-47A8-ABD7-7E14F229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7359C-2C28-46F6-AFEE-F9B447D9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1950"/>
            <a:ext cx="2667000" cy="61341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7A1F1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9054f8294a4275"/>
          <a:stretch xmlns:a="http://schemas.openxmlformats.org/drawingml/2006/main"/>
        </p:blipFill>
        <p:spPr>
          <a:xfrm xmlns:a="http://schemas.openxmlformats.org/drawingml/2006/main">
            <a:off x="7962900" y="808775"/>
            <a:ext cx="2476500" cy="5240451"/>
          </a:xfrm>
          <a:prstGeom xmlns:a="http://schemas.openxmlformats.org/drawingml/2006/main" prst="roundRect">
            <a:avLst>
              <a:gd name="adj" fmla="val 923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CAC03-6DA6-4611-ADF1-02F22BF0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619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1">
                <a:solidFill>
                  <a:srgbClr val="7F1D1D"/>
                </a:solidFill>
                <a:latin typeface="Noto Sans TC"/>
                <a:ea typeface="Noto Sans TC"/>
                <a:cs typeface="Noto Sans TC"/>
              </a:rPr>
              <a:t>實際 LINE 入口 Demo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f1c6b7bd04c2a"/>
          <a:stretch xmlns:a="http://schemas.openxmlformats.org/drawingml/2006/main"/>
        </p:blipFill>
        <p:spPr>
          <a:xfrm xmlns:a="http://schemas.openxmlformats.org/drawingml/2006/main">
            <a:off x="876300" y="990600"/>
            <a:ext cx="1104900" cy="1104900"/>
          </a:xfrm>
          <a:prstGeom xmlns:a="http://schemas.openxmlformats.org/drawingml/2006/main" prst="ellipse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4D1A0E-ECAA-4FBD-8C99-44415538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5745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科技賦能信仰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3225" b="1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智慧傳承文化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DE5CCB-1017-4295-806B-6E080BB7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defRPr>
            </a:pPr>
            <a:r>
              <a:rPr sz="1725" b="1">
                <a:solidFill>
                  <a:srgbClr val="FFF1C1"/>
                </a:solidFill>
                <a:latin typeface="Noto Sans TC"/>
                <a:ea typeface="Noto Sans TC"/>
                <a:cs typeface="Noto Sans TC"/>
              </a:rPr>
              <a:t>Temple AI OS 智慧宮廟平台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B45C91-06C5-4391-9164-85789282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495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LINE OA：@983zhzni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公開 Demo：前台、後台、API 已完成基礎驗證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defRPr>
            </a:pPr>
            <a:r>
              <a:rPr sz="1350" b="0">
                <a:solidFill>
                  <a:srgbClr val="FFFFFF"/>
                </a:solidFill>
                <a:latin typeface="Noto Sans TC"/>
                <a:ea typeface="Noto Sans TC"/>
                <a:cs typeface="Noto Sans TC"/>
              </a:rPr>
              <a:t>補件提醒：YouTube 連結與簽署文件需送件前完成</a:t>
            </a:r>
          </a:p>
        </p:txBody>
      </p:sp>
    </p:spTree>
    <p:extLst>
      <p:ext uri="{BB962C8B-B14F-4D97-AF65-F5344CB8AC3E}">
        <p14:creationId xmlns:p14="http://schemas.microsoft.com/office/powerpoint/2010/main" val="2045630625"/>
      </p:ext>
    </p:extLst>
  </p:cSld>
</p:sld>
</file>

<file path=ppt/theme/theme1.xml><?xml version="1.0" encoding="utf-8"?>
<a:theme xmlns:a="http://schemas.openxmlformats.org/drawingml/2006/main" name="ChatGPT">
  <a:themeElements>
    <a:clrScheme name="Temple Editorial">
      <a:dk1>
        <a:srgbClr val="000000"/>
      </a:dk1>
      <a:lt1>
        <a:srgbClr val="FFFFFF"/>
      </a:lt1>
      <a:dk2>
        <a:srgbClr val="1F2933"/>
      </a:dk2>
      <a:lt2>
        <a:srgbClr val="FBF7EF"/>
      </a:lt2>
      <a:accent1>
        <a:srgbClr val="B9251C"/>
      </a:accent1>
      <a:accent2>
        <a:srgbClr val="C79A35"/>
      </a:accent2>
      <a:accent3>
        <a:srgbClr val="06C755"/>
      </a:accent3>
      <a:accent4>
        <a:srgbClr val="244765"/>
      </a:accent4>
      <a:accent5>
        <a:srgbClr val="16815F"/>
      </a:accent5>
      <a:accent6>
        <a:srgbClr val="FFF4D8"/>
      </a:accent6>
      <a:hlink>
        <a:srgbClr val="244765"/>
      </a:hlink>
      <a:folHlink>
        <a:srgbClr val="7F1D1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Temple Editori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2026-09-13T05:53:21.4600000Z</dcterms:created>
  <dcterms:modified xsi:type="dcterms:W3CDTF">2026-09-13T05:53:21.4600000Z</dcterms:modified>
</coreProperties>
</file>