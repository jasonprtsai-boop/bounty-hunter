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a4ebf3994e4776" /><Relationship Type="http://schemas.openxmlformats.org/officeDocument/2006/relationships/extended-properties" Target="/docProps/app.xml" Id="R9cc5b3af46b84c35" /><Relationship Type="http://schemas.openxmlformats.org/officeDocument/2006/relationships/officeDocument" Target="/ppt/presentation.xml" Id="R7cc78f115f4846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ac9794d07e48a6"/>
  </p:sldMasterIdLst>
  <p:notesMasterIdLst>
    <p:notesMasterId xmlns:r="http://schemas.openxmlformats.org/officeDocument/2006/relationships" r:id="Re79eeb450df14d47"/>
  </p:notesMasterIdLst>
  <p:sldIdLst>
    <p:sldId xmlns:r="http://schemas.openxmlformats.org/officeDocument/2006/relationships" id="256" r:id="Ra131a19db77642b5"/>
    <p:sldId xmlns:r="http://schemas.openxmlformats.org/officeDocument/2006/relationships" id="257" r:id="R0e3e06fede944ce3"/>
    <p:sldId xmlns:r="http://schemas.openxmlformats.org/officeDocument/2006/relationships" id="258" r:id="Rbcb2289ddda34f32"/>
    <p:sldId xmlns:r="http://schemas.openxmlformats.org/officeDocument/2006/relationships" id="259" r:id="Raafda332c5f046bb"/>
    <p:sldId xmlns:r="http://schemas.openxmlformats.org/officeDocument/2006/relationships" id="260" r:id="Re26bc6c3465442aa"/>
    <p:sldId xmlns:r="http://schemas.openxmlformats.org/officeDocument/2006/relationships" id="261" r:id="R5603ad2ba1994a09"/>
    <p:sldId xmlns:r="http://schemas.openxmlformats.org/officeDocument/2006/relationships" id="262" r:id="Rf957a69f0de14abe"/>
    <p:sldId xmlns:r="http://schemas.openxmlformats.org/officeDocument/2006/relationships" id="263" r:id="Rcdd1850c852f4720"/>
    <p:sldId xmlns:r="http://schemas.openxmlformats.org/officeDocument/2006/relationships" id="264" r:id="R7015dc92be294928"/>
    <p:sldId xmlns:r="http://schemas.openxmlformats.org/officeDocument/2006/relationships" id="265" r:id="R858268aecaee4668"/>
    <p:sldId xmlns:r="http://schemas.openxmlformats.org/officeDocument/2006/relationships" id="266" r:id="R35531ced267140d8"/>
    <p:sldId xmlns:r="http://schemas.openxmlformats.org/officeDocument/2006/relationships" id="267" r:id="R40baf5289a164b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3122dd17a84e2f" /><Relationship Type="http://schemas.openxmlformats.org/officeDocument/2006/relationships/slideMaster" Target="/ppt/slideMasters/slideMaster1.xml" Id="R4cac9794d07e48a6" /><Relationship Type="http://schemas.openxmlformats.org/officeDocument/2006/relationships/notesMaster" Target="/ppt/notesMasters/notesMaster1.xml" Id="Re79eeb450df14d47" /><Relationship Type="http://schemas.openxmlformats.org/officeDocument/2006/relationships/presProps" Target="/ppt/presProps.xml" Id="Rfa4b9847bbce483f" /><Relationship Type="http://schemas.openxmlformats.org/officeDocument/2006/relationships/tableStyles" Target="/ppt/tableStyles.xml" Id="R7052267686494d1c" /><Relationship Type="http://schemas.openxmlformats.org/officeDocument/2006/relationships/slide" Target="/ppt/slides/slide1.xml" Id="Ra131a19db77642b5" /><Relationship Type="http://schemas.openxmlformats.org/officeDocument/2006/relationships/slide" Target="/ppt/slides/slide2.xml" Id="R0e3e06fede944ce3" /><Relationship Type="http://schemas.openxmlformats.org/officeDocument/2006/relationships/slide" Target="/ppt/slides/slide3.xml" Id="Rbcb2289ddda34f32" /><Relationship Type="http://schemas.openxmlformats.org/officeDocument/2006/relationships/slide" Target="/ppt/slides/slide4.xml" Id="Raafda332c5f046bb" /><Relationship Type="http://schemas.openxmlformats.org/officeDocument/2006/relationships/slide" Target="/ppt/slides/slide5.xml" Id="Re26bc6c3465442aa" /><Relationship Type="http://schemas.openxmlformats.org/officeDocument/2006/relationships/slide" Target="/ppt/slides/slide6.xml" Id="R5603ad2ba1994a09" /><Relationship Type="http://schemas.openxmlformats.org/officeDocument/2006/relationships/slide" Target="/ppt/slides/slide7.xml" Id="Rf957a69f0de14abe" /><Relationship Type="http://schemas.openxmlformats.org/officeDocument/2006/relationships/slide" Target="/ppt/slides/slide8.xml" Id="Rcdd1850c852f4720" /><Relationship Type="http://schemas.openxmlformats.org/officeDocument/2006/relationships/slide" Target="/ppt/slides/slide9.xml" Id="R7015dc92be294928" /><Relationship Type="http://schemas.openxmlformats.org/officeDocument/2006/relationships/slide" Target="/ppt/slides/slide10.xml" Id="R858268aecaee4668" /><Relationship Type="http://schemas.openxmlformats.org/officeDocument/2006/relationships/slide" Target="/ppt/slides/slide11.xml" Id="R35531ced267140d8" /><Relationship Type="http://schemas.openxmlformats.org/officeDocument/2006/relationships/slide" Target="/ppt/slides/slide12.xml" Id="R40baf5289a164b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9c1592300a49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a8ec4cba0045cb" /><Relationship Type="http://schemas.openxmlformats.org/officeDocument/2006/relationships/notesMaster" Target="/ppt/notesMasters/notesMaster1.xml" Id="Rf2c059d379ca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5b8799e234aa1" /><Relationship Type="http://schemas.openxmlformats.org/officeDocument/2006/relationships/notesMaster" Target="/ppt/notesMasters/notesMaster1.xml" Id="R47b09cf780ab45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33981ed6f94cfb" /><Relationship Type="http://schemas.openxmlformats.org/officeDocument/2006/relationships/notesMaster" Target="/ppt/notesMasters/notesMaster1.xml" Id="Rc19f38a4ed6743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caf546da0b4051" /><Relationship Type="http://schemas.openxmlformats.org/officeDocument/2006/relationships/notesMaster" Target="/ppt/notesMasters/notesMaster1.xml" Id="R6a27efd6549c48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624c9e7def4bd8" /><Relationship Type="http://schemas.openxmlformats.org/officeDocument/2006/relationships/notesMaster" Target="/ppt/notesMasters/notesMaster1.xml" Id="R21843ba3d43443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58f1b0a005447e" /><Relationship Type="http://schemas.openxmlformats.org/officeDocument/2006/relationships/notesMaster" Target="/ppt/notesMasters/notesMaster1.xml" Id="R74e3fc6cebe14f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94fe0e8dd84895" /><Relationship Type="http://schemas.openxmlformats.org/officeDocument/2006/relationships/notesMaster" Target="/ppt/notesMasters/notesMaster1.xml" Id="R4e0ea6cbe8614e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0b9e8e2b854ad8" /><Relationship Type="http://schemas.openxmlformats.org/officeDocument/2006/relationships/notesMaster" Target="/ppt/notesMasters/notesMaster1.xml" Id="R8e18516c78ca42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733df17a1d44cf" /><Relationship Type="http://schemas.openxmlformats.org/officeDocument/2006/relationships/notesMaster" Target="/ppt/notesMasters/notesMaster1.xml" Id="R786d8bd1001545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4d82288d84a4c" /><Relationship Type="http://schemas.openxmlformats.org/officeDocument/2006/relationships/notesMaster" Target="/ppt/notesMasters/notesMaster1.xml" Id="Rbd23bd03d32f43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c0b1ec8ed846f0" /><Relationship Type="http://schemas.openxmlformats.org/officeDocument/2006/relationships/notesMaster" Target="/ppt/notesMasters/notesMaster1.xml" Id="Rf47fea5a407a46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d4dc64d79d401f" /><Relationship Type="http://schemas.openxmlformats.org/officeDocument/2006/relationships/notesMaster" Target="/ppt/notesMasters/notesMaster1.xml" Id="R4f405f8a05974f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封面使用既有視覺素材。送件主張為公開 Demo 與公開資料示範場景。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活動中心截圖。市場問題來自企畫書與產品需求整理。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本頁為產品定位說明。右側為 Demo LINE 入口截圖。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本頁強調 LINE 生態結合度。Rich Menu 圖檔來自本專案產生素材。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 LIFF 報名與活動中心截圖。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的抽籤與擲筊頁面截圖。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 RAG 與任務型 Agent 架構圖，說明 AI 安全邊界。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後台設定截圖。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本頁使用本專案架構圖。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本頁使用貼圖預覽圖與本輪驗證結果。69/69 後端測試、20/20 公開服務檢查已在本工作區驗證。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本頁區分已完成、待入選後導入與正式送件仍待補項目。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封底維持安全對外說法，提醒外部待補項目。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ffa72da954d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debaba76a94d36" /><Relationship Type="http://schemas.openxmlformats.org/officeDocument/2006/relationships/slideLayout" Target="/ppt/slideLayouts/slideLayout1.xml" Id="Rf1deb60854f748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eb60854f748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925777b964dd7" /><Relationship Type="http://schemas.openxmlformats.org/officeDocument/2006/relationships/image" Target="/ppt/media/image.jpeg" Id="R38e6a8be048f489c" /><Relationship Type="http://schemas.openxmlformats.org/officeDocument/2006/relationships/notesSlide" Target="/ppt/notesSlides/notesSlide1.xml" Id="R4d9bd85ca7024a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871a868d5842d7" /><Relationship Type="http://schemas.openxmlformats.org/officeDocument/2006/relationships/image" Target="/ppt/media/image.png" Id="R0fd03a9122eb4e71" /><Relationship Type="http://schemas.openxmlformats.org/officeDocument/2006/relationships/notesSlide" Target="/ppt/notesSlides/notesSlide2.xml" Id="Rcc1a49dc25794d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6c0f3698c4c2c" /><Relationship Type="http://schemas.openxmlformats.org/officeDocument/2006/relationships/image" Target="/ppt/media/image2.png" Id="R0fa360d44e2e499a" /><Relationship Type="http://schemas.openxmlformats.org/officeDocument/2006/relationships/notesSlide" Target="/ppt/notesSlides/notesSlide3.xml" Id="Re270fe826979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754d202414680" /><Relationship Type="http://schemas.openxmlformats.org/officeDocument/2006/relationships/image" Target="/ppt/media/image3.png" Id="R14ffb1a8fbfd4445" /><Relationship Type="http://schemas.openxmlformats.org/officeDocument/2006/relationships/notesSlide" Target="/ppt/notesSlides/notesSlide4.xml" Id="R7d57b9bbae5d47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ab604e2674e11" /><Relationship Type="http://schemas.openxmlformats.org/officeDocument/2006/relationships/image" Target="/ppt/media/image4.png" Id="R070b25298f8a48a0" /><Relationship Type="http://schemas.openxmlformats.org/officeDocument/2006/relationships/image" Target="/ppt/media/image5.png" Id="Rb99d54ea3950412d" /><Relationship Type="http://schemas.openxmlformats.org/officeDocument/2006/relationships/notesSlide" Target="/ppt/notesSlides/notesSlide5.xml" Id="Rdbdc31576fa44f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4fbbd76464db8" /><Relationship Type="http://schemas.openxmlformats.org/officeDocument/2006/relationships/image" Target="/ppt/media/image6.png" Id="R66ec248c99314cfa" /><Relationship Type="http://schemas.openxmlformats.org/officeDocument/2006/relationships/image" Target="/ppt/media/image7.png" Id="R098bf28b574c46ff" /><Relationship Type="http://schemas.openxmlformats.org/officeDocument/2006/relationships/notesSlide" Target="/ppt/notesSlides/notesSlide6.xml" Id="R8dd3617cff584f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05555c07345c4" /><Relationship Type="http://schemas.openxmlformats.org/officeDocument/2006/relationships/image" Target="/ppt/media/image8.png" Id="Rfc4ce6f5cc8a4636" /><Relationship Type="http://schemas.openxmlformats.org/officeDocument/2006/relationships/notesSlide" Target="/ppt/notesSlides/notesSlide7.xml" Id="Ra28bc84ffbb842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9a892fa6048e4" /><Relationship Type="http://schemas.openxmlformats.org/officeDocument/2006/relationships/image" Target="/ppt/media/image9.png" Id="R690714b849874450" /><Relationship Type="http://schemas.openxmlformats.org/officeDocument/2006/relationships/notesSlide" Target="/ppt/notesSlides/notesSlide8.xml" Id="R13a6fdf91bad43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9777dbfd24b71" /><Relationship Type="http://schemas.openxmlformats.org/officeDocument/2006/relationships/image" Target="/ppt/media/image10.png" Id="Rc864a12008ac4539" /><Relationship Type="http://schemas.openxmlformats.org/officeDocument/2006/relationships/notesSlide" Target="/ppt/notesSlides/notesSlide9.xml" Id="R62dbf73cb24741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d9ea42874d8a" /><Relationship Type="http://schemas.openxmlformats.org/officeDocument/2006/relationships/image" Target="/ppt/media/image11.png" Id="R988adc0d1ee349f3" /><Relationship Type="http://schemas.openxmlformats.org/officeDocument/2006/relationships/notesSlide" Target="/ppt/notesSlides/notesSlide10.xml" Id="R8b0bd35e33b446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a6ecd2ee8415c" /><Relationship Type="http://schemas.openxmlformats.org/officeDocument/2006/relationships/image" Target="/ppt/media/image12.png" Id="Rc062c091fd634fff" /><Relationship Type="http://schemas.openxmlformats.org/officeDocument/2006/relationships/notesSlide" Target="/ppt/notesSlides/notesSlide11.xml" Id="Rb20e8555acd44d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854504e1c4507" /><Relationship Type="http://schemas.openxmlformats.org/officeDocument/2006/relationships/image" Target="/ppt/media/image2.jpeg" Id="R39970a92bf964b87" /><Relationship Type="http://schemas.openxmlformats.org/officeDocument/2006/relationships/image" Target="/ppt/media/image13.png" Id="Rab7b45456a104962" /><Relationship Type="http://schemas.openxmlformats.org/officeDocument/2006/relationships/notesSlide" Target="/ppt/notesSlides/notesSlide12.xml" Id="Rdcfb57435e244b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6a8be048f489c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C3702-E81B-413E-9252-03E9FA0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79377-4902-49EB-8D09-450287E7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410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F7B1D-93D6-46CF-942A-6F0144A9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2026 LINE AI 創新創業競賽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E4332-EE0C-4F6C-92FD-6B2A03E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Temple AI 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A3F87-7B90-49F1-8322-FE59C6B4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智慧宮廟 AI 服務入口與數位營運平台</a:t>
            </a:r>
          </a:p>
        </p:txBody>
      </p:sp>
    </p:spTree>
    <p:extLst>
      <p:ext uri="{BB962C8B-B14F-4D97-AF65-F5344CB8AC3E}">
        <p14:creationId xmlns:p14="http://schemas.microsoft.com/office/powerpoint/2010/main" val="1186332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3DE00-28CF-4FCE-A5BC-AF9DEE37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1E693-246A-449B-A36D-AB3BEA36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85A5F-ED6B-44FB-99A6-D19EF5C3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宮廟數位服務缺口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64734-CB9A-41EA-B358-EF3869C3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信眾已經在 LINE 裡，宮廟服務仍分散在電話、紙本與現場口耳相傳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B8C00-F60B-4E75-A2D6-3B58119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3D463-B4E3-459E-9461-7207DE33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80B0F-211E-4391-9E77-A8BD442D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3F9C1-568A-4B1D-B49D-579BB18C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5BBFD-6304-4A92-B8A6-7C136C1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62050"/>
            <a:ext cx="4191000" cy="4381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03a9122eb4e71"/>
          <a:srcRect xmlns:a="http://schemas.openxmlformats.org/drawingml/2006/main" l="0" t="33399" r="0" b="3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57300"/>
            <a:ext cx="4000500" cy="41910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5222A-1EE3-4594-A810-701D4C89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7526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B9251C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32424-60E9-4620-8B90-82EDB006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843EE-9E40-4BEB-ADFA-525F5971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入口分散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資料斷裂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志工耗時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917D2-9D57-40C7-879A-305D9A05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E9EBF-9A11-4189-A152-7115C6C7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信眾找不到入口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3E6949-458C-4CA0-AF5A-B4CA102A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參拜規矩、活動資訊、交通與客服分散，第一次到訪者需要有人帶路。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B484E-9B5D-4906-A785-CC64F0CC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505C5-2539-44D0-AA65-F0068B2C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廟方行政重複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0539D6-619D-452C-B8C2-0B4B18A4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報名、通知、查詢與名冊整理仰賴人工，越接近祭典越容易出錯。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44205-C6B7-448F-A14F-525F2BC0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A1B77-64F1-4D1E-B401-1352EEAC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文化知識難延續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F0A40A-6BD7-420D-888C-6CD301BB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神明由來、建築故事與儀式禁忌缺少可搜尋、可更新、可審核的數位載體。</a:t>
            </a:r>
          </a:p>
        </p:txBody>
      </p:sp>
    </p:spTree>
    <p:extLst>
      <p:ext uri="{BB962C8B-B14F-4D97-AF65-F5344CB8AC3E}">
        <p14:creationId xmlns:p14="http://schemas.microsoft.com/office/powerpoint/2010/main" val="144119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182840-C56F-4F93-8FA2-394F5FD8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DD198-D159-47B9-A076-3077B7F9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產品定位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BEA50-690B-4EFF-A5BD-C823E6CF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裡的智慧宮廟入口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E16CD-13B8-4C4E-8466-25B19951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以官方帳號為主入口，把導覽、問答、活動與後台營運連成一條服務路徑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3B4CF-E19A-4236-A66A-46A910E7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8C762-73FE-4658-8662-B4699E6D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D28DF-9E6F-4459-81DC-D748AD2F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C9952-15DA-4D85-9574-EAA68517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798A5-72E6-444A-82B6-42A4C553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71550"/>
            <a:ext cx="2819400" cy="54102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360d44e2e499a"/>
          <a:srcRect xmlns:a="http://schemas.openxmlformats.org/drawingml/2006/main" l="0" t="3085" r="0" b="3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2628900" cy="52197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89610-8D49-4612-BF0C-59BA28D8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CB415-AF8A-4CB6-BB28-28E84778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信眾端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F6227-EE4C-4BD6-94CC-4B531C08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掃碼加入後，直接在聊天室進入參拜指南、文化解籤、法會報名、宮廟動態與客服。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567DF-EF66-4C74-913D-E1EABE6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DA784-F1C1-46DA-B3FA-51A6DA1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廟方端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ABA7A-D7B5-4723-8663-F614E106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後台集中管理活動、公告、報名名冊、客服追蹤與知識內容，降低日常行政負擔。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75FBD-3D21-4BE6-9418-D07DCBC6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8293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83C837-B3BB-4DEF-851D-B48B3B0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文化端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37E08-B695-492D-859D-6D0A871A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41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把公開文史資料、參拜流程與民俗互動整理為可查詢、可審核、可持續更新的知識庫。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A5A0C-9D8C-4D2C-8897-022EF952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E3B0C-3037-441B-9B50-EB9A3A8F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OA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8CAFE-90DF-44F0-880E-EE9C5B3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435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F8E07-B14D-4153-B7ED-859B09EE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Rich Menu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2DC293-B703-4DF0-8B80-A6344AA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435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1A3CB-C9C4-45F2-8643-A45B952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C18FE-451C-40F7-A9D3-56C46A31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597C2-4226-4805-863B-89784A02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00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Messaging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33F50F-6780-473A-A416-E1A9B811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43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3230B-83B3-4A24-995D-4A754AC2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111579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D9003-1F6E-4817-98BB-B6FC06A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A941D-53AC-4411-887C-15CAADA0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LINE 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8A5260-21D4-4B03-BAAC-30C760CE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官方帳號成為服務大廳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230F61-BB84-4CEE-9EF7-1D398D2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負責分流，LIFF 負責表單，Messaging API 負責提醒與回覆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820C1-8B2E-4706-A0C0-BD3B4EB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E7044-F50D-4BB9-8CFC-BA31C0A9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21BB2-2C5F-4A3B-AF3B-C7004E91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FEABE-AC9A-49DB-B059-DDCD39B3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E4B6F-5DBB-41CB-BFB5-7AEE6731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625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fb1a8fbfd4445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09800"/>
            <a:ext cx="4972050" cy="33528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095C5-8B2B-45CF-A6C4-F704FDB6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六格入口覆蓋高頻需求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2376D-00BD-4943-B5FE-80938461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參拜指南、解籤諮詢、法會報名、AI 分析、宮廟動態與客服，全部從同一個 LINE 入口開始。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56A2E-6569-4D05-AF6C-F1F80848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FC885-DB8B-4613-A0EB-E5F9EF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點選 Rich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B99EA-A64F-4027-A6B5-6D428F01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信眾不用記網址，依需求點選圖文選單。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31C27-BA54-43F1-A90F-A1A622B6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DD489-7522-4931-9BA5-5695B68A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開啟 LIFF 或 Flex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A9D31-1576-44D1-BCF3-B718C4C6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活動與表單保留 LINE 內的使用情境。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05DF1-C301-4A86-953D-BFE6C096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B6E71-D978-4E76-9CC5-E42573D0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回到通知與客服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97EE5-640C-4C75-84EB-865039E1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報名後可查進度，也能由 Messaging API 發送提醒。</a:t>
            </a:r>
          </a:p>
        </p:txBody>
      </p:sp>
    </p:spTree>
    <p:extLst>
      <p:ext uri="{BB962C8B-B14F-4D97-AF65-F5344CB8AC3E}">
        <p14:creationId xmlns:p14="http://schemas.microsoft.com/office/powerpoint/2010/main" val="551421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2504F-FC23-4CED-8F9F-01C21026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D7785-2C69-4305-BF77-0BE0FDEF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 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41B52-F4CD-4707-BD9E-C7518C2A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LIFF 活動報名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29ACA-CED9-4F09-AB0B-DB5987C9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聊天室內完成活動瀏覽、資料填寫與提醒勾選，後台同步管理名額與名冊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75801-F0B2-4455-94EE-2077FE6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B4150-465C-432E-A16A-F86EF736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E779E-5409-4E4A-B610-DEFC2E14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B05C5-1C65-48C3-A8DA-10894477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86641-1B87-4172-AF51-D2A33914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04900"/>
            <a:ext cx="3124200" cy="51435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b25298f8a48a0"/>
          <a:srcRect xmlns:a="http://schemas.openxmlformats.org/drawingml/2006/main" l="0" t="24798" r="0" b="247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200150"/>
            <a:ext cx="2933700" cy="4953000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E0359-D049-42AB-8896-669DF03F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71600"/>
            <a:ext cx="3048000" cy="45339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d54ea3950412d"/>
          <a:srcRect xmlns:a="http://schemas.openxmlformats.org/drawingml/2006/main" l="0" t="25914" r="0" b="259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95800" y="1466850"/>
            <a:ext cx="2857500" cy="43434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4F7EE-8FA6-42E1-A3EC-C6F90E02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報名流程收斂成三步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46C63-CC06-4A55-B85C-79051FA7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54D1F-0B78-4DA3-8D86-54B65DA5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看活動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3147C-BBB7-40CB-B5F8-D0A29560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活動中心展示法會、導覽與講堂內容。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24593-4C80-4EB6-919E-52042E18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92689-208E-46C8-B487-24AC15B6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填表單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863CF-B9E2-4B90-BF3A-9E2F5778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姓名、人數、提醒選項在 LIFF 頁面完成。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22EE1-092B-4385-8B31-847CACE1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47F43-B364-40C4-81A4-2BB3B67D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進後台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D81D86-7E40-42E1-943B-554E452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報名資料進入後台清冊，廟方可查詢與匯出。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33C79-FCEA-4D0F-B772-B26C20D5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5D9AF5-0E0D-4DD0-B472-081DA7F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 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8BEC7A-41C9-48B7-9F82-BBC9E77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43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FDDFC-41AF-4614-9A5F-BABC24DD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00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React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BD662-AC51-4D52-BBF3-AD70B7D0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435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61CFD8-2942-4667-BA5F-058D360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00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FastAPI</a:t>
            </a:r>
          </a:p>
        </p:txBody>
      </p:sp>
    </p:spTree>
    <p:extLst>
      <p:ext uri="{BB962C8B-B14F-4D97-AF65-F5344CB8AC3E}">
        <p14:creationId xmlns:p14="http://schemas.microsoft.com/office/powerpoint/2010/main" val="1194295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C9D69-2FCB-40B0-90C1-1B8F7680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81F48-949F-4777-B85D-7366AF7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7D36A-4629-4CCC-A2CD-0D5801EC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抽籤與擲筊變成可理解流程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021EA-3FD7-4378-B280-6926420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保留民俗儀式的節奏，同時用清楚介面降低第一次使用者的心理門檻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E36B2-C174-4142-970A-8E884384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26AD3-55E5-4E2E-8D64-3678AD0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08154-3E33-43BB-989E-29CBC8E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F72EF-6C9E-4101-9DC5-5E5B2BB1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9DDB9-50A1-4963-9EC5-3E8E3019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51435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c248c99314cfa"/>
          <a:srcRect xmlns:a="http://schemas.openxmlformats.org/drawingml/2006/main" l="0" t="15076" r="0" b="150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200150"/>
            <a:ext cx="2705100" cy="495300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38DC4-C64F-44EA-B634-5DBA0039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104900"/>
            <a:ext cx="2895600" cy="51435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bf28b574c46ff"/>
          <a:srcRect xmlns:a="http://schemas.openxmlformats.org/drawingml/2006/main" l="0" t="14078" r="0" b="14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19550" y="1200150"/>
            <a:ext cx="2705100" cy="4953000"/>
          </a:xfrm>
          <a:prstGeom xmlns:a="http://schemas.openxmlformats.org/drawingml/2006/main" prst="roundRect">
            <a:avLst>
              <a:gd name="adj" fmla="val 563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639B5-A6B7-4529-8665-1A802C49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三個安全邊界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0B17A-2DE6-4568-941A-B07ED271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29C4F-98DB-4CE0-9E18-E4EF9368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不斷言吉凶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6B1B9-C0B0-4BB9-864F-5DCE4C49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籤詩解讀採正向提醒，避免對人生重大決策做絕對判斷。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B48F4-19BC-48B1-888C-B7464810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542AE-9AF7-4578-AC70-4DAD5822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回到正式窗口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9F80B-B972-4BFA-B6E9-53E8EE4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涉及活動、服務與現場細節時，提醒以廟方公告與現場人員為準。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C1B08-92BE-4C81-90C8-F5BE1A6A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4CC627-67E1-4E72-8E8F-6EC15BD6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保留文化語氣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5ADF5-0B1B-438E-85AE-DC4C2828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以白話解釋流程，不把民俗互動包裝成神諭或絕對預測。</a:t>
            </a:r>
          </a:p>
        </p:txBody>
      </p:sp>
    </p:spTree>
    <p:extLst>
      <p:ext uri="{BB962C8B-B14F-4D97-AF65-F5344CB8AC3E}">
        <p14:creationId xmlns:p14="http://schemas.microsoft.com/office/powerpoint/2010/main" val="128717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2FA3F-3AB9-4150-8928-3F6ABDEA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9402A-855F-42A1-8D96-453022A0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69B76-A59F-458F-B199-9F22A4E1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AI 文史問答安全邊界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0A324-0A6C-4F35-8123-C35C1E31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把公開資料整理成可搜尋知識，讓 AI 回答有依據、有分寸、可被廟方維護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E190B-2653-4DDC-8C7A-B629C488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F57DB-06B8-42AC-BE9C-F2281C9E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89881-0FF8-4FEF-81F4-06F16E3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653CE-668B-445E-84E0-05D3D281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02E97-C2FF-4F54-835C-08DA3E72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38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ce6f5cc8a4636"/>
          <a:stretch xmlns:a="http://schemas.openxmlformats.org/drawingml/2006/main"/>
        </p:blipFill>
        <p:spPr>
          <a:xfrm xmlns:a="http://schemas.openxmlformats.org/drawingml/2006/main">
            <a:off x="1213435" y="2152650"/>
            <a:ext cx="532648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972C5-A387-4931-BC1E-14844F3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內容治理原則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DEF73-165A-417B-A4F9-E5282355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A1515-08D7-48CA-B0D5-CD253875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先找資料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F978C-9D84-47FD-93CD-04E02A6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以公開文史與服務資料作為回答基礎。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BCB3F-9C9C-482D-9DF3-4F7F53F2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AD7F1-D220-4041-A07B-2410A7F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再生成回覆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CA311-3A90-41B8-84BF-DA79F03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只回答可追溯內容，降低錯答與幻想風險。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55738-8D25-4576-8706-3661BC90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5030B-9CCA-4AC3-92E9-053B660B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保留人工審核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B8BBA-42C3-4654-B0A5-F5CC1162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文化與儀式資料由廟方或維護者更新。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8D36E-883E-4390-A664-98FB9713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62103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B750B-E532-4E1D-80E7-6B90BCA7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AI 不扮演神明、不宣稱神諭、不處理醫療投資等敏感決策。這條邊界會直接寫進系統提示詞與安全回覆規則。</a:t>
            </a:r>
          </a:p>
        </p:txBody>
      </p:sp>
    </p:spTree>
    <p:extLst>
      <p:ext uri="{BB962C8B-B14F-4D97-AF65-F5344CB8AC3E}">
        <p14:creationId xmlns:p14="http://schemas.microsoft.com/office/powerpoint/2010/main" val="8779247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A2535-43A4-4EC2-ACC4-FCDE9FC6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7B7B5-86CD-4756-B157-F556A13E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0B836-E777-4EE4-9AC7-D955C334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廟務營運後台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8C54F-9474-47EA-9987-B784FA5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廟方可自行維護基本資料、公告、活動與服務內容，減少每次都要請工程人員改版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208F2-7A6F-45A7-A155-BBABF96A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91A31-5A54-4C36-9E3F-15CA3018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8E706-F685-41BE-9EFB-99C704AD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21277-03AA-465B-A948-8A4A6D54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78CC1-B10C-42C3-B70C-92815626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6896100" cy="39624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714b849874450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314450"/>
            <a:ext cx="6705600" cy="3771900"/>
          </a:xfrm>
          <a:prstGeom xmlns:a="http://schemas.openxmlformats.org/drawingml/2006/main" prst="roundRect">
            <a:avLst>
              <a:gd name="adj" fmla="val 404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4AD56-7872-45A9-B58F-12DD5797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145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即時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C9E4B-D061-4A1E-9C85-7F68814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56A33-F52B-4315-ADF2-B945B813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公告與服務資料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後台更新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80DA4-BBFE-4ADC-9DB9-86601BAB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9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分權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A8355-D99A-40CB-9FE5-6FE7A21F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23377-DE09-4C59-9993-288D6E0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95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Admin 與 Staff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操作權限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19133-A0AE-40D7-AAE3-EB1E82B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6920A-DF48-4CA1-80D3-A210EBE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768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41977-C92E-48E8-9B84-AF5DBFA2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10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登入與異動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便於追蹤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6B0E9C-3827-479A-89DF-625588AF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6286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AB897-022D-418F-9213-20957A75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此頁呈現實際後台設定畫面：廟名、全銜、主祀神祇、開放時段、公告與服務指引可集中維護。</a:t>
            </a:r>
          </a:p>
        </p:txBody>
      </p:sp>
    </p:spTree>
    <p:extLst>
      <p:ext uri="{BB962C8B-B14F-4D97-AF65-F5344CB8AC3E}">
        <p14:creationId xmlns:p14="http://schemas.microsoft.com/office/powerpoint/2010/main" val="112239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8CF82-F41C-48A4-926D-52D50F3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97301-7753-4883-994C-1EB17480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技術架構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7691D-BF97-4843-AB4D-D7A013E4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到資料庫的服務閉環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5DE1A-3600-470A-9033-9B8B9A3F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入口、Webhook、LIFF、後端、資料庫與知識庫都有清楚責任邊界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E1E1E-D301-47F5-89BC-0720ABF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6025F-BAB1-4265-8EED-A7316C2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53701-8AF5-4A64-96A9-C247A85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FC4AE-C4A1-49F4-A64B-90CD394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6AA8F-2E20-456C-B16C-35AC4D6A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9723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4a12008ac4539"/>
          <a:stretch xmlns:a="http://schemas.openxmlformats.org/drawingml/2006/main"/>
        </p:blipFill>
        <p:spPr>
          <a:xfrm xmlns:a="http://schemas.openxmlformats.org/drawingml/2006/main">
            <a:off x="895350" y="1962150"/>
            <a:ext cx="6400800" cy="37338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CB8E5-0520-42B8-B55A-1D013B44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架構重點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0E213-B097-4286-9157-11F9609B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52690-E261-4414-A540-F90303F5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EFD1D-CA8D-4A89-90B0-B5FB304B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與 Messaging API 接住高頻服務需求。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1E926-43DE-4AEF-BFA5-07799F7A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EE8C7-2619-4AC7-9A51-41282840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後端任務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1DE70C-922E-4439-8336-F0D4FEF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FastAPI 負責驗證、資料處理、RAG 與通知流程。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A71DE-9684-4CF6-A0D8-675D2905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0099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F03FF9-021B-4EC2-A000-2445B637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資料治理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DDD85-7604-4730-A08C-E9B37325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7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PostgreSQL 保存使用者、活動與營運資料，知識庫支援文化問答。</a:t>
            </a:r>
          </a:p>
        </p:txBody>
      </p:sp>
    </p:spTree>
    <p:extLst>
      <p:ext uri="{BB962C8B-B14F-4D97-AF65-F5344CB8AC3E}">
        <p14:creationId xmlns:p14="http://schemas.microsoft.com/office/powerpoint/2010/main" val="574651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843719-3C04-4268-A6EC-2C765C6E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871C1-40D2-4FF3-A644-82B82142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商業模式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FC359-34AF-440A-B1D7-97C46B8D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商業模式與驗證成果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2ED04-D4AE-4AA6-8A38-95BE5CCE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 SaaS 訂閱為基礎，活動模組、客製導入與文創內容提高長期收入彈性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49390-237F-41FC-ABC3-CC67A92D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49D51-7728-4D69-A1D7-E09DF2C1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95158-C888-47CC-81C9-903DE7A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E10BF-3E57-4F2A-8846-46FCB048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1421D-BB53-49BF-AEB6-56829D7E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453E2-ABB2-45BE-B006-B868C7A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基礎訂閱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3B168-3E3F-4FA6-9FA0-0C8F1A2C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中小型宮廟使用標準化 LINE 入口、AI 問答、活動報名與後台管理。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CCD21-E1E0-46B3-8771-2FC5EB74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40378-4ACD-4F0F-87BE-71A685E8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客製導入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8535A-EF0B-44C2-B8DD-E0D6549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百年宮廟可擴充專屬文史、科儀流程、導覽內容與後台欄位。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264CB-18BE-44A7-852D-48AF641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FAB81-A1D3-4DE2-B99E-D8879375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慶典模組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D002D-D81B-4D7A-BC6C-C81775C3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媽祖誕辰、普度與建醮等高峰活動可啟用報名、通知與排隊能力。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76333-BCC5-4F6B-96C7-63685358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40E86-59C3-446B-8E81-5424EC18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rPr>
              <a:t>文創延伸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111A5-AB37-44CE-A146-ACEC9213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春福小使貼圖與商圈導流，讓文化互動延伸到日常社群。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0D48E-1AC3-4333-8435-325DF374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133850" cy="24574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adc0d1ee349f3"/>
          <a:stretch xmlns:a="http://schemas.openxmlformats.org/drawingml/2006/main"/>
        </p:blipFill>
        <p:spPr>
          <a:xfrm xmlns:a="http://schemas.openxmlformats.org/drawingml/2006/main">
            <a:off x="7236619" y="2266950"/>
            <a:ext cx="2995613" cy="2266950"/>
          </a:xfrm>
          <a:prstGeom xmlns:a="http://schemas.openxmlformats.org/drawingml/2006/main" prst="roundRect">
            <a:avLst>
              <a:gd name="adj" fmla="val 672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18C30-15F8-4C9D-8561-57008DA6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0386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D7174-DB2E-4C2D-8851-B33AC220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69 / 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F7FD4-CBE8-4E5C-8D08-1C4A5BB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673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C7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9A2A6-DDEC-4C81-BA16-78BB1464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後端測試通過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1BE02-D386-4E28-A855-2B8DD58A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 / 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FB727-0606-4345-AADA-415E13A7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0BC23A-EF9F-44EB-87CA-07D09C8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公開服務檢查通過</a:t>
            </a:r>
          </a:p>
        </p:txBody>
      </p:sp>
    </p:spTree>
    <p:extLst>
      <p:ext uri="{BB962C8B-B14F-4D97-AF65-F5344CB8AC3E}">
        <p14:creationId xmlns:p14="http://schemas.microsoft.com/office/powerpoint/2010/main" val="470300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966EA-EB10-4BFB-A86C-901C4327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564FA-9203-4720-BFE3-789B837E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發展藍圖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6D5F9-3D5E-44D6-BECF-38E8BD81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從公開 Demo 到可導入產品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BBE33-BF72-4415-B2E2-884D62AC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目前先交付可體驗 Demo，後續補齊現場硬體互動、正式場域授權與跨廟模板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B493D-1A6C-4F0D-BF8F-04AB3949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7186B-F5B7-48E6-87E8-1AD7343A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ED3F4-171C-4D00-8781-F5BB6072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02D7A-5CD7-436E-A990-2658C998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39437-A564-4183-B439-6F458C22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7296150" cy="3943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2c091fd634fff"/>
          <a:stretch xmlns:a="http://schemas.openxmlformats.org/drawingml/2006/main"/>
        </p:blipFill>
        <p:spPr>
          <a:xfrm xmlns:a="http://schemas.openxmlformats.org/drawingml/2006/main">
            <a:off x="751417" y="1962150"/>
            <a:ext cx="7088717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F3BB1-72E9-4C2C-9961-3C29D97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E36C9-D188-4001-8E43-DDE8079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送件階段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5BCD1-B516-4BFC-9CD7-6129D3FD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Demo、簡報、影片與測試紀錄完成，評審可先體驗公開服務。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72493-3605-4533-8F70-F75721B5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CF5A7-603A-4595-BD80-CFD13BD1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入選三個月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B1234-58C2-4535-8735-C9461B53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補齊現場 QR、NFC 或 Beacon 互動，取得正式場域授權後再對外宣稱合作部署。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D24A0-859A-420A-9275-6D61BE7A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2B556-21D9-46CA-A11C-D124041C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一年藍圖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2791B-CE47-4B7C-B4B2-A6C8D1E1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將活動、知識庫、Rich Menu 與後台設定包裝成可複製模板。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217DE-9DB2-47D0-8B78-A525E0A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05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C772F-4F8C-4E6A-84FF-5E40EFB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48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送件前仍需補 YouTube 連結與簽署文件。</a:t>
            </a:r>
          </a:p>
        </p:txBody>
      </p:sp>
    </p:spTree>
    <p:extLst>
      <p:ext uri="{BB962C8B-B14F-4D97-AF65-F5344CB8AC3E}">
        <p14:creationId xmlns:p14="http://schemas.microsoft.com/office/powerpoint/2010/main" val="7982127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883AC-3E7F-4587-A995-CD423636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70a92bf964b87"/>
          <a:srcRect xmlns:a="http://schemas.openxmlformats.org/drawingml/2006/main" l="25581" t="0" r="25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29CAC-1BB1-4D9E-B999-857B2C4D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b45456a104962"/>
          <a:stretch xmlns:a="http://schemas.openxmlformats.org/drawingml/2006/main"/>
        </p:blipFill>
        <p:spPr>
          <a:xfrm xmlns:a="http://schemas.openxmlformats.org/drawingml/2006/main">
            <a:off x="876300" y="9906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3E513-8ADA-44D8-B6B8-73D3C3CF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科技賦能信仰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智慧傳承文化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75CD9-CE82-4BF5-9F95-84C97CB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rPr>
              <a:t>Temple AI OS 智慧宮廟平台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1FDDB-D6B5-4C15-8A91-F5F2EBCC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LINE OA：@983zhzni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 Demo：前台、後台、API 已完成基礎驗證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補件提醒：YouTube 連結與簽署文件需送件前完成</a:t>
            </a:r>
          </a:p>
        </p:txBody>
      </p:sp>
    </p:spTree>
    <p:extLst>
      <p:ext uri="{BB962C8B-B14F-4D97-AF65-F5344CB8AC3E}">
        <p14:creationId xmlns:p14="http://schemas.microsoft.com/office/powerpoint/2010/main" val="916631818"/>
      </p:ext>
    </p:extLst>
  </p:cSld>
</p:sld>
</file>

<file path=ppt/theme/theme1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2026-09-13T05:45:14.3210000Z</dcterms:created>
  <dcterms:modified xsi:type="dcterms:W3CDTF">2026-09-13T05:45:14.3210000Z</dcterms:modified>
</coreProperties>
</file>