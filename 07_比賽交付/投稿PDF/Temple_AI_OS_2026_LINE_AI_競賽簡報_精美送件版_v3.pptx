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9dac05ab9841ec" /><Relationship Type="http://schemas.openxmlformats.org/officeDocument/2006/relationships/extended-properties" Target="/docProps/app.xml" Id="R8a40cce49048406a" /><Relationship Type="http://schemas.openxmlformats.org/officeDocument/2006/relationships/officeDocument" Target="/ppt/presentation.xml" Id="R6d30b8c57b0846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a31678238d478e"/>
  </p:sldMasterIdLst>
  <p:notesMasterIdLst>
    <p:notesMasterId xmlns:r="http://schemas.openxmlformats.org/officeDocument/2006/relationships" r:id="R12a8bda81bc648be"/>
  </p:notesMasterIdLst>
  <p:sldIdLst>
    <p:sldId xmlns:r="http://schemas.openxmlformats.org/officeDocument/2006/relationships" id="256" r:id="Rb18819f339164f4e"/>
    <p:sldId xmlns:r="http://schemas.openxmlformats.org/officeDocument/2006/relationships" id="257" r:id="R110398995fa84f08"/>
    <p:sldId xmlns:r="http://schemas.openxmlformats.org/officeDocument/2006/relationships" id="258" r:id="R6b2f6c4eb99d4f35"/>
    <p:sldId xmlns:r="http://schemas.openxmlformats.org/officeDocument/2006/relationships" id="259" r:id="Rb99d1fb8a03c4f2c"/>
    <p:sldId xmlns:r="http://schemas.openxmlformats.org/officeDocument/2006/relationships" id="260" r:id="Rff8277cce9254763"/>
    <p:sldId xmlns:r="http://schemas.openxmlformats.org/officeDocument/2006/relationships" id="261" r:id="R7a9b684196c24022"/>
    <p:sldId xmlns:r="http://schemas.openxmlformats.org/officeDocument/2006/relationships" id="262" r:id="Rc76daacd5f2646c2"/>
    <p:sldId xmlns:r="http://schemas.openxmlformats.org/officeDocument/2006/relationships" id="263" r:id="R860b0913b9564cee"/>
    <p:sldId xmlns:r="http://schemas.openxmlformats.org/officeDocument/2006/relationships" id="264" r:id="R617990d74a3442ee"/>
    <p:sldId xmlns:r="http://schemas.openxmlformats.org/officeDocument/2006/relationships" id="265" r:id="R89f306323c24464a"/>
    <p:sldId xmlns:r="http://schemas.openxmlformats.org/officeDocument/2006/relationships" id="266" r:id="R880aee10ef8a4dec"/>
    <p:sldId xmlns:r="http://schemas.openxmlformats.org/officeDocument/2006/relationships" id="267" r:id="R84667a63683243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d4ef8977c840fe" /><Relationship Type="http://schemas.openxmlformats.org/officeDocument/2006/relationships/slideMaster" Target="/ppt/slideMasters/slideMaster1.xml" Id="R16a31678238d478e" /><Relationship Type="http://schemas.openxmlformats.org/officeDocument/2006/relationships/notesMaster" Target="/ppt/notesMasters/notesMaster1.xml" Id="R12a8bda81bc648be" /><Relationship Type="http://schemas.openxmlformats.org/officeDocument/2006/relationships/presProps" Target="/ppt/presProps.xml" Id="Rf7a4cc3822e24309" /><Relationship Type="http://schemas.openxmlformats.org/officeDocument/2006/relationships/tableStyles" Target="/ppt/tableStyles.xml" Id="R66075c3a135a490b" /><Relationship Type="http://schemas.openxmlformats.org/officeDocument/2006/relationships/slide" Target="/ppt/slides/slide1.xml" Id="Rb18819f339164f4e" /><Relationship Type="http://schemas.openxmlformats.org/officeDocument/2006/relationships/slide" Target="/ppt/slides/slide2.xml" Id="R110398995fa84f08" /><Relationship Type="http://schemas.openxmlformats.org/officeDocument/2006/relationships/slide" Target="/ppt/slides/slide3.xml" Id="R6b2f6c4eb99d4f35" /><Relationship Type="http://schemas.openxmlformats.org/officeDocument/2006/relationships/slide" Target="/ppt/slides/slide4.xml" Id="Rb99d1fb8a03c4f2c" /><Relationship Type="http://schemas.openxmlformats.org/officeDocument/2006/relationships/slide" Target="/ppt/slides/slide5.xml" Id="Rff8277cce9254763" /><Relationship Type="http://schemas.openxmlformats.org/officeDocument/2006/relationships/slide" Target="/ppt/slides/slide6.xml" Id="R7a9b684196c24022" /><Relationship Type="http://schemas.openxmlformats.org/officeDocument/2006/relationships/slide" Target="/ppt/slides/slide7.xml" Id="Rc76daacd5f2646c2" /><Relationship Type="http://schemas.openxmlformats.org/officeDocument/2006/relationships/slide" Target="/ppt/slides/slide8.xml" Id="R860b0913b9564cee" /><Relationship Type="http://schemas.openxmlformats.org/officeDocument/2006/relationships/slide" Target="/ppt/slides/slide9.xml" Id="R617990d74a3442ee" /><Relationship Type="http://schemas.openxmlformats.org/officeDocument/2006/relationships/slide" Target="/ppt/slides/slide10.xml" Id="R89f306323c24464a" /><Relationship Type="http://schemas.openxmlformats.org/officeDocument/2006/relationships/slide" Target="/ppt/slides/slide11.xml" Id="R880aee10ef8a4dec" /><Relationship Type="http://schemas.openxmlformats.org/officeDocument/2006/relationships/slide" Target="/ppt/slides/slide12.xml" Id="R84667a63683243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59e99456da48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Temple Editorial">
      <a:dk1>
        <a:srgbClr val="000000"/>
      </a:dk1>
      <a:lt1>
        <a:srgbClr val="FFFFFF"/>
      </a:lt1>
      <a:dk2>
        <a:srgbClr val="1F2933"/>
      </a:dk2>
      <a:lt2>
        <a:srgbClr val="FBF7EF"/>
      </a:lt2>
      <a:accent1>
        <a:srgbClr val="B9251C"/>
      </a:accent1>
      <a:accent2>
        <a:srgbClr val="C79A35"/>
      </a:accent2>
      <a:accent3>
        <a:srgbClr val="06C755"/>
      </a:accent3>
      <a:accent4>
        <a:srgbClr val="244765"/>
      </a:accent4>
      <a:accent5>
        <a:srgbClr val="16815F"/>
      </a:accent5>
      <a:accent6>
        <a:srgbClr val="FFF4D8"/>
      </a:accent6>
      <a:hlink>
        <a:srgbClr val="244765"/>
      </a:hlink>
      <a:folHlink>
        <a:srgbClr val="7F1D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mple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e0a71d576c4a54" /><Relationship Type="http://schemas.openxmlformats.org/officeDocument/2006/relationships/notesMaster" Target="/ppt/notesMasters/notesMaster1.xml" Id="R9d5d9250c17848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eec0b485fc47b2" /><Relationship Type="http://schemas.openxmlformats.org/officeDocument/2006/relationships/notesMaster" Target="/ppt/notesMasters/notesMaster1.xml" Id="Rdf1503d7be1c4a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6c150af2aad49b2" /><Relationship Type="http://schemas.openxmlformats.org/officeDocument/2006/relationships/notesMaster" Target="/ppt/notesMasters/notesMaster1.xml" Id="Ra5c40610cdb54c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39a9b163eb42b1" /><Relationship Type="http://schemas.openxmlformats.org/officeDocument/2006/relationships/notesMaster" Target="/ppt/notesMasters/notesMaster1.xml" Id="R9133cf2c5be644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a961b9edbc4ca6" /><Relationship Type="http://schemas.openxmlformats.org/officeDocument/2006/relationships/notesMaster" Target="/ppt/notesMasters/notesMaster1.xml" Id="Rfda43eec2e9a47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72d0dd5c01e4186" /><Relationship Type="http://schemas.openxmlformats.org/officeDocument/2006/relationships/notesMaster" Target="/ppt/notesMasters/notesMaster1.xml" Id="R531a9b07c97247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e4d3fa9bcc4cb3" /><Relationship Type="http://schemas.openxmlformats.org/officeDocument/2006/relationships/notesMaster" Target="/ppt/notesMasters/notesMaster1.xml" Id="R256f429e09ad46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0f0114dffa4548" /><Relationship Type="http://schemas.openxmlformats.org/officeDocument/2006/relationships/notesMaster" Target="/ppt/notesMasters/notesMaster1.xml" Id="Re6feca80172f4e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67f9e024d9427f" /><Relationship Type="http://schemas.openxmlformats.org/officeDocument/2006/relationships/notesMaster" Target="/ppt/notesMasters/notesMaster1.xml" Id="R08c58163100749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58112de9b24540" /><Relationship Type="http://schemas.openxmlformats.org/officeDocument/2006/relationships/notesMaster" Target="/ppt/notesMasters/notesMaster1.xml" Id="Rb762f9c0e6904c8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5960712a8342d5" /><Relationship Type="http://schemas.openxmlformats.org/officeDocument/2006/relationships/notesMaster" Target="/ppt/notesMasters/notesMaster1.xml" Id="Ra23804e36a4c47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bf10c151934cad" /><Relationship Type="http://schemas.openxmlformats.org/officeDocument/2006/relationships/notesMaster" Target="/ppt/notesMasters/notesMaster1.xml" Id="R5c067d43fc544e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封面使用既有視覺素材。送件主張為公開 Demo 與公開資料示範場景。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本頁使用實際 Demo 活動中心截圖。市場問題來自企畫書與產品需求整理。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本頁為產品定位說明。右側為 Demo LINE 入口截圖。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本頁強調 LINE 生態結合度。Rich Menu 圖檔來自本專案產生素材。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本頁使用實際 Demo 的 LIFF 報名與活動中心截圖。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本頁使用實際 Demo 的抽籤與擲筊頁面截圖。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本頁使用本專案 RAG 與任務型 Agent 架構圖，說明 AI 安全邊界。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本頁使用實際 Demo 後台設定截圖。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本頁使用本專案架構圖。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本頁使用貼圖預覽圖與本輪驗證結果。69/69 後端測試、20/20 公開服務檢查已在本工作區驗證。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本頁區分已完成、待入選後導入與正式送件仍待補項目。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封底維持安全對外說法，提醒外部待補項目。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8e0327c6d341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21cf7221d04af5" /><Relationship Type="http://schemas.openxmlformats.org/officeDocument/2006/relationships/slideLayout" Target="/ppt/slideLayouts/slideLayout1.xml" Id="R71d25bfbabdd40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d25bfbabdd40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Temple Editorial">
      <a:dk1>
        <a:srgbClr val="000000"/>
      </a:dk1>
      <a:lt1>
        <a:srgbClr val="FFFFFF"/>
      </a:lt1>
      <a:dk2>
        <a:srgbClr val="1F2933"/>
      </a:dk2>
      <a:lt2>
        <a:srgbClr val="FBF7EF"/>
      </a:lt2>
      <a:accent1>
        <a:srgbClr val="B9251C"/>
      </a:accent1>
      <a:accent2>
        <a:srgbClr val="C79A35"/>
      </a:accent2>
      <a:accent3>
        <a:srgbClr val="06C755"/>
      </a:accent3>
      <a:accent4>
        <a:srgbClr val="244765"/>
      </a:accent4>
      <a:accent5>
        <a:srgbClr val="16815F"/>
      </a:accent5>
      <a:accent6>
        <a:srgbClr val="FFF4D8"/>
      </a:accent6>
      <a:hlink>
        <a:srgbClr val="244765"/>
      </a:hlink>
      <a:folHlink>
        <a:srgbClr val="7F1D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mple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7baae49e0a474a" /><Relationship Type="http://schemas.openxmlformats.org/officeDocument/2006/relationships/image" Target="/ppt/media/image.jpeg" Id="R624d6ed2956e413e" /><Relationship Type="http://schemas.openxmlformats.org/officeDocument/2006/relationships/notesSlide" Target="/ppt/notesSlides/notesSlide1.xml" Id="Ra1b0a1fcfa7b4c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127caed814831" /><Relationship Type="http://schemas.openxmlformats.org/officeDocument/2006/relationships/image" Target="/ppt/media/image.png" Id="Rfba648c31cbb493e" /><Relationship Type="http://schemas.openxmlformats.org/officeDocument/2006/relationships/notesSlide" Target="/ppt/notesSlides/notesSlide2.xml" Id="R59fbc66768a34e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a218de679494d" /><Relationship Type="http://schemas.openxmlformats.org/officeDocument/2006/relationships/image" Target="/ppt/media/image2.png" Id="Re19cd5e2a4e74ee6" /><Relationship Type="http://schemas.openxmlformats.org/officeDocument/2006/relationships/notesSlide" Target="/ppt/notesSlides/notesSlide3.xml" Id="R26cf87ea4dbe4f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5a0e5ab004078" /><Relationship Type="http://schemas.openxmlformats.org/officeDocument/2006/relationships/image" Target="/ppt/media/image3.png" Id="R9812678daea64238" /><Relationship Type="http://schemas.openxmlformats.org/officeDocument/2006/relationships/notesSlide" Target="/ppt/notesSlides/notesSlide4.xml" Id="R67ad8371561b422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7e74fd81444b0" /><Relationship Type="http://schemas.openxmlformats.org/officeDocument/2006/relationships/image" Target="/ppt/media/image4.png" Id="R7eba45b8fb1d48b5" /><Relationship Type="http://schemas.openxmlformats.org/officeDocument/2006/relationships/image" Target="/ppt/media/image5.png" Id="R514f8ca698fe427d" /><Relationship Type="http://schemas.openxmlformats.org/officeDocument/2006/relationships/notesSlide" Target="/ppt/notesSlides/notesSlide5.xml" Id="R949aa001f55c40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583f4620449cd" /><Relationship Type="http://schemas.openxmlformats.org/officeDocument/2006/relationships/image" Target="/ppt/media/image6.png" Id="Rfc81de1d77b4443c" /><Relationship Type="http://schemas.openxmlformats.org/officeDocument/2006/relationships/image" Target="/ppt/media/image7.png" Id="R26435f4334d044a6" /><Relationship Type="http://schemas.openxmlformats.org/officeDocument/2006/relationships/notesSlide" Target="/ppt/notesSlides/notesSlide6.xml" Id="Rbe68b6b97e1845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e2328c37e4b5f" /><Relationship Type="http://schemas.openxmlformats.org/officeDocument/2006/relationships/image" Target="/ppt/media/image8.png" Id="R67c5f31ad27e4f74" /><Relationship Type="http://schemas.openxmlformats.org/officeDocument/2006/relationships/notesSlide" Target="/ppt/notesSlides/notesSlide7.xml" Id="R30e52aadc8e44c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0dacd644e473a" /><Relationship Type="http://schemas.openxmlformats.org/officeDocument/2006/relationships/image" Target="/ppt/media/image9.png" Id="R9ca86a0d744c4ad5" /><Relationship Type="http://schemas.openxmlformats.org/officeDocument/2006/relationships/notesSlide" Target="/ppt/notesSlides/notesSlide8.xml" Id="Ra813377a039742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ed5cd93464137" /><Relationship Type="http://schemas.openxmlformats.org/officeDocument/2006/relationships/image" Target="/ppt/media/image10.png" Id="R49f5491b8f124494" /><Relationship Type="http://schemas.openxmlformats.org/officeDocument/2006/relationships/notesSlide" Target="/ppt/notesSlides/notesSlide9.xml" Id="Rfa5be716013b45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708de59184f99" /><Relationship Type="http://schemas.openxmlformats.org/officeDocument/2006/relationships/image" Target="/ppt/media/image11.png" Id="R1907c4384ff846f4" /><Relationship Type="http://schemas.openxmlformats.org/officeDocument/2006/relationships/notesSlide" Target="/ppt/notesSlides/notesSlide10.xml" Id="R96eb03f4ca0046f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ac29f796942cd" /><Relationship Type="http://schemas.openxmlformats.org/officeDocument/2006/relationships/image" Target="/ppt/media/image12.png" Id="R00245c99b3a2417c" /><Relationship Type="http://schemas.openxmlformats.org/officeDocument/2006/relationships/notesSlide" Target="/ppt/notesSlides/notesSlide11.xml" Id="R5f12d32a8f2344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c6521372b4e18" /><Relationship Type="http://schemas.openxmlformats.org/officeDocument/2006/relationships/image" Target="/ppt/media/image13.png" Id="R0772e8ff24d74826" /><Relationship Type="http://schemas.openxmlformats.org/officeDocument/2006/relationships/image" Target="/ppt/media/image14.png" Id="R25b92980c9074cde" /><Relationship Type="http://schemas.openxmlformats.org/officeDocument/2006/relationships/notesSlide" Target="/ppt/notesSlides/notesSlide12.xml" Id="R53ce4e2438ff4b5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d6ed2956e413e"/>
          <a:srcRect xmlns:a="http://schemas.openxmlformats.org/drawingml/2006/main" l="388" t="0" r="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570C14-A874-4BBA-AFDE-F265DDD2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0ABC8-FF6E-4130-A3E9-CCAE6ACF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5410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328E7-84A8-4B39-A2A7-72761AC6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2026 LINE AI 創新創業競賽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0EF7B-4DFD-496A-8AFD-9C3BAFF7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307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Temple AI 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7FCFA-8781-4DF3-B2F6-2969BB54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智慧宮廟 AI 服務入口與數位營運平台</a:t>
            </a:r>
          </a:p>
        </p:txBody>
      </p:sp>
    </p:spTree>
    <p:extLst>
      <p:ext uri="{BB962C8B-B14F-4D97-AF65-F5344CB8AC3E}">
        <p14:creationId xmlns:p14="http://schemas.microsoft.com/office/powerpoint/2010/main" val="4307099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3F0D90-1BF0-4CF9-B375-4B021BEE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P.01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4C500C-F587-43C6-A316-02713DAD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市場需求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4A87F-F407-41F2-ADDE-4E519758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宮廟數位服務缺口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B44C3-12BB-46FA-978F-F5453A2A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信眾已經在 LINE 裡，宮廟服務仍分散在電話、紙本與現場口耳相傳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3FCDE-1BBA-4C7E-AE37-0D0EAD1D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FCB8F-65C8-4B7B-A027-20D38734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D0065-978A-491A-9F49-4376B251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2E9CC-A041-4943-A774-C97A938D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2324D-B56B-43BD-BE66-E7039432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62050"/>
            <a:ext cx="4191000" cy="4381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648c31cbb493e"/>
          <a:srcRect xmlns:a="http://schemas.openxmlformats.org/drawingml/2006/main" l="0" t="33399" r="0" b="333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257300"/>
            <a:ext cx="4000500" cy="41910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EB938-C7A7-4C93-B05A-7838EA1C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95750"/>
            <a:ext cx="175260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B9251C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77361F-7B70-49D6-8394-6DC9150A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243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核心缺口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10C3B-C6BF-400C-91A6-639531E5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6291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3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入口分散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資料斷裂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志工耗時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16B9A7-4D4F-4108-8118-944C1DC4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162912-61C9-4152-842A-C1E40486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86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信眾找不到入口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2E365-FF8B-43E5-BBE9-358C51C1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90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參拜規矩、活動資訊、交通與客服分散，第一次到訪者需要有人帶路。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2B203-0EFB-4F26-ADD3-725C1125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25413D-04F2-4CD0-8C08-12F22607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29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廟方行政重複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6B0406-A9D6-4A43-A8F7-1E413A64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33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報名、通知、查詢與名冊整理仰賴人工，越接近祭典越容易出錯。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B6C57F-7679-4A2A-9749-F05391D1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5B3489-F034-4D8A-8C12-BE93C0C3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72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文化知識難延續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107085-7D9B-45CD-8A4A-30690D49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76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神明由來、建築故事與儀式禁忌缺少可搜尋、可更新、可審核的數位載體。</a:t>
            </a:r>
          </a:p>
        </p:txBody>
      </p:sp>
    </p:spTree>
    <p:extLst>
      <p:ext uri="{BB962C8B-B14F-4D97-AF65-F5344CB8AC3E}">
        <p14:creationId xmlns:p14="http://schemas.microsoft.com/office/powerpoint/2010/main" val="391761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304AD9-8381-4A50-82CF-88FB793E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P.02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956C0-101B-4BAF-AC8B-AFAD0452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產品定位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07C28-5C6F-4C4C-9D1F-6342E826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LINE 裡的智慧宮廟入口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B199B-AB39-40CD-9320-E59ADE36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以官方帳號為主入口，把導覽、問答、活動與後台營運連成一條服務路徑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988D38-9328-4ADF-A7C0-8B0F0723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9F545-E7FC-40C8-BBEB-A7763C6F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13145-BA89-495F-8439-7FA11CE56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9113E-00A3-4E72-B9B1-3E3857B1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24DDB-3EF9-49C9-89D4-0A15ADBB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71550"/>
            <a:ext cx="2819400" cy="54102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9cd5e2a4e74ee6"/>
          <a:srcRect xmlns:a="http://schemas.openxmlformats.org/drawingml/2006/main" l="0" t="3085" r="0" b="30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066800"/>
            <a:ext cx="2628900" cy="5219700"/>
          </a:xfrm>
          <a:prstGeom xmlns:a="http://schemas.openxmlformats.org/drawingml/2006/main" prst="roundRect">
            <a:avLst>
              <a:gd name="adj" fmla="val 579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14519-3828-44B5-A419-6C5296DC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762250" cy="1352550"/>
          </a:xfrm>
          <a:prstGeom xmlns:a="http://schemas.openxmlformats.org/drawingml/2006/main" prst="roundRect">
            <a:avLst>
              <a:gd name="adj" fmla="val 14085"/>
            </a:avLst>
          </a:prstGeom>
          <a:solidFill xmlns:a="http://schemas.openxmlformats.org/drawingml/2006/main">
            <a:srgbClr val="F2FF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A2CB81-2A0A-4EC9-909E-788E536D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信眾端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A438F-8E7C-423D-8C9F-A5AE07B3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掃碼加入後，直接在聊天室進入參拜指南、文化解籤、法會報名、宮廟動態與客服。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2A445D-90F8-49F8-962A-A1B9806F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47900"/>
            <a:ext cx="2762250" cy="1352550"/>
          </a:xfrm>
          <a:prstGeom xmlns:a="http://schemas.openxmlformats.org/drawingml/2006/main" prst="roundRect">
            <a:avLst>
              <a:gd name="adj" fmla="val 140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48B49F-4259-402E-99B8-66080F66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193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廟方端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36CC7-9528-469B-92E6-5A0B4240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後台集中管理活動、公告、報名名冊、客服追蹤與知識內容，降低日常行政負擔。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420CC-FEF6-442F-B73C-F6984BE2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582930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91B482-1C75-48E9-B5F9-4769C6D3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541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文化端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E54BCF-2180-42F8-BE09-DA568888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541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把公開文史資料、參拜流程與民俗互動整理為可查詢、可審核、可持續更新的知識庫。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E9BFF5-2B92-40FC-8683-617AF7CA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104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C5AC24-B569-40C3-BC2D-28FD65EC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00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LINE OA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700A83-C359-4C97-9CA8-9A880FC7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4355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2AD667-381A-486D-9A25-DA699650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007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Rich Menu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8C7540-D5FE-4C75-A27A-70276985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43550"/>
            <a:ext cx="83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67E812-4CE8-4CFB-99BB-848083CB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007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LIFF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4D11EF-3F59-4DCF-9130-0F3953F2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43550"/>
            <a:ext cx="1466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C21906-16D4-495D-95C6-4F9B24B7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00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Messaging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4F68D2-3253-4159-9E0E-99FECF22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435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048CD8-D26E-4D41-AA39-F0E9309A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6007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Admin Dashboard</a:t>
            </a:r>
          </a:p>
        </p:txBody>
      </p:sp>
    </p:spTree>
    <p:extLst>
      <p:ext uri="{BB962C8B-B14F-4D97-AF65-F5344CB8AC3E}">
        <p14:creationId xmlns:p14="http://schemas.microsoft.com/office/powerpoint/2010/main" val="835702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852B85-33BB-4EEE-91CE-84D44E40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P.03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BC30E-B5D7-4992-AEF1-525AB3E4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LINE 生態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00A19-9FC8-4F74-A39B-7A071859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官方帳號成為服務大廳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87554-DF62-41EB-BD96-6F129FA9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Rich Menu 負責分流，LIFF 負責表單，Messaging API 負責提醒與回覆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346A4-61D8-45BA-8587-7C53A496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B2D4E-2EF8-4583-B57B-87EA0714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4345E-A12E-4DB3-8E93-F486F7A4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C2413-D90A-4D46-8BB4-49E19C091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AE9CD-D758-476C-872C-75263468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162550" cy="35433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12678daea64238"/>
          <a:srcRect xmlns:a="http://schemas.openxmlformats.org/drawingml/2006/main" l="0" t="5" r="0" b="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209800"/>
            <a:ext cx="4972050" cy="33528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EE9562-107D-4495-B4FC-FB135F97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六格入口覆蓋高頻需求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1BD139-A387-4424-8FE1-62A2E77A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7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參拜指南、解籤諮詢、法會報名、AI 分析、宮廟動態與客服，全部從同一個 LINE 入口開始。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592CD-36B4-4732-80F5-ABD1B3ED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5E87D-7D2A-4BE4-BDEE-EE127D62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766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點選 Rich Menu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F2B95-5969-4D80-B1B1-49694515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814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信眾不用記網址，依需求點選圖文選單。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93D852-F939-4FB7-815A-6EFD97CC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7BD925-12AB-4EF8-9E51-C516AF96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開啟 LIFF 或 Flex Message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B00BFC-3301-4449-996C-0CA3E473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958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活動與表單保留 LINE 內的使用情境。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CD28DA-B7CA-464E-BE73-858378C7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863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F274FA-91AE-40B7-BC20-50952D56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054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回到通知與客服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7F4528-B51C-4EF4-8A34-E70C3AD2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102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報名後可查進度，也能由 Messaging API 發送提醒。</a:t>
            </a:r>
          </a:p>
        </p:txBody>
      </p:sp>
    </p:spTree>
    <p:extLst>
      <p:ext uri="{BB962C8B-B14F-4D97-AF65-F5344CB8AC3E}">
        <p14:creationId xmlns:p14="http://schemas.microsoft.com/office/powerpoint/2010/main" val="3468045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E56AC9-C274-4A09-9142-970B0C4D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P.04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5E475-46AC-4C15-9566-E15173AF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Demo 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0E38B-5904-4F73-A09A-1950B3B6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LIFF 活動報名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DBA6D-952A-4655-98F4-C5365C00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聊天室內完成活動瀏覽、資料填寫與提醒勾選，後台同步管理名額與名冊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E8219-A3E9-4E9A-A6B0-D24DC795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14F2C-9CE1-4A44-9FCA-A9066D5D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0CD60-1EDF-4ACE-AB58-676E3337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61852-07F7-4A43-B9C5-76733C11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77868-6E10-4ACB-8567-6559B2D3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533650" cy="4000500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a45b8fb1d48b5"/>
          <a:srcRect xmlns:a="http://schemas.openxmlformats.org/drawingml/2006/main" l="0" t="25728" r="0" b="257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600" y="1981200"/>
            <a:ext cx="2343150" cy="3810000"/>
          </a:xfrm>
          <a:prstGeom xmlns:a="http://schemas.openxmlformats.org/drawingml/2006/main" prst="roundRect">
            <a:avLst>
              <a:gd name="adj" fmla="val 650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FB984-221D-42CC-A1B3-98370554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85950"/>
            <a:ext cx="2857500" cy="4000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f8ca698fe427d"/>
          <a:srcRect xmlns:a="http://schemas.openxmlformats.org/drawingml/2006/main" l="0" t="27363" r="0" b="273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0" y="1981200"/>
            <a:ext cx="2667000" cy="38100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42EFE0-0C81-48C3-B597-1E00CFF4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報名流程收斂成三步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450364-36FC-48A4-BF3A-739682D9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860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682095-9FD1-44AB-9E41-763AE580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05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看活動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D96FD5-EAC0-40D8-9567-702097DC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99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活動中心展示法會、導覽與講堂內容。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8DE7F2-2229-4B83-BBF3-26D9CD5A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623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37E27-51A9-46C8-9C62-CAB759E2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填表單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5A5177-9803-4678-9A0A-DE0DDF34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862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姓名、人數、提醒選項在 LIFF 頁面完成。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46D484-3F15-4322-9618-C897A22C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38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8652C8-B38E-4492-9555-6E4854E4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57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進後台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22F357-4C40-4C7F-8118-78F7B6E1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報名資料進入後台清冊，廟方可查詢與匯出。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9139BF-A785-4896-A6D8-B153AE69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43550"/>
            <a:ext cx="91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8526CF-583D-4528-8AA4-20950D11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6007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LIFF v2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56E8D5-306C-4783-B6D1-888F281A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4355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7AD79F-E677-4A50-91CD-501A175C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600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React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B66EBF-B990-4A2F-BB65-FFB89B8F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5435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20DC2B-ABFE-4C60-8E5D-F532632B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6007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FastAPI</a:t>
            </a:r>
          </a:p>
        </p:txBody>
      </p:sp>
    </p:spTree>
    <p:extLst>
      <p:ext uri="{BB962C8B-B14F-4D97-AF65-F5344CB8AC3E}">
        <p14:creationId xmlns:p14="http://schemas.microsoft.com/office/powerpoint/2010/main" val="11507147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4C99EB-6AF2-40B4-9429-58E49DB8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P.05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2E59D-996F-4B1F-A424-CE6626B5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文化互動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FD474-1F97-4ADB-B996-81159E70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抽籤與擲筊變成可理解流程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84D9C-6E0B-440F-8A6B-D60BEA89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保留民俗儀式的節奏，同時用清楚介面降低第一次使用者的心理門檻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5AE03A-DD87-4770-8476-9F038E50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24E10-E0F3-4231-AC9D-F0A0FBED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C29B6B-ADD7-409C-B58B-E93C5065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BC52C-7E37-4AE5-AA68-98B75343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7EF81-4706-49C1-9293-23690D10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2552700" cy="41719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1de1d77b4443c"/>
          <a:srcRect xmlns:a="http://schemas.openxmlformats.org/drawingml/2006/main" l="0" t="17851" r="0" b="178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1981200"/>
            <a:ext cx="2362200" cy="3981450"/>
          </a:xfrm>
          <a:prstGeom xmlns:a="http://schemas.openxmlformats.org/drawingml/2006/main" prst="roundRect">
            <a:avLst>
              <a:gd name="adj" fmla="val 645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DC6CE-57C6-4D98-AC0B-09DEA9DD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85950"/>
            <a:ext cx="2552700" cy="41719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35f4334d044a6"/>
          <a:srcRect xmlns:a="http://schemas.openxmlformats.org/drawingml/2006/main" l="0" t="16932" r="0" b="169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76650" y="1981200"/>
            <a:ext cx="2362200" cy="3981450"/>
          </a:xfrm>
          <a:prstGeom xmlns:a="http://schemas.openxmlformats.org/drawingml/2006/main" prst="roundRect">
            <a:avLst>
              <a:gd name="adj" fmla="val 6452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9A7D0B-95E5-4DD6-BA55-E0AC44A9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71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三個安全邊界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6D4384-3538-4B2D-99DF-F4895E21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323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C833C-9932-42AB-AB52-DFA6868F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146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不斷言吉凶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F96FF7-FFF6-4D40-935E-D0448C6A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956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4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籤詩解讀採正向提醒，避免對人生重大決策做絕對判斷。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952B2-5467-46D5-8995-D0DAFAE7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29050"/>
            <a:ext cx="323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A623B3-992A-4DCA-99FE-A947DADB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005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回到正式窗口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3A574A-46D1-47BE-8C9E-B001964A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815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40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涉及活動、服務與現場細節時，提醒以廟方公告與現場人員為準。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B5B50D-D18B-4DC2-80CA-9E0A3CDB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323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FDD3E8-29C5-439F-AF5E-6CEA5A54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863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保留文化語氣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8AB036-2A55-4006-AF6B-7C4ED252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673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4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以白話解釋流程，不把民俗互動包裝成神諭或絕對預測。</a:t>
            </a:r>
          </a:p>
        </p:txBody>
      </p:sp>
    </p:spTree>
    <p:extLst>
      <p:ext uri="{BB962C8B-B14F-4D97-AF65-F5344CB8AC3E}">
        <p14:creationId xmlns:p14="http://schemas.microsoft.com/office/powerpoint/2010/main" val="14022177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064AA1-8E5E-455C-A454-E997460C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P.06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2640A-89C2-4319-8375-CA01FE44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AI 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66CD4-36FE-4D95-809F-CB37BCD4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AI 文史問答安全邊界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21CE9-865A-4738-9BEA-6D812236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把公開資料整理成可搜尋知識，讓 AI 回答有依據、有分寸、可被廟方維護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FD10F-DCAF-4EC3-A685-D6FB2EF2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BDEAC-3A1B-451F-ABF8-89A97FAF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FF4C1-16FD-4891-97BE-F4671C2D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89A6BF-1077-491D-8F27-135D4573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0DB70B-CF67-4774-80AE-2F92085D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6381750" cy="25717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5f31ad27e4f74"/>
          <a:stretch xmlns:a="http://schemas.openxmlformats.org/drawingml/2006/main"/>
        </p:blipFill>
        <p:spPr>
          <a:xfrm xmlns:a="http://schemas.openxmlformats.org/drawingml/2006/main">
            <a:off x="1213435" y="2152650"/>
            <a:ext cx="532648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129D8-F5C6-4897-9409-5D44A00D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526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內容治理原則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5FA26-A9F4-4589-95F5-323393BF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24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0D4FD-0365-4B40-B47C-58460168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先找資料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E3C61-64ED-4528-BDD3-7F6E55CA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以公開文史與服務資料作為回答基礎。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ACCA5-53BE-4B69-AD31-3518C2E0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814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958FA6-6DC4-4F6B-B0EE-9335818F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再生成回覆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2ED4F-AB9D-4DA1-A535-6F900037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AI 只回答可追溯內容，降低錯答與幻想風險。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091B78-83B2-4AAB-8EA9-E5F75DA1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38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093360-B0F5-4D7E-A410-8C2A4646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577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保留人工審核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0124D1-8036-4400-BF94-7502439C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625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文化與儀式資料由廟方或維護者更新。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09A074-C772-4149-970D-0DE2C093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62103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D9C8A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B7EC5E-0602-47FD-9816-93D6CA85A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7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rPr>
              <a:t>AI 不扮演神明、不宣稱神諭、不處理醫療投資等敏感決策。這條邊界會直接寫進系統提示詞與安全回覆規則。</a:t>
            </a:r>
          </a:p>
        </p:txBody>
      </p:sp>
    </p:spTree>
    <p:extLst>
      <p:ext uri="{BB962C8B-B14F-4D97-AF65-F5344CB8AC3E}">
        <p14:creationId xmlns:p14="http://schemas.microsoft.com/office/powerpoint/2010/main" val="9850256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359C7C-5168-4AD5-B169-501F72A0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P.07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F0BCC-2579-4D08-836B-309EC14C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廟方後台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B4DB9-3F6E-464A-BDA3-6706D3CC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廟務營運後台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60112-8FB1-421F-A80D-64BC6CF2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廟方可自行維護基本資料、公告、活動與服務內容，減少每次都要請工程人員改版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B7960-7C4A-4DD7-B9C6-A6FC2C04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C160B-6CD5-4DAF-97EE-95AFE7BE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2FCC1-527C-4021-8293-4686AD82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DE67C-B9B6-4193-8454-62954B79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4FBEC-F058-4588-AC73-457BAA03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96100" cy="3448050"/>
          </a:xfrm>
          <a:prstGeom xmlns:a="http://schemas.openxmlformats.org/drawingml/2006/main" prst="roundRect">
            <a:avLst>
              <a:gd name="adj" fmla="val 6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86a0d744c4ad5"/>
          <a:srcRect xmlns:a="http://schemas.openxmlformats.org/drawingml/2006/main" l="0" t="13565" r="0" b="135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019300"/>
            <a:ext cx="6705600" cy="3257550"/>
          </a:xfrm>
          <a:prstGeom xmlns:a="http://schemas.openxmlformats.org/drawingml/2006/main" prst="roundRect">
            <a:avLst>
              <a:gd name="adj" fmla="val 467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319812-7090-40F6-A779-C1D8D283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145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即時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4DD21E-C486-40B9-80A9-44621FB7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25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80DA8-0FB0-4B1A-BE1F-0BC1AC9D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003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公告與服務資料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後台更新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C61595-C0E8-4DBC-83C8-50DB60B1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33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分權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56B69-8040-4C37-95ED-F4741BBC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8620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7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506B7-7213-4300-96EE-62F48726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195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Admin 與 Staff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操作權限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E293C-2F5A-4354-8F8D-5AA1BA21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529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留痕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BDD64-134A-4AFD-80B2-42800809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0540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9A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752E5F-B05D-4E47-99A7-6F331425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387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登入與異動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便於追蹤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286DF2-E8FD-4D9D-9960-FF5A0C73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62865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06A21B-3B9B-47E2-B154-1D4CA854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575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0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此頁呈現實際後台設定畫面：廟名、全銜、主祀神祇、開放時段、公告與服務指引可集中維護。</a:t>
            </a:r>
          </a:p>
        </p:txBody>
      </p:sp>
    </p:spTree>
    <p:extLst>
      <p:ext uri="{BB962C8B-B14F-4D97-AF65-F5344CB8AC3E}">
        <p14:creationId xmlns:p14="http://schemas.microsoft.com/office/powerpoint/2010/main" val="12235146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1237EC-92AC-4D04-B7B4-BC036F95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P.08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CF81E-27FC-43A5-A75D-2C0D0E20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技術架構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0968CB-56AD-4E26-835A-7BED1D1E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LINE 到資料庫的服務閉環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EF0FF-D8FB-49FA-B0F4-88AE6D04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入口、Webhook、LIFF、後端、資料庫與知識庫都有清楚責任邊界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006EB-2011-46DB-82EA-C4B8BBBF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CB1BC-AE7C-4A9B-87FB-2ACF61A5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6ABE2-D2A9-43D0-901B-51BC2C5E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9CCA6-5EB6-4CDD-A9F8-D33CB031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C42BE-175B-4638-8CDA-F5F397FB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972300" cy="39243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5491b8f124494"/>
          <a:stretch xmlns:a="http://schemas.openxmlformats.org/drawingml/2006/main"/>
        </p:blipFill>
        <p:spPr>
          <a:xfrm xmlns:a="http://schemas.openxmlformats.org/drawingml/2006/main">
            <a:off x="895350" y="1962150"/>
            <a:ext cx="6400800" cy="3733800"/>
          </a:xfrm>
          <a:prstGeom xmlns:a="http://schemas.openxmlformats.org/drawingml/2006/main" prst="roundRect">
            <a:avLst>
              <a:gd name="adj" fmla="val 408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7B9939-E3E8-4B71-9AF2-1795591E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38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架構重點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FDB2E1-ACAF-490A-BBE9-3ABD36A5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71750"/>
            <a:ext cx="3009900" cy="819150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2FF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267E0-DE69-4CA6-AD1D-B208493E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432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LINE 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EA147-9848-4BB2-922B-654478A7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25908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3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Rich Menu 與 Messaging API 接住高頻服務需求。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847B2-A948-4FB8-A3D5-F27CE16B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3009900" cy="819150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DB20E9-86B7-4FDB-A2DD-FAF3FA25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338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後端任務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3C5BB3-2313-4D60-BAD3-1488C26A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25908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3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FastAPI 負責驗證、資料處理、RAG 與通知流程。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BC6A5A-6BB7-405E-BFFB-49BD973B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52950"/>
            <a:ext cx="300990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B9095-9D3D-4149-9577-38E6FB4D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244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資料治理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1F8DD2-9371-4CF8-905A-5CA217C2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0540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577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PostgreSQL 保存使用者、活動與營運資料，知識庫支援文化問答。</a:t>
            </a:r>
          </a:p>
        </p:txBody>
      </p:sp>
    </p:spTree>
    <p:extLst>
      <p:ext uri="{BB962C8B-B14F-4D97-AF65-F5344CB8AC3E}">
        <p14:creationId xmlns:p14="http://schemas.microsoft.com/office/powerpoint/2010/main" val="15895949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C8EB5C-6AF2-4963-B1B5-E910816D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P.09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71C47-3295-4840-9CE0-23800B32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商業模式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416BEE-0260-4AD9-9540-DD5606CD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商業模式與驗證成果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86553-BAEF-4E7F-8F3A-0284DB8A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以 SaaS 訂閱為基礎，活動模組、客製導入與文創內容提高長期收入彈性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131ED-3D0A-430A-8CD0-5269A256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BB904-2DCC-419F-B728-831ADBC4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9E1BBA-F872-4C97-934B-FDCC47D8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D6C65E-87BB-4008-80AA-DD143BA8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6D5D2-0625-4F8E-8595-2B4BC512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BDF57F-807E-4AA2-83EE-DDCC163B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基礎訂閱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3642A-86EB-4896-B3A8-8EF2D3D2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中小型宮廟使用標準化 LINE 入口、AI 問答、活動報名與後台管理。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53174-DE43-4B06-B604-BC8E1DAA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717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EF1B44-45F8-432D-86D2-F7EBE3B3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431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客製導入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A2CE8F-E0C0-444C-88CA-337AD2C5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241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百年宮廟可擴充專屬文史、科儀流程、導覽內容與後台欄位。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2D6D68-C537-4CCC-A5C5-55C68495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8835DA-2C7E-4780-A6AB-3492ADB5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慶典模組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D7280-4D6D-4AAA-899F-B8EBF583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媽祖誕辰、普度與建醮等高峰活動可啟用報名、通知與排隊能力。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64C0DA-F346-4065-B23D-810E4D16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862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F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B16297-5F80-4CC6-91F2-A156EDC5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576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6815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6815F"/>
                </a:solidFill>
                <a:latin typeface="Noto Sans TC"/>
                <a:ea typeface="Noto Sans TC"/>
                <a:cs typeface="Noto Sans TC"/>
              </a:rPr>
              <a:t>文創延伸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07ED92-4433-445A-8E53-D9B55DF3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386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春福小使貼圖與商圈導流，讓文化互動延伸到日常社群。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62CE4E-5F72-4462-9225-53E4B6A3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4133850" cy="24574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7c4384ff846f4"/>
          <a:stretch xmlns:a="http://schemas.openxmlformats.org/drawingml/2006/main"/>
        </p:blipFill>
        <p:spPr>
          <a:xfrm xmlns:a="http://schemas.openxmlformats.org/drawingml/2006/main">
            <a:off x="7236619" y="2266950"/>
            <a:ext cx="2995613" cy="2266950"/>
          </a:xfrm>
          <a:prstGeom xmlns:a="http://schemas.openxmlformats.org/drawingml/2006/main" prst="roundRect">
            <a:avLst>
              <a:gd name="adj" fmla="val 6723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6FA5FE-0F2F-434B-AD98-EA031900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38700"/>
            <a:ext cx="403860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164313-4867-4031-9990-D4167C90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149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69 / 69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CC702A-9223-4AB3-9C51-BF273656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67350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6C7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2D04F6-9A71-4713-85B0-8AA803D8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007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後端測試通過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901758-5D1E-495C-9896-70A96974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149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20 / 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EE631E-07DB-4A51-8B94-71176381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6735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251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569759-EE44-4E25-BDCC-E1BB3E4B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6007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公開服務檢查通過</a:t>
            </a:r>
          </a:p>
        </p:txBody>
      </p:sp>
    </p:spTree>
    <p:extLst>
      <p:ext uri="{BB962C8B-B14F-4D97-AF65-F5344CB8AC3E}">
        <p14:creationId xmlns:p14="http://schemas.microsoft.com/office/powerpoint/2010/main" val="13494255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C92245-F9A6-41E5-AC3C-64AA77F7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P.10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5A9D8-C070-4A03-B4DB-0120357D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發展藍圖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C2DB3-B440-4453-9EDF-F2F2D3E1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從公開 Demo 到可導入產品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3110C0-E5A3-47A1-8C71-3D343401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目前先交付可體驗 Demo，後續補齊現場硬體互動、正式場域授權與跨廟模板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007C58-5075-467B-80C2-7BE757EA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90EAB-C2AC-4D01-9621-3F399AE2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6903A-50F5-495E-B513-830E23BC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CB45C-A82C-487B-9294-8B5A9546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示範資料採自公開資訊，非正式合作部署聲明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27D45-81DD-4932-8E50-1325F21B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7296150" cy="39433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45c99b3a2417c"/>
          <a:stretch xmlns:a="http://schemas.openxmlformats.org/drawingml/2006/main"/>
        </p:blipFill>
        <p:spPr>
          <a:xfrm xmlns:a="http://schemas.openxmlformats.org/drawingml/2006/main">
            <a:off x="751417" y="1962150"/>
            <a:ext cx="7088717" cy="3752850"/>
          </a:xfrm>
          <a:prstGeom xmlns:a="http://schemas.openxmlformats.org/drawingml/2006/main" prst="roundRect">
            <a:avLst>
              <a:gd name="adj" fmla="val 406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6E3F3-3B3A-4BE9-B92F-F9EFB547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DA22B6-E081-4397-B6B4-B8F2E818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955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送件階段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5D129-884E-4A93-91B7-0C59D778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003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Demo、簡報、影片與測試紀錄完成，評審可先體驗公開服務。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EAB17-E0DE-4CE5-BAB3-27BD4960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AC4AB5-A87B-49AB-8F65-E9773765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242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入選三個月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5CD9C-261F-4A80-9F4A-763B54A9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290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2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補齊現場 QR、NFC 或 Beacon 互動，取得正式場域授權後再對外宣稱合作部署。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C19061-CAEA-4E4B-B891-1D0C0047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597718-3CC1-4187-A1F9-FB53D6E5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196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一年藍圖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2DD236-A4DC-4096-B7C1-3574768E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244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將活動、知識庫、Rich Menu 與後台設定包裝成可複製模板。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E5444C-F925-43AF-A255-B0F491A4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24500"/>
            <a:ext cx="31051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D9C8A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823315-FC8E-4603-8C44-66E0226B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483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rPr>
              <a:t>送件前仍需補 YouTube 連結與簽署文件。</a:t>
            </a:r>
          </a:p>
        </p:txBody>
      </p:sp>
    </p:spTree>
    <p:extLst>
      <p:ext uri="{BB962C8B-B14F-4D97-AF65-F5344CB8AC3E}">
        <p14:creationId xmlns:p14="http://schemas.microsoft.com/office/powerpoint/2010/main" val="282324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176AD0-306B-4BBF-8815-36C76E97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6F54F-7ADC-4AE8-9B88-57A16A49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E809B-337A-4FBB-A2E0-AE0A5597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1950"/>
            <a:ext cx="2667000" cy="61341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7A1F1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2e8ff24d74826"/>
          <a:stretch xmlns:a="http://schemas.openxmlformats.org/drawingml/2006/main"/>
        </p:blipFill>
        <p:spPr>
          <a:xfrm xmlns:a="http://schemas.openxmlformats.org/drawingml/2006/main">
            <a:off x="7962900" y="808775"/>
            <a:ext cx="2476500" cy="5240451"/>
          </a:xfrm>
          <a:prstGeom xmlns:a="http://schemas.openxmlformats.org/drawingml/2006/main" prst="roundRect">
            <a:avLst>
              <a:gd name="adj" fmla="val 923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496B2-24FF-4653-987B-9BD948DB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619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rPr>
              <a:t>實際 LINE 入口 Demo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b92980c9074cde"/>
          <a:stretch xmlns:a="http://schemas.openxmlformats.org/drawingml/2006/main"/>
        </p:blipFill>
        <p:spPr>
          <a:xfrm xmlns:a="http://schemas.openxmlformats.org/drawingml/2006/main">
            <a:off x="876300" y="990600"/>
            <a:ext cx="1104900" cy="1104900"/>
          </a:xfrm>
          <a:prstGeom xmlns:a="http://schemas.openxmlformats.org/drawingml/2006/main" prst="ellipse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7172A-DD9D-4B41-9193-615D39EB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科技賦能信仰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智慧傳承文化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4E281-5C83-4AEB-8E8E-D8D4F687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1C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F1C1"/>
                </a:solidFill>
                <a:latin typeface="Noto Sans TC"/>
                <a:ea typeface="Noto Sans TC"/>
                <a:cs typeface="Noto Sans TC"/>
              </a:rPr>
              <a:t>Temple AI OS 智慧宮廟平台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FCBFE-5BE4-46E4-86B0-A958C942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LINE OA：@983zhzni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公開 Demo：前台、後台、API 已完成基礎驗證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補件提醒：YouTube 連結與簽署文件需送件前完成</a:t>
            </a:r>
          </a:p>
        </p:txBody>
      </p:sp>
    </p:spTree>
    <p:extLst>
      <p:ext uri="{BB962C8B-B14F-4D97-AF65-F5344CB8AC3E}">
        <p14:creationId xmlns:p14="http://schemas.microsoft.com/office/powerpoint/2010/main" val="216572602"/>
      </p:ext>
    </p:extLst>
  </p:cSld>
</p:sld>
</file>

<file path=ppt/theme/theme1.xml><?xml version="1.0" encoding="utf-8"?>
<a:theme xmlns:a="http://schemas.openxmlformats.org/drawingml/2006/main" name="ChatGPT">
  <a:themeElements>
    <a:clrScheme name="Temple Editorial">
      <a:dk1>
        <a:srgbClr val="000000"/>
      </a:dk1>
      <a:lt1>
        <a:srgbClr val="FFFFFF"/>
      </a:lt1>
      <a:dk2>
        <a:srgbClr val="1F2933"/>
      </a:dk2>
      <a:lt2>
        <a:srgbClr val="FBF7EF"/>
      </a:lt2>
      <a:accent1>
        <a:srgbClr val="B9251C"/>
      </a:accent1>
      <a:accent2>
        <a:srgbClr val="C79A35"/>
      </a:accent2>
      <a:accent3>
        <a:srgbClr val="06C755"/>
      </a:accent3>
      <a:accent4>
        <a:srgbClr val="244765"/>
      </a:accent4>
      <a:accent5>
        <a:srgbClr val="16815F"/>
      </a:accent5>
      <a:accent6>
        <a:srgbClr val="FFF4D8"/>
      </a:accent6>
      <a:hlink>
        <a:srgbClr val="244765"/>
      </a:hlink>
      <a:folHlink>
        <a:srgbClr val="7F1D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mple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2026-09-13T05:51:49.8280000Z</dcterms:created>
  <dcterms:modified xsi:type="dcterms:W3CDTF">2026-09-13T05:51:49.8280000Z</dcterms:modified>
</coreProperties>
</file>