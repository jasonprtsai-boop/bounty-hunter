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29b5dad914728" /><Relationship Type="http://schemas.openxmlformats.org/officeDocument/2006/relationships/extended-properties" Target="/docProps/app.xml" Id="R1cd0520d11b844d3" /><Relationship Type="http://schemas.openxmlformats.org/officeDocument/2006/relationships/officeDocument" Target="/ppt/presentation.xml" Id="R6e52fe72acbe49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61081804c4059"/>
  </p:sldMasterIdLst>
  <p:notesMasterIdLst>
    <p:notesMasterId xmlns:r="http://schemas.openxmlformats.org/officeDocument/2006/relationships" r:id="Rb603ad87d1194f1d"/>
  </p:notesMasterIdLst>
  <p:sldIdLst>
    <p:sldId xmlns:r="http://schemas.openxmlformats.org/officeDocument/2006/relationships" id="256" r:id="Rc2eced340aaa47e6"/>
    <p:sldId xmlns:r="http://schemas.openxmlformats.org/officeDocument/2006/relationships" id="257" r:id="Rb8353422129d42a0"/>
    <p:sldId xmlns:r="http://schemas.openxmlformats.org/officeDocument/2006/relationships" id="258" r:id="Re6dfb5f04cde4483"/>
    <p:sldId xmlns:r="http://schemas.openxmlformats.org/officeDocument/2006/relationships" id="259" r:id="Rab946466651d48d9"/>
    <p:sldId xmlns:r="http://schemas.openxmlformats.org/officeDocument/2006/relationships" id="260" r:id="R00d24e67cdac4e16"/>
    <p:sldId xmlns:r="http://schemas.openxmlformats.org/officeDocument/2006/relationships" id="261" r:id="R083ae8b184d4460c"/>
    <p:sldId xmlns:r="http://schemas.openxmlformats.org/officeDocument/2006/relationships" id="262" r:id="R1e647e67317f4ae6"/>
    <p:sldId xmlns:r="http://schemas.openxmlformats.org/officeDocument/2006/relationships" id="263" r:id="R3a52690cb5bf41ed"/>
    <p:sldId xmlns:r="http://schemas.openxmlformats.org/officeDocument/2006/relationships" id="264" r:id="Rc3a916f9215b4996"/>
    <p:sldId xmlns:r="http://schemas.openxmlformats.org/officeDocument/2006/relationships" id="265" r:id="R377e87b0e948469d"/>
    <p:sldId xmlns:r="http://schemas.openxmlformats.org/officeDocument/2006/relationships" id="266" r:id="R52d6e69f69f84e25"/>
    <p:sldId xmlns:r="http://schemas.openxmlformats.org/officeDocument/2006/relationships" id="267" r:id="Rca590b7144cc43fc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114dfbf854085" /><Relationship Type="http://schemas.openxmlformats.org/officeDocument/2006/relationships/slideMaster" Target="/ppt/slideMasters/slideMaster1.xml" Id="R8a061081804c4059" /><Relationship Type="http://schemas.openxmlformats.org/officeDocument/2006/relationships/notesMaster" Target="/ppt/notesMasters/notesMaster1.xml" Id="Rb603ad87d1194f1d" /><Relationship Type="http://schemas.openxmlformats.org/officeDocument/2006/relationships/presProps" Target="/ppt/presProps.xml" Id="Rd0dd919949374303" /><Relationship Type="http://schemas.openxmlformats.org/officeDocument/2006/relationships/viewProps" Target="/ppt/viewProps.xml" Id="R90c90c40d8754c96" /><Relationship Type="http://schemas.openxmlformats.org/officeDocument/2006/relationships/tableStyles" Target="/ppt/tableStyles.xml" Id="Rb7d1fe4afa64409b" /><Relationship Type="http://schemas.openxmlformats.org/officeDocument/2006/relationships/slide" Target="/ppt/slides/slide1.xml" Id="Rc2eced340aaa47e6" /><Relationship Type="http://schemas.openxmlformats.org/officeDocument/2006/relationships/slide" Target="/ppt/slides/slide2.xml" Id="Rb8353422129d42a0" /><Relationship Type="http://schemas.openxmlformats.org/officeDocument/2006/relationships/slide" Target="/ppt/slides/slide3.xml" Id="Re6dfb5f04cde4483" /><Relationship Type="http://schemas.openxmlformats.org/officeDocument/2006/relationships/slide" Target="/ppt/slides/slide4.xml" Id="Rab946466651d48d9" /><Relationship Type="http://schemas.openxmlformats.org/officeDocument/2006/relationships/slide" Target="/ppt/slides/slide5.xml" Id="R00d24e67cdac4e16" /><Relationship Type="http://schemas.openxmlformats.org/officeDocument/2006/relationships/slide" Target="/ppt/slides/slide6.xml" Id="R083ae8b184d4460c" /><Relationship Type="http://schemas.openxmlformats.org/officeDocument/2006/relationships/slide" Target="/ppt/slides/slide7.xml" Id="R1e647e67317f4ae6" /><Relationship Type="http://schemas.openxmlformats.org/officeDocument/2006/relationships/slide" Target="/ppt/slides/slide8.xml" Id="R3a52690cb5bf41ed" /><Relationship Type="http://schemas.openxmlformats.org/officeDocument/2006/relationships/slide" Target="/ppt/slides/slide9.xml" Id="Rc3a916f9215b4996" /><Relationship Type="http://schemas.openxmlformats.org/officeDocument/2006/relationships/slide" Target="/ppt/slides/slide10.xml" Id="R377e87b0e948469d" /><Relationship Type="http://schemas.openxmlformats.org/officeDocument/2006/relationships/slide" Target="/ppt/slides/slide11.xml" Id="R52d6e69f69f84e25" /><Relationship Type="http://schemas.openxmlformats.org/officeDocument/2006/relationships/slide" Target="/ppt/slides/slide12.xml" Id="Rca590b7144cc43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ee35257a6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288c2a07a4be9" /><Relationship Type="http://schemas.openxmlformats.org/officeDocument/2006/relationships/notesMaster" Target="/ppt/notesMasters/notesMaster1.xml" Id="R85330519926f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4f28936e24b2d" /><Relationship Type="http://schemas.openxmlformats.org/officeDocument/2006/relationships/notesMaster" Target="/ppt/notesMasters/notesMaster1.xml" Id="R057ddbcc90cf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091ce235e4635" /><Relationship Type="http://schemas.openxmlformats.org/officeDocument/2006/relationships/notesMaster" Target="/ppt/notesMasters/notesMaster1.xml" Id="R319fe09f24ea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0a3039e6194059" /><Relationship Type="http://schemas.openxmlformats.org/officeDocument/2006/relationships/notesMaster" Target="/ppt/notesMasters/notesMaster1.xml" Id="R458daf2203e44c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e0b85b5b0d4cc2" /><Relationship Type="http://schemas.openxmlformats.org/officeDocument/2006/relationships/notesMaster" Target="/ppt/notesMasters/notesMaster1.xml" Id="R52f77409b59745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7678a3b5d4dab" /><Relationship Type="http://schemas.openxmlformats.org/officeDocument/2006/relationships/notesMaster" Target="/ppt/notesMasters/notesMaster1.xml" Id="R6596605ef71f48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738a504fd44175" /><Relationship Type="http://schemas.openxmlformats.org/officeDocument/2006/relationships/notesMaster" Target="/ppt/notesMasters/notesMaster1.xml" Id="R8a472a0646454c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f198d8255845ee" /><Relationship Type="http://schemas.openxmlformats.org/officeDocument/2006/relationships/notesMaster" Target="/ppt/notesMasters/notesMaster1.xml" Id="Rfcd88267141744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0d9775804c4123" /><Relationship Type="http://schemas.openxmlformats.org/officeDocument/2006/relationships/notesMaster" Target="/ppt/notesMasters/notesMaster1.xml" Id="Re74756086a4741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9954ecbe0a4d8e" /><Relationship Type="http://schemas.openxmlformats.org/officeDocument/2006/relationships/notesMaster" Target="/ppt/notesMasters/notesMaster1.xml" Id="R4341a419b4c04a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d083cb91124302" /><Relationship Type="http://schemas.openxmlformats.org/officeDocument/2006/relationships/notesMaster" Target="/ppt/notesMasters/notesMaster1.xml" Id="R7cc3396bbac046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0eb3b321244828" /><Relationship Type="http://schemas.openxmlformats.org/officeDocument/2006/relationships/notesMaster" Target="/ppt/notesMasters/notesMaster1.xml" Id="R74777990b7dd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1ced522b44a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88d91bcbf4d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9feb9d8ba47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3f516cd3c42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95d0a68cb4c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686cb8f6443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a4d372f924b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578e3566d45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993718256473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22dec844d46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ffb88e2464fa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AAB13F-3333-46D8-8DBB-C40C2D55B2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D9B7AC-2424-485C-86A5-C0C0EEA701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CCD9A3-4F7B-4725-9742-940EF1B968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DE9C08-5AA6-4762-8916-15709D51FB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714750-52A7-4C4F-B97B-4077F32D39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76F035-50FB-47EC-8750-3F37CAEA4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9F0BA5-6D43-47EB-ABA9-C923C256DC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3D071F-D2D0-42A4-9B76-93D76BC46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7BD166-53A5-4909-9250-196F7851B3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71E0F-E2BC-4A01-AB2F-8C1FE7C943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FF39DA-EFD0-4BF9-BF87-E781987D6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E6BA77-B1DE-4EE3-98A7-1BF130970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E8FEC9-6979-4EE4-96E0-C953729A69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340F70-6C25-49BC-924F-DAA195171C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AFDFEB-23C1-4F98-906C-138273CF9C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DC31E9-448E-47AF-B9AB-B70F268823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B45592-B0DD-4AA1-932C-F4A2F9A54B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9322E0-08DB-4234-90E5-DD03151A076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9070830-6194-43D2-9584-441DA37DB0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3A2BC4-4177-4266-992D-A2141F0E5F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346C08-9501-4DB6-AA41-5DA2BF6CAC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39BC44-B096-4AF6-82CF-81983BFCC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A0DDC6-8AE3-4392-A03B-BE7364F8E7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F92C88-B7E5-47FE-A61E-DC7BD8217C3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753E85B-04C8-4C9A-9BED-2793E3956F9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7DC706A-62E0-4716-A7B0-403FCE01FD9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6F58537-4E5C-454C-9D36-38A67230CF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AB51587-16D2-4597-8D4E-FEBFEE27A9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44D5E2-CA1E-4916-98CE-6B09C994E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0D6D24-7911-4EA8-A6DE-220F7C6BA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6F3C17-FCBC-4AC7-B091-15E5F2FFB2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0EAF133-C8A0-4B04-9D12-C4E0BD5916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240423E-EC26-4AFD-B3A0-363AACF55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1C6252A-7C2C-41AE-8EBC-27156FD9F1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A60FB16-9BD9-4F9E-BC05-6F45884B44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F54141-F42C-40B9-BE9A-4E369A6D3C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C80C8D-ED7F-48A4-9D81-68F833441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932686-F848-4684-8965-F44BC929D1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29E573-CB22-42CE-89D0-1980F1D6DC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05277D-C615-4EB6-958C-BBFDF47E8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2CCFCC-5899-4B25-89B9-0478C24515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1B3BBC5-5963-4166-9CF7-063916AC67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F61528-48B1-4D28-8868-895B5C0EC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664FDCE-4D86-47C4-9B1D-69917FE7E98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816F0CC-F62D-47D5-ACC1-D0DF3B9ABB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C423B07-62CC-43C8-88E9-FD2DBB2090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4900EC-68B1-44BD-A37E-54B44CC816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46B51FA-4A25-408C-89BC-EC61CB2F24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573C77-0BC7-4FE2-9F3B-CCD20BAA0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FAC2FD-876D-453F-9270-328BE3E9C6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01BAEA-7B8C-43D2-B57B-AFD0317D99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00A8B3-46B9-460D-903E-9197A35B10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AF5167-60F8-48D9-AA8B-AF2A4C4D2A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F0EEAB0-5800-4FE2-A2F8-4A230C1BA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C67146-C38E-4457-9750-1303699D8B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14A456-B96C-4C6F-998D-A248FCD223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5563E7-B338-4D57-8827-93C41FF1B0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F91E06-8523-40B2-9010-5892C778B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16e5010434ecd" /><Relationship Type="http://schemas.openxmlformats.org/officeDocument/2006/relationships/slideLayout" Target="/ppt/slideLayouts/slideLayout1.xml" Id="R44db232d8db14d25" /><Relationship Type="http://schemas.openxmlformats.org/officeDocument/2006/relationships/slideLayout" Target="/ppt/slideLayouts/slideLayout2.xml" Id="R5a4c152135754aa2" /><Relationship Type="http://schemas.openxmlformats.org/officeDocument/2006/relationships/slideLayout" Target="/ppt/slideLayouts/slideLayout3.xml" Id="R748beb6958ac4b94" /><Relationship Type="http://schemas.openxmlformats.org/officeDocument/2006/relationships/slideLayout" Target="/ppt/slideLayouts/slideLayout4.xml" Id="Reeea29f3a4ee478b" /><Relationship Type="http://schemas.openxmlformats.org/officeDocument/2006/relationships/slideLayout" Target="/ppt/slideLayouts/slideLayout5.xml" Id="Rd5124b3787a241e5" /><Relationship Type="http://schemas.openxmlformats.org/officeDocument/2006/relationships/slideLayout" Target="/ppt/slideLayouts/slideLayout6.xml" Id="R4d7dc5d87c544e35" /><Relationship Type="http://schemas.openxmlformats.org/officeDocument/2006/relationships/slideLayout" Target="/ppt/slideLayouts/slideLayout7.xml" Id="Rb3eb2037c0484f12" /><Relationship Type="http://schemas.openxmlformats.org/officeDocument/2006/relationships/slideLayout" Target="/ppt/slideLayouts/slideLayout8.xml" Id="R1b8989e755bf4a56" /><Relationship Type="http://schemas.openxmlformats.org/officeDocument/2006/relationships/slideLayout" Target="/ppt/slideLayouts/slideLayout9.xml" Id="R55e8ae08a45f4f9b" /><Relationship Type="http://schemas.openxmlformats.org/officeDocument/2006/relationships/slideLayout" Target="/ppt/slideLayouts/slideLayout10.xml" Id="Rf488c56ab4204203" /><Relationship Type="http://schemas.openxmlformats.org/officeDocument/2006/relationships/slideLayout" Target="/ppt/slideLayouts/slideLayout11.xml" Id="Rf1d924eeb2e44ee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0C2EF64-CE42-403A-8D1C-79F0A2AB3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A37821-7541-479A-9756-47778C23F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CFA1B1-0DC9-4CD5-A387-14301D425D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C63F0E-6B86-450A-9E0A-8DC2D298F32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B8DBE6-957B-415C-9D3C-EB76AB799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b232d8db14d25"/>
    <p:sldLayoutId xmlns:r="http://schemas.openxmlformats.org/officeDocument/2006/relationships" id="2147483650" r:id="R5a4c152135754aa2"/>
    <p:sldLayoutId xmlns:r="http://schemas.openxmlformats.org/officeDocument/2006/relationships" id="2147483651" r:id="R748beb6958ac4b94"/>
    <p:sldLayoutId xmlns:r="http://schemas.openxmlformats.org/officeDocument/2006/relationships" id="2147483652" r:id="Reeea29f3a4ee478b"/>
    <p:sldLayoutId xmlns:r="http://schemas.openxmlformats.org/officeDocument/2006/relationships" id="2147483653" r:id="Rd5124b3787a241e5"/>
    <p:sldLayoutId xmlns:r="http://schemas.openxmlformats.org/officeDocument/2006/relationships" id="2147483654" r:id="R4d7dc5d87c544e35"/>
    <p:sldLayoutId xmlns:r="http://schemas.openxmlformats.org/officeDocument/2006/relationships" id="2147483655" r:id="Rb3eb2037c0484f12"/>
    <p:sldLayoutId xmlns:r="http://schemas.openxmlformats.org/officeDocument/2006/relationships" id="2147483656" r:id="R1b8989e755bf4a56"/>
    <p:sldLayoutId xmlns:r="http://schemas.openxmlformats.org/officeDocument/2006/relationships" id="2147483657" r:id="R55e8ae08a45f4f9b"/>
    <p:sldLayoutId xmlns:r="http://schemas.openxmlformats.org/officeDocument/2006/relationships" id="2147483658" r:id="Rf488c56ab4204203"/>
    <p:sldLayoutId xmlns:r="http://schemas.openxmlformats.org/officeDocument/2006/relationships" id="2147483659" r:id="Rf1d924eeb2e44ee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6fb8a2e7b246ca" /><Relationship Type="http://schemas.openxmlformats.org/officeDocument/2006/relationships/image" Target="/ppt/media/image.jpeg" Id="Rbab00d30cd4b4c20" /><Relationship Type="http://schemas.openxmlformats.org/officeDocument/2006/relationships/notesSlide" Target="/ppt/notesSlides/notesSlide1.xml" Id="Rf2056b6ebec24e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13be4f4700405b" /><Relationship Type="http://schemas.openxmlformats.org/officeDocument/2006/relationships/image" Target="/ppt/media/image.png" Id="R800c4699610d46fd" /><Relationship Type="http://schemas.openxmlformats.org/officeDocument/2006/relationships/notesSlide" Target="/ppt/notesSlides/notesSlide2.xml" Id="R2680aa4d471d4e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09d1b3509b4b40" /><Relationship Type="http://schemas.openxmlformats.org/officeDocument/2006/relationships/notesSlide" Target="/ppt/notesSlides/notesSlide3.xml" Id="R9a1e925d577a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98d82f120d4b61" /><Relationship Type="http://schemas.openxmlformats.org/officeDocument/2006/relationships/image" Target="/ppt/media/image2.png" Id="R05fd54f78c0e4855" /><Relationship Type="http://schemas.openxmlformats.org/officeDocument/2006/relationships/image" Target="/ppt/media/image3.png" Id="R60085bcbb9ba484b" /><Relationship Type="http://schemas.openxmlformats.org/officeDocument/2006/relationships/notesSlide" Target="/ppt/notesSlides/notesSlide4.xml" Id="Rde58fd4ff26540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cbc2bca0c04d6b" /><Relationship Type="http://schemas.openxmlformats.org/officeDocument/2006/relationships/image" Target="/ppt/media/image4.png" Id="R9ef47d30ca8944f8" /><Relationship Type="http://schemas.openxmlformats.org/officeDocument/2006/relationships/image" Target="/ppt/media/image5.png" Id="Rd9f3133f0e344536" /><Relationship Type="http://schemas.openxmlformats.org/officeDocument/2006/relationships/notesSlide" Target="/ppt/notesSlides/notesSlide5.xml" Id="R759f9b4a15324a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a9ff2bb07c4d3a" /><Relationship Type="http://schemas.openxmlformats.org/officeDocument/2006/relationships/image" Target="/ppt/media/image6.png" Id="R8d38ada878254fc9" /><Relationship Type="http://schemas.openxmlformats.org/officeDocument/2006/relationships/image" Target="/ppt/media/image7.png" Id="R9a8111760f174fea" /><Relationship Type="http://schemas.openxmlformats.org/officeDocument/2006/relationships/notesSlide" Target="/ppt/notesSlides/notesSlide6.xml" Id="Rc5ffeeb0fd3442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d46936e2a14c31" /><Relationship Type="http://schemas.openxmlformats.org/officeDocument/2006/relationships/image" Target="/ppt/media/image8.png" Id="Rbf04a42c776041c8" /><Relationship Type="http://schemas.openxmlformats.org/officeDocument/2006/relationships/notesSlide" Target="/ppt/notesSlides/notesSlide7.xml" Id="R540f1cbfe7c548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fcbf2d94414355" /><Relationship Type="http://schemas.openxmlformats.org/officeDocument/2006/relationships/image" Target="/ppt/media/image9.png" Id="R75dd62a678e74120" /><Relationship Type="http://schemas.openxmlformats.org/officeDocument/2006/relationships/notesSlide" Target="/ppt/notesSlides/notesSlide8.xml" Id="R69be8736e5bd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0b3b17959b4f8c" /><Relationship Type="http://schemas.openxmlformats.org/officeDocument/2006/relationships/notesSlide" Target="/ppt/notesSlides/notesSlide9.xml" Id="Racf6cbd7777a4a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43a0a1f2954282" /><Relationship Type="http://schemas.openxmlformats.org/officeDocument/2006/relationships/image" Target="/ppt/media/image10.png" Id="Rf569e1dde86147a9" /><Relationship Type="http://schemas.openxmlformats.org/officeDocument/2006/relationships/notesSlide" Target="/ppt/notesSlides/notesSlide10.xml" Id="R990ea9f438a247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515eb2547b40a2" /><Relationship Type="http://schemas.openxmlformats.org/officeDocument/2006/relationships/notesSlide" Target="/ppt/notesSlides/notesSlide11.xml" Id="R4903c356661943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577855d538427f" /><Relationship Type="http://schemas.openxmlformats.org/officeDocument/2006/relationships/image" Target="/ppt/media/image11.png" Id="R45912fbf8e654cd5" /><Relationship Type="http://schemas.openxmlformats.org/officeDocument/2006/relationships/notesSlide" Target="/ppt/notesSlides/notesSlide12.xml" Id="R52585a53ea6142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F874EB-DE18-45C0-84C6-4A10973B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00d30cd4b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731520"/>
            <a:ext cx="6217920" cy="530352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BC43D3A-8BDE-48F7-AF9C-A3799019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420624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t>2026 LINE AI 創新創業競賽 參賽作品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32159D-A7BD-4F55-A326-90C1B390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4000" b="1">
                <a:solidFill>
                  <a:srgbClr val="0F172A"/>
                </a:solidFill>
              </a:defRPr>
            </a:pPr>
            <a:r>
              <a:t>Temple AI OS</a:t>
            </a:r>
          </a:p>
          <a:p xmlns:a="http://schemas.openxmlformats.org/drawingml/2006/main">
            <a:pPr>
              <a:spcBef>
                <a:spcPts val="400"/>
              </a:spcBef>
              <a:buNone/>
              <a:defRPr sz="2600" b="1">
                <a:solidFill>
                  <a:srgbClr val="B4281E"/>
                </a:solidFill>
              </a:defRPr>
            </a:pPr>
            <a:r>
              <a:t>智慧宮廟作業系統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0FC9BE3-0985-4207-9A0D-064EFDED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4572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172A"/>
                </a:solidFill>
              </a:defRPr>
            </a:pPr>
            <a:r>
              <a:t>把整座宮廟的服務與文化，完整收進信眾的 LINE 裡</a:t>
            </a:r>
          </a:p>
          <a:p xmlns:a="http://schemas.openxmlformats.org/drawingml/2006/main">
            <a:pPr>
              <a:spcBef>
                <a:spcPts val="600"/>
              </a:spcBef>
              <a:buNone/>
              <a:defRPr sz="1050">
                <a:solidFill>
                  <a:srgbClr val="64748B"/>
                </a:solidFill>
              </a:defRPr>
            </a:pPr>
            <a:r>
              <a:t>免下載 App ｜ 6 格黃金分流 ｜ LIFF 敏捷報名 ｜ AI 文史問答 ｜ 廟務管理中樞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8231B12-41C0-4DBF-9CE0-A3777A2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44805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B7A95C6-FFD9-42AB-8B1D-B33F44C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544568"/>
            <a:ext cx="4151376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B4281E"/>
                </a:solidFill>
              </a:defRPr>
            </a:pPr>
            <a:r>
              <a:t>⚙ 核心技術參數與上線規格 (SYSTEM SPECS)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LINE 官方帳號: </a:t>
            </a:r>
            <a:r>
              <a:rPr sz="950" b="1">
                <a:solidFill>
                  <a:srgbClr val="1E3A8A"/>
                </a:solidFill>
              </a:rPr>
              <a:t>專屬 Basic ID: @983zhzni (已通過審核)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前端架構: </a:t>
            </a:r>
            <a:r>
              <a:rPr sz="950" b="1">
                <a:solidFill>
                  <a:srgbClr val="1E3A8A"/>
                </a:solidFill>
              </a:rPr>
              <a:t>LIFF v2 + React 18 + Tailwind RWD (Full Viewport)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後端核心: </a:t>
            </a:r>
            <a:r>
              <a:rPr sz="950" b="1">
                <a:solidFill>
                  <a:srgbClr val="1E3A8A"/>
                </a:solidFill>
              </a:rPr>
              <a:t>FastAPI 0.115 (Python 3.12) + Supabase PostgreSQL 15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併發保證: </a:t>
            </a:r>
            <a:r>
              <a:rPr sz="950" b="1">
                <a:solidFill>
                  <a:srgbClr val="1E3A8A"/>
                </a:solidFill>
              </a:rPr>
              <a:t>PostgreSQL Atomic RPC 行級排他鎖 (FOR UPDATE)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D0AB5D9-CAF7-45FC-97F8-8B6D54C4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64748B"/>
                </a:solidFill>
              </a:defRPr>
            </a:pPr>
            <a:r>
              <a:t>開發團隊：Temple AI OS 團隊 ｜ </a:t>
            </a:r>
            <a:r>
              <a:t>Demo 驗證</a:t>
            </a:r>
            <a:r>
              <a:t>：台中萬春宮 (開基三百年)</a:t>
            </a:r>
          </a:p>
        </p:txBody>
      </p:sp>
    </p:spTree>
    <p:extLst>
      <p:ext uri="{BB962C8B-B14F-4D97-AF65-F5344CB8AC3E}">
        <p14:creationId xmlns:p14="http://schemas.microsoft.com/office/powerpoint/2010/main" val="16270552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88BBCB-92E7-4E88-BDFF-4026B6C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DEBD17D-14B9-428B-8036-25304E9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01 / 市場需求與痛點分析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ADCC8B-752B-406B-B7E3-9E42B71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P.01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EA8B5F-F549-4C46-99C9-3C5CFFB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三百年香火的數位轉型困局：年輕信眾斷層與沉重行政負擔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7974B9-4761-4C96-AD0C-BA7961C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信仰生活心靈依託面臨數位落差：青年不敢問、志工做不完、營運無數據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DA5F1F5-0695-4CA4-92DC-47EDA483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2918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473F07-7C8B-4EC8-8985-B637696B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31089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B4281E"/>
                </a:solidFill>
              </a:defRPr>
            </a:pPr>
            <a:r>
              <a:t>12,000+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  <a:defRPr sz="1100" b="1">
                <a:solidFill>
                  <a:srgbClr val="0F172A"/>
                </a:solidFill>
              </a:defRPr>
            </a:pPr>
            <a:r>
              <a:t>全台合法登記寺廟</a:t>
            </a:r>
          </a:p>
          <a:p xmlns:a="http://schemas.openxmlformats.org/drawingml/2006/main">
            <a:pPr algn="ctr">
              <a:buNone/>
              <a:defRPr sz="950">
                <a:solidFill>
                  <a:srgbClr val="64748B"/>
                </a:solidFill>
              </a:defRPr>
            </a:pPr>
            <a:r>
              <a:t>民間信仰基盤龐大，年香客產值逾200億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10DEEA4-8F89-49E4-9B57-F9C6483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29184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C8CA50-114B-4F0D-B7CF-5B1F9F6E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1640"/>
            <a:ext cx="31089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06C755"/>
                </a:solidFill>
              </a:defRPr>
            </a:pPr>
            <a:r>
              <a:t>95%+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  <a:defRPr sz="1100" b="1">
                <a:solidFill>
                  <a:srgbClr val="0F172A"/>
                </a:solidFill>
              </a:defRPr>
            </a:pPr>
            <a:r>
              <a:t>LINE 全台人口滲透率</a:t>
            </a:r>
          </a:p>
          <a:p xmlns:a="http://schemas.openxmlformats.org/drawingml/2006/main">
            <a:pPr algn="ctr">
              <a:buNone/>
              <a:defRPr sz="950">
                <a:solidFill>
                  <a:srgbClr val="64748B"/>
                </a:solidFill>
              </a:defRPr>
            </a:pPr>
            <a:r>
              <a:t>長輩青年皆熟悉，零下載阻力即開即用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FD593C3-DDC1-4299-99C4-AAE96E04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0200"/>
            <a:ext cx="35661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2C8288-3ACC-4F47-AF60-878099D2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691640"/>
            <a:ext cx="3383279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B45309"/>
                </a:solidFill>
              </a:defRPr>
            </a:pPr>
            <a:r>
              <a:t>80%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  <a:defRPr sz="1100" b="1">
                <a:solidFill>
                  <a:srgbClr val="0F172A"/>
                </a:solidFill>
              </a:defRPr>
            </a:pPr>
            <a:r>
              <a:t>廟方重複行政人力消耗</a:t>
            </a:r>
          </a:p>
          <a:p xmlns:a="http://schemas.openxmlformats.org/drawingml/2006/main">
            <a:pPr algn="ctr">
              <a:buNone/>
              <a:defRPr sz="950">
                <a:solidFill>
                  <a:srgbClr val="64748B"/>
                </a:solidFill>
              </a:defRPr>
            </a:pPr>
            <a:r>
              <a:t>紙本手寫登記、電話重複諮詢、漏單爭議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87AB44F-8FDE-46B3-AB9F-3FA4890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5120640" cy="3108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34E9F5C-FBBC-414A-9C10-0E3F49A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3240"/>
            <a:ext cx="4754879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傳統宮廟營運四大核心痛點 (PAIN POINTS)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信眾參與門檻高：不熟參拜順序與規矩禮節，現場資訊零散，年輕世代退怯。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紙本行政負擔重：法會與活動依賴紙筆手寫，容易出錯遺漏，名單核銷混亂。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重複客服打爆電話：每日重複詢問時間、交通、問事，佔用志工大量精力。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營運缺乏數據：無法掌握信眾關注話題與節慶人流，難以實現現代化管理。</a:t>
            </a:r>
          </a:p>
        </p:txBody>
      </p:sp>
      <p:pic>
        <p:nvPicPr>
          <p:cNvPr id="3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c4699610d46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2926080"/>
            <a:ext cx="5303520" cy="310896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E2E8F0"/>
            </a:solidFill>
          </a:ln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B086FCF-96BF-48F4-AAD9-EBA5B9AF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89D8CBE-5B34-41AA-8B5F-6ED65C29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傳統宗教文化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EA28EF8-3F0D-448E-AC6F-2A09A8B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人口老齡化斷層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7C19857-D9E7-4163-8361-5130D1F7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6263640"/>
            <a:ext cx="117957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生態切入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597D39-C1DC-46E2-8E13-B9933231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數位化升級機會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94F8025-4260-4DDF-A5EE-B45E5F71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6263640"/>
            <a:ext cx="12801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市場規模 200億+</a:t>
            </a:r>
          </a:p>
        </p:txBody>
      </p:sp>
    </p:spTree>
    <p:extLst>
      <p:ext uri="{BB962C8B-B14F-4D97-AF65-F5344CB8AC3E}">
        <p14:creationId xmlns:p14="http://schemas.microsoft.com/office/powerpoint/2010/main" val="15470661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3296AD3-A55F-4D65-9C19-D40F8C1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0E83D4D-01A8-4774-8796-7A94F18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02 / 產品定位與核心主張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4FABDA-4AF2-441C-8614-473EC7C7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P.02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13874BD-33B5-458C-A470-65C3093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Temple AI OS：信眾、廟方與文化三位一體的智慧作業系統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B71CBF-0EC7-4D1E-A786-3CA3995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不是外部 App，不是純聊天 Bot，而是宮廟現代化營運與文化傳承的完整解方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48F671B-3914-4267-92B2-03006F14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29184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7B5207-8B60-46E3-93EA-47E8C134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2926080" cy="416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信眾 C 端：零門檻體驗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免下載安裝：LINE 聊天室即點即開。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5 大服務選單：點燈、解籤、報名一鍵直達。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LIFF 敏捷表單：聊天室內順暢完成法會報名。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進度即時自查：手機號碼一秒查錄取序號。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自動行前推播：活動日前夕接收注意事項。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53A3AA8-6174-4145-88DC-B209F2CF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29184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7A44766-DB4E-4E96-8BDE-56A96C5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37360"/>
            <a:ext cx="2926080" cy="416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5309"/>
                </a:solidFill>
              </a:defRPr>
            </a:pPr>
            <a:r>
              <a:t>廟方 B 端：數位中樞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Admin Dashboard：活動與報名秒級同步。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後台參數設定：廟宇全銜、開放時段彈性設定。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即時公告跑馬燈：首頁重要訊息即改即發布。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行鎖防超額：Atomic RPC 祭典秒殺零超賣。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AI 話題熱點分析：看懂信眾常問問題與缺口。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8533D43-94FC-46F3-AF3B-67355421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0200"/>
            <a:ext cx="356616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AB247EA-457B-4932-AFAD-2E8E2EB3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737360"/>
            <a:ext cx="3200400" cy="416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1E3A8A"/>
                </a:solidFill>
              </a:defRPr>
            </a:pPr>
            <a:r>
              <a:t>文化傳承：敬意與年輕化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在地文史 RAG：權威記載解讀古蹟與建築。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正向文化抽籤：白話釋義，給予信眾平安提醒。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線上擲筊互動：遵循傳統儀軌，兼具敬意趣味。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文創貼圖深化：原創春福小使 8 款日常貼圖。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嚴格 AI 安全守則：絕不扮演神明宣稱神諭。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D46698-B1AB-4BE1-9CA3-443492E4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3DE6A8E-7505-4D59-94D0-E56E3CC7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2801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B2B2C 閉環架構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FD26711-A3AB-4FC1-95D0-0802C92A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263640"/>
            <a:ext cx="168249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Native 體驗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0401D64-2C54-4486-B847-108E3B6D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626364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SaaS 模組化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81415B4-3295-48AC-8DAD-E8E28770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文化永續傳承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43EA000-9F8E-4826-BF07-4F817A1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萬春宮公開資料 Demo</a:t>
            </a:r>
          </a:p>
        </p:txBody>
      </p:sp>
    </p:spTree>
    <p:extLst>
      <p:ext uri="{BB962C8B-B14F-4D97-AF65-F5344CB8AC3E}">
        <p14:creationId xmlns:p14="http://schemas.microsoft.com/office/powerpoint/2010/main" val="8419796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6FA1A9-9BDE-4E98-AD02-E29CE9A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15F0C3A-977C-49E9-8C2F-8621153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03 / LINE 官方帳號門戶與生態整合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891968-B922-4BBA-A1DA-D960EAF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P.03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D5DADB-715B-4345-B782-A8C2DA50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LINE 原生入口：現代化 5 大卡片服務選單 (Rich Menu 2500×1686)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F94510-4904-4DF6-B517-A5C61988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好友即會員，聊天室即服務：以直覺高質感的 5 大卡片分流覆蓋信眾 95% 高頻需求</a:t>
            </a:r>
          </a:p>
        </p:txBody>
      </p:sp>
      <p:pic>
        <p:nvPicPr>
          <p:cNvPr id="2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d54f78c0e4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214884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pic>
        <p:nvPicPr>
          <p:cNvPr id="2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85bcbb9ba48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3240" y="1600200"/>
            <a:ext cx="3657600" cy="246888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4E04B35-E529-4800-9BCC-7C338EE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206240"/>
            <a:ext cx="36576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F24625-123C-4CE6-8B6D-2A712B2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4315968"/>
            <a:ext cx="3328416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1E3A8A"/>
                </a:solidFill>
              </a:defRPr>
            </a:pPr>
            <a:r>
              <a:t>⚙ LINE 官方規格與通訊參數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LINE 官方帳號 ID: </a:t>
            </a:r>
            <a:r>
              <a:rPr sz="950" b="1">
                <a:solidFill>
                  <a:srgbClr val="1E3A8A"/>
                </a:solidFill>
              </a:rPr>
              <a:t>@983zhzni (專屬 Basic ID)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選單尺寸與佈局: </a:t>
            </a:r>
            <a:r>
              <a:rPr sz="950" b="1">
                <a:solidFill>
                  <a:srgbClr val="1E3A8A"/>
                </a:solidFill>
              </a:rPr>
              <a:t>2500 x 1686 px (5-Card Grid)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觸控分區與動作: </a:t>
            </a:r>
            <a:r>
              <a:rPr sz="950" b="1">
                <a:solidFill>
                  <a:srgbClr val="1E3A8A"/>
                </a:solidFill>
              </a:rPr>
              <a:t>5 區域 (URI + Message RAG)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通訊協定與防偽: </a:t>
            </a:r>
            <a:r>
              <a:rPr sz="950" b="1">
                <a:solidFill>
                  <a:srgbClr val="1E3A8A"/>
                </a:solidFill>
              </a:rPr>
              <a:t>HTTPS POST + HMAC-SHA256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訊息封裝格式: </a:t>
            </a:r>
            <a:r>
              <a:rPr sz="950" b="1">
                <a:solidFill>
                  <a:srgbClr val="1E3A8A"/>
                </a:solidFill>
              </a:rPr>
              <a:t>Flex Message 2.0 (Carousel)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2B7FE74-3A09-4624-A2AC-1202CE9E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00200"/>
            <a:ext cx="452628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44F65F-9E0E-4B0B-B3E8-38F9D11E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7360"/>
            <a:ext cx="4160520" cy="416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黃金 5 大功能動線設計 (5 CORE FUNCTIONS)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【導】參拜指南導覽：主殿神祇與各殿參拜動線，暖琥珀色調直覺引導信眾。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【籤】文化解籤諮詢：正統五步求籤儀軌，三不原則正向安定信眾心靈。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【行】法會活動報名：聊天室滑出 LIFF 敏捷表單，秒級名額流動、嚴格防超額。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【智】文化解籤運勢指引：在地文史與籤詩知識庫，問答秒回正向心靈生活開示。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【訊】今日宮廟動態：掌握首頁公告跑馬燈、參拜時段 (06:00-21:00) 與交通。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678AB0E-2359-4A1C-AC1A-6BCBC8AC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DF0CEC7-B37A-4DB5-98B4-F5A210AD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OA 2.0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E8FBD01-448D-4432-9F1D-7D6992E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3" y="626364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Messaging API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4BEAC70-80DF-469D-ACC5-24C3EC36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6263640"/>
            <a:ext cx="2185415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Rich Menu 2500x1686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64C75D3-46BE-4164-B6AC-3B4D1E9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1" y="626364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5-Card Layout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A5948E0-6C70-408F-BAC7-85F73422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HMAC-SHA256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28B74B9-2FBC-406A-A7DA-6CD707AD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6263640"/>
            <a:ext cx="188366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Flex Message 2.0</a:t>
            </a:r>
          </a:p>
        </p:txBody>
      </p:sp>
    </p:spTree>
    <p:extLst>
      <p:ext uri="{BB962C8B-B14F-4D97-AF65-F5344CB8AC3E}">
        <p14:creationId xmlns:p14="http://schemas.microsoft.com/office/powerpoint/2010/main" val="6783602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E1E25D-B903-4026-9508-51E423D1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C738133-8025-4AE3-A3CE-4239431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04 / LINE 原生功能深度應用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F23209-04F1-4B61-BFE1-077133F1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P.04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C815CE0-1DEA-4F3D-99AC-E897E5F6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Demo 網頁介面</a:t>
            </a:r>
            <a:r>
              <a:t>：LIFF 敏捷活動報名與名額即時控管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9D159A8-D56D-49ED-95E0-7FC9FE63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免跳出 LINE、自動帶入身分：在聊天室內 30 秒完成法會活動報名</a:t>
            </a:r>
          </a:p>
        </p:txBody>
      </p:sp>
      <p:pic>
        <p:nvPicPr>
          <p:cNvPr id="2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47d30ca89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228600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pic>
        <p:nvPicPr>
          <p:cNvPr id="2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3133f0e344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6120" y="1600200"/>
            <a:ext cx="228600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6A87D6B-3723-4004-A091-5BCFDBF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600200"/>
            <a:ext cx="562356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46CE1C-5530-4E98-884D-42211FB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37360"/>
            <a:ext cx="5257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真實上線介面與關鍵功能亮點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【原生 LIFF 內嵌體驗】聊天室直接開啟 Full Viewport，無跳轉外部瀏覽器，長輩填寫無阻力。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【剩餘名額即時可視】實測如右圖：「目前名額 18/30 人」，即時呈現名額流動狀態。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【LINE Login 身分綁定】整合 LINE Login 驗證真實身分，自動帶入用戶暱稱，杜絕惡意刷單。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【預約推播開關】表單內建「接收活動提醒」，活動日前夕由 Messaging API 自動發送行前通知。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【送出報名唯一序號】送出後秒級生成專屬識別序號，信眾隨時在 LINE 自查，現場掃碼核銷。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5A03AF-7A6D-4DB5-AC7B-C2F4D01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206240"/>
            <a:ext cx="5623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B409823-D56F-449E-A4D0-D111202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1" y="4315968"/>
            <a:ext cx="5294376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1E3A8A"/>
                </a:solidFill>
              </a:defRPr>
            </a:pPr>
            <a:r>
              <a:t>⚙ LIFF 技術參數與表單規格 (ENGINEERING SPECS)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LIFF App ID: </a:t>
            </a:r>
            <a:r>
              <a:rPr sz="950" b="1">
                <a:solidFill>
                  <a:srgbClr val="1E3A8A"/>
                </a:solidFill>
              </a:rPr>
              <a:t>2010938588-VJXpaoyH (Full Viewport 滿版規格)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授權範圍 Scopes: </a:t>
            </a:r>
            <a:r>
              <a:rPr sz="950" b="1">
                <a:solidFill>
                  <a:srgbClr val="1E3A8A"/>
                </a:solidFill>
              </a:rPr>
              <a:t>profile, openid (遵循最小個資原則)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前端技術棧: </a:t>
            </a:r>
            <a:r>
              <a:rPr sz="950" b="1">
                <a:solidFill>
                  <a:srgbClr val="1E3A8A"/>
                </a:solidFill>
              </a:rPr>
              <a:t>React 18.3 + TypeScript + Tailwind CSS + Lucide Icons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報名 API 端點: </a:t>
            </a:r>
            <a:r>
              <a:rPr sz="950" b="1">
                <a:solidFill>
                  <a:srgbClr val="1E3A8A"/>
                </a:solidFill>
              </a:rPr>
              <a:t>POST /api/events/{event_id}/register (ASGI Asynchronous)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資料驗證模型: </a:t>
            </a:r>
            <a:r>
              <a:rPr sz="950" b="1">
                <a:solidFill>
                  <a:srgbClr val="1E3A8A"/>
                </a:solidFill>
              </a:rPr>
              <a:t>Pydantic v2.13 Strict Schema (姓名、電話、人數、提醒開關)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併發控制模式: </a:t>
            </a:r>
            <a:r>
              <a:rPr sz="950" b="1">
                <a:solidFill>
                  <a:srgbClr val="1E3A8A"/>
                </a:solidFill>
              </a:rPr>
              <a:t>PostgreSQL Atomic RPC (FOR UPDATE 排他行鎖)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F7B3A3A-4009-4839-84AD-51772F9F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CFAB313-0FC2-4318-B213-11EBF6BB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LIFF v2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0F08ACF-0E0E-42C8-9A05-F95002AA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6263640"/>
            <a:ext cx="198424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Login OAuth2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E99D286-AF4F-4F08-97BF-8D95723D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626364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React 18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A06F4FC-14A2-4E2B-B096-31DF83A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Pydantic v2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1E9AEC8-9FA3-49E4-99CC-CA220003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3" y="6263640"/>
            <a:ext cx="148132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Tailwind CSS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045F01C-9BA1-49BE-AD03-C5FBD8EF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1" y="626364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Messaging API</a:t>
            </a:r>
          </a:p>
        </p:txBody>
      </p:sp>
    </p:spTree>
    <p:extLst>
      <p:ext uri="{BB962C8B-B14F-4D97-AF65-F5344CB8AC3E}">
        <p14:creationId xmlns:p14="http://schemas.microsoft.com/office/powerpoint/2010/main" val="13520997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EE4546B-B53A-49D2-B8E4-21A55ABC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7E8ED78-E9CC-4E8C-97DF-41D36944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05 / 民俗文化數位化創新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8A0F72-8B00-4A90-AEC4-6E37AE75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P.05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C84653-2C50-4CB7-853B-FB3783B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Demo 網頁介面</a:t>
            </a:r>
            <a:r>
              <a:t>：正統五步求籤儀軌與線上擲筊互動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233BA83-0EDB-48D1-B246-32A7EB7C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還原定題稟報、擲筊請示、搖筒取籤、擲筊確認至籤解開示之五步正統民俗禮俗</a:t>
            </a:r>
          </a:p>
        </p:txBody>
      </p:sp>
      <p:pic>
        <p:nvPicPr>
          <p:cNvPr id="2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8ada878254f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228600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pic>
        <p:nvPicPr>
          <p:cNvPr id="2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111760f174f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6120" y="1600200"/>
            <a:ext cx="228600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E2EECE-1C83-45FD-BDF7-AE8243F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600200"/>
            <a:ext cx="562356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9FD74D-F421-46E9-9BC9-6091884C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737360"/>
            <a:ext cx="5257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正統五步求籤儀軌 ＆ 線上擲筊亮點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【正統五步求籤儀軌】實測如左圖：整合「定題稟報 ➔ 擲筊請示 ➔ 搖筒取籤 ➔ 擲筊確認 ➔ 籤解開示」，完整還原台灣宮廟求籤儀軌。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【線上擲筊投擲互動】實測如右圖：支援聖筊、笑筊、陰筊 3-State 狀態機，具備翻轉物理動效與次數統計。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【雙模彈性切換架構】支援「正統五步儀軌」與「快速抽籤」一鍵切換，兼顧文化深度與長輩敏捷體驗。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【三不原則恪守敬意】「不判吉凶、保留白話、重要事回到正式窗口」，杜絕傳統迷信斷言，傳遞正向力量。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【底部導覽無縫直達】Shell 導覽列隨時直達「抽籤」與「擲筊」，青年信眾零門檻體驗信仰之美。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FB80B6B-A477-4BFF-8E78-43B5EA09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206240"/>
            <a:ext cx="5623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B3AF03-C26D-4505-B9FB-F7546162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1" y="4315968"/>
            <a:ext cx="5294376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1E3A8A"/>
                </a:solidFill>
              </a:defRPr>
            </a:pPr>
            <a:r>
              <a:t>⚙ 民俗數位互動技術參數 (TECHNICAL SPECS)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前端渲染架構: </a:t>
            </a:r>
            <a:r>
              <a:rPr sz="950" b="1">
                <a:solidFill>
                  <a:srgbClr val="1E3A8A"/>
                </a:solidFill>
              </a:rPr>
              <a:t>Vite 5.0 SPA + React Router v6 Client-Side Routing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求籤儀軌狀態機: </a:t>
            </a:r>
            <a:r>
              <a:rPr sz="950" b="1">
                <a:solidFill>
                  <a:srgbClr val="1E3A8A"/>
                </a:solidFill>
              </a:rPr>
              <a:t>5-Step Ritual Wizard State Machine (稟報/請示/抽籤/確認/開示)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擲筊模擬引擎: </a:t>
            </a:r>
            <a:r>
              <a:rPr sz="950" b="1">
                <a:solidFill>
                  <a:srgbClr val="1E3A8A"/>
                </a:solidFill>
              </a:rPr>
              <a:t>Client Stochastic Simulation (聖筊 / 笑筊 / 陰筊 3-State FSM)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籤詩演算法架構: </a:t>
            </a:r>
            <a:r>
              <a:rPr sz="950" b="1">
                <a:solidFill>
                  <a:srgbClr val="1E3A8A"/>
                </a:solidFill>
              </a:rPr>
              <a:t>三不原則正向心靈算法 (非宿命論、白話賦能導向)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靜態資源加速: </a:t>
            </a:r>
            <a:r>
              <a:rPr sz="950" b="1">
                <a:solidFill>
                  <a:srgbClr val="1E3A8A"/>
                </a:solidFill>
              </a:rPr>
              <a:t>ChatGPT Sites Global Edge CDN (全域快取延遲 &lt; 150ms)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響應式佈局規格: </a:t>
            </a:r>
            <a:r>
              <a:rPr sz="950" b="1">
                <a:solidFill>
                  <a:srgbClr val="1E3A8A"/>
                </a:solidFill>
              </a:rPr>
              <a:t>Mobile-First RWD (相容 360px ~ 430px 各主流手機螢幕)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31C24A-197F-41D9-B6FA-7C99053C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E642189-C0C8-498A-98E0-A0D3B77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正統五步儀軌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CD9BBD5-024A-499C-AEC1-03F4EF7D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3-State FSM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FFFE41B-139A-49D9-AACB-48EE76AA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擲筊問事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A927872-B830-4615-BB8E-03AA844A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三不原則算法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DFC3906-4CE4-4706-BCA9-D68ABBE2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6263640"/>
            <a:ext cx="188366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Mobile-First RWD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D7BEAB3-3196-43D5-B3C9-1ABEB290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626364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Edge CDN</a:t>
            </a:r>
          </a:p>
        </p:txBody>
      </p:sp>
    </p:spTree>
    <p:extLst>
      <p:ext uri="{BB962C8B-B14F-4D97-AF65-F5344CB8AC3E}">
        <p14:creationId xmlns:p14="http://schemas.microsoft.com/office/powerpoint/2010/main" val="7376139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EFD0CA-3028-4C02-BAE6-1EF2BB7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6FCC276-FFEF-45FE-A208-5A98172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06 / 商業營運與管理賦能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C57838-677D-493C-8C01-171518EA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P.06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C2B391-66E3-46D2-B64B-66CBB1A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實證後台介面：廟務基本設定與營運管控中樞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B68BA6-F949-497A-8BBB-4D34B44D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廟方後台專屬控制台：全域廟務設定、參拜時段、即時公告跑馬燈一站式即時生效</a:t>
            </a:r>
          </a:p>
        </p:txBody>
      </p:sp>
      <p:pic>
        <p:nvPicPr>
          <p:cNvPr id="2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4a42c776041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676656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C44BC41-19F1-437A-B94F-D6AD1F1F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600200"/>
            <a:ext cx="37033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30F6E4-0251-4ADE-BB50-D61390B3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737360"/>
            <a:ext cx="333756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廟務設定與名冊列印模組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【基本資料管理】廟宇全銜、副標題、主祀神祇、服務電話、地址與簡介標語即改即存。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【參拜時段排程】彈性自訂開放時間 (06:00-21:00)，前台服務即時聯動。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【公告跑馬燈推播】置頂公告秒級推播，颱風或法會異動一鍵周知全體信眾。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【法會祈安文疏一鍵列印】報名名冊一鍵排版古典直式紅紙祈安文疏，支援瀏覽器列印，直擊廟務痛點。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【還原預設防呆】內建一鍵還原機制，杜絕誤操作事故。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BAC27ED-B4F7-4133-99DA-F57B0D4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977639"/>
            <a:ext cx="37033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22FD2E3-37BD-4ED7-BE49-5F905DD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4087368"/>
            <a:ext cx="3374136" cy="1837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1E3A8A"/>
                </a:solidFill>
              </a:defRPr>
            </a:pPr>
            <a:r>
              <a:t>⚙ 後台系統參數與資安規格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後台管理路由: </a:t>
            </a:r>
            <a:r>
              <a:rPr sz="950" b="1">
                <a:solidFill>
                  <a:srgbClr val="1E3A8A"/>
                </a:solidFill>
              </a:rPr>
              <a:t>/admin/settings ｜ /admin/events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祈安文疏列印: </a:t>
            </a:r>
            <a:r>
              <a:rPr sz="950" b="1">
                <a:solidFill>
                  <a:srgbClr val="1E3A8A"/>
                </a:solidFill>
              </a:rPr>
              <a:t>CSS vertical-rl + @media print (傳統九行直書)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權限控管 (RBAC): </a:t>
            </a:r>
            <a:r>
              <a:rPr sz="950" b="1">
                <a:solidFill>
                  <a:srgbClr val="1E3A8A"/>
                </a:solidFill>
              </a:rPr>
              <a:t>Admin (主委全權) / Staff (幹事業務)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身分驗證模式: </a:t>
            </a:r>
            <a:r>
              <a:rPr sz="950" b="1">
                <a:solidFill>
                  <a:srgbClr val="1E3A8A"/>
                </a:solidFill>
              </a:rPr>
              <a:t>Session Bearer Token (HMAC-SHA256)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資料庫儲存模型: </a:t>
            </a:r>
            <a:r>
              <a:rPr sz="950" b="1">
                <a:solidFill>
                  <a:srgbClr val="1E3A8A"/>
                </a:solidFill>
              </a:rPr>
              <a:t>Supabase PostgreSQL JSONB Config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設定同步延遲: </a:t>
            </a:r>
            <a:r>
              <a:rPr sz="950" b="1">
                <a:solidFill>
                  <a:srgbClr val="1E3A8A"/>
                </a:solidFill>
              </a:rPr>
              <a:t>&lt; 200ms 全網前台秒級生效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安全稽核日誌: </a:t>
            </a:r>
            <a:r>
              <a:rPr sz="950" b="1">
                <a:solidFill>
                  <a:srgbClr val="1E3A8A"/>
                </a:solidFill>
              </a:rPr>
              <a:t>Audit Logs Append-Only (紀錄異動人員/IP)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A51B201-D6BD-461F-9284-AD3E8499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2D75E68-BB8F-4974-8F74-AD88778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48132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B2B SaaS 控制台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D10DE1A-8359-4C38-915C-1F40EB5C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6263640"/>
            <a:ext cx="117957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RBAC 分權控管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D822A2A-8217-4187-BF5D-072E736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6263640"/>
            <a:ext cx="188366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PostgreSQL JSONB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263CB84-AF24-4F18-B40A-66DBF2B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7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祈安文疏列印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C99235C-E422-4C68-B5B0-1429ED87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即時公告推播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F6307DE-9592-46DC-8C93-940917D5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6263640"/>
            <a:ext cx="12801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Session 安全</a:t>
            </a:r>
          </a:p>
        </p:txBody>
      </p:sp>
    </p:spTree>
    <p:extLst>
      <p:ext uri="{BB962C8B-B14F-4D97-AF65-F5344CB8AC3E}">
        <p14:creationId xmlns:p14="http://schemas.microsoft.com/office/powerpoint/2010/main" val="16909837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4077B86-FC86-445E-9756-237216BA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01B6B91-C467-4EAE-8B3D-A405BAA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07 / 系統技術架構 (TECHNOLOGY ARCHITECTURE)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5593AD-4153-4728-B5C6-D304AE15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P.07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FD81EE-A99D-4B6B-B116-376BFFAA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全鏈路技術架構：企業級現代全端架構與服務閉環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8D00C4-8FD5-4DE0-BC2E-E3815B12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深度串聯 LINE 生態、高效非同步 Python 後端與 PostgreSQL 雲端資料庫</a:t>
            </a:r>
          </a:p>
        </p:txBody>
      </p:sp>
      <p:pic>
        <p:nvPicPr>
          <p:cNvPr id="3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d62a678e74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1600200"/>
            <a:ext cx="5669280" cy="443484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2E8F0"/>
            </a:solidFill>
          </a:ln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C31A44B-0862-493D-B99F-875B43BA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600200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1BA52C-07A5-481F-8DC6-06640401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709928"/>
            <a:ext cx="4425696" cy="83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B4281E"/>
                </a:solidFill>
              </a:defRPr>
            </a:pPr>
            <a:r>
              <a:t>⚙ Layer 1: LINE 用戶端與展示層 (Client Layer)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生態技術: </a:t>
            </a:r>
            <a:r>
              <a:rPr sz="950" b="1">
                <a:solidFill>
                  <a:srgbClr val="1E3A8A"/>
                </a:solidFill>
              </a:rPr>
              <a:t>LINE OA 2.0 (@983zhzni) ｜ Messaging API ｜ LIFF v2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前端技術: </a:t>
            </a:r>
            <a:r>
              <a:rPr sz="950" b="1">
                <a:solidFill>
                  <a:srgbClr val="1E3A8A"/>
                </a:solidFill>
              </a:rPr>
              <a:t>React 18.3 ｜ TypeScript ｜ Tailwind CSS ｜ LINE Login OAuth2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BC1900B-46DF-4FF1-83D0-32C4413A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743200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E04031-645E-4E8D-8104-D3AA9269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852928"/>
            <a:ext cx="4425696" cy="83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1E3A8A"/>
                </a:solidFill>
              </a:defRPr>
            </a:pPr>
            <a:r>
              <a:t>⚙ Layer 2: API 閘道與後端服務 (Backend Layer)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後端框架: </a:t>
            </a:r>
            <a:r>
              <a:rPr sz="950" b="1">
                <a:solidFill>
                  <a:srgbClr val="1E3A8A"/>
                </a:solidFill>
              </a:rPr>
              <a:t>FastAPI 0.115 (Python 3.12-slim) ｜ Asynchronous ASGI (Uvicorn)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網路與規格: </a:t>
            </a:r>
            <a:r>
              <a:rPr sz="950" b="1">
                <a:solidFill>
                  <a:srgbClr val="1E3A8A"/>
                </a:solidFill>
              </a:rPr>
              <a:t>Port: 8000/10000 ｜ Workers: 2 ｜ HMAC-SHA256 簽章防偽 ｜ Pydantic v2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4490D1-066A-41EA-8A25-56FA3B4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86200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BA11C36-8719-4FF2-96A4-B7D2968D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995928"/>
            <a:ext cx="4425696" cy="83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B45309"/>
                </a:solidFill>
              </a:defRPr>
            </a:pPr>
            <a:r>
              <a:t>⚙ Layer 3: 資料庫與高併發排他鎖 (Database Layer)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雲端資料庫: </a:t>
            </a:r>
            <a:r>
              <a:rPr sz="950" b="1">
                <a:solidFill>
                  <a:srgbClr val="1E3A8A"/>
                </a:solidFill>
              </a:rPr>
              <a:t>Supabase PostgreSQL 15 ｜ ACID 事務隔離 (Read Committed)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併發控制: </a:t>
            </a:r>
            <a:r>
              <a:rPr sz="950" b="1">
                <a:solidFill>
                  <a:srgbClr val="1E3A8A"/>
                </a:solidFill>
              </a:rPr>
              <a:t>Atomic RPC 預存程序 ｜ SELECT ... FOR UPDATE 行級排他鎖 ｜ 逾時: 5000ms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0922571-F658-465F-A6B5-A2302C4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029200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AD2A4B-BF2F-4987-B22A-103F2E3E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5138928"/>
            <a:ext cx="4425696" cy="83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B4281E"/>
                </a:solidFill>
              </a:defRPr>
            </a:pPr>
            <a:r>
              <a:t>⚙ Layer 4: AI 知識檢索與安全防護 (AI &amp; Security Layer)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文史 RAG: </a:t>
            </a:r>
            <a:r>
              <a:rPr sz="950" b="1">
                <a:solidFill>
                  <a:srgbClr val="1E3A8A"/>
                </a:solidFill>
              </a:rPr>
              <a:t>三百年在地文史檢索 ｜ Top-K: 3 ｜ 相似度門檻 &gt;= 0.78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快取與防護: </a:t>
            </a:r>
            <a:r>
              <a:rPr sz="950" b="1">
                <a:solidFill>
                  <a:srgbClr val="1E3A8A"/>
                </a:solidFill>
              </a:rPr>
              <a:t>In-Memory 快取 (TTL: 3600s, 延遲 &lt; 400ms) ｜ AI 安全邊界防護引擎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AB265D4-3ECF-428F-8980-73EF958C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36FF803-EE81-4E96-A6BB-D9C5AF89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FastAPI 0.115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A564D0B-2E85-48DA-AB9B-B023B5AB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1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Python 3.12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5DD20A7-3555-47B0-9240-0C939798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626364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PostgreSQL 15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3137A46-8E61-47ED-9BB0-0E2C960A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7" y="626364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Supabase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5150940-7A87-48CE-A735-9A35AE8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Docker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D8E8261-A15C-480F-A296-7E6A8281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9" y="6263640"/>
            <a:ext cx="148132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Render Cloud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EC2510B-4346-4393-A8CE-F8FCA6ED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247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Pytest 100%</a:t>
            </a:r>
          </a:p>
        </p:txBody>
      </p:sp>
    </p:spTree>
    <p:extLst>
      <p:ext uri="{BB962C8B-B14F-4D97-AF65-F5344CB8AC3E}">
        <p14:creationId xmlns:p14="http://schemas.microsoft.com/office/powerpoint/2010/main" val="20508934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4A78AE-4D50-4344-A875-4C4B6644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9E15811-91DD-447D-8E28-C440D22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08 / 核心技術深度與創新亮點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03B237E-7CB6-46C9-AFE8-60D2751D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P.08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A8078F5-0817-43C7-A032-C9363420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核心技術深度：AI 安全倫理守則 ＆ 資料庫原子行鎖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CD78707-CDEB-4A69-879F-D39C9D51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技術深度決定落地高度：恪守民俗信仰敬意，兼備百萬級高併發工程可靠性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9E2022D-586E-42BE-B8E7-5DB5DEE9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12064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6BFF01-365D-48AB-B2C1-E9BF2F1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4754879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亮點 1：AI 安全倫理守則 (AI SAFETY GUARDRAILS)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【嚴禁扮演神明】系統層硬約束，AI 絕不宣稱神諭、降旨或斷言個人吉凶命運。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【敏感話題攔截】遇到借貸、投資、醫療、政治等敏感問題自動觸發安全引導。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【合規免責提醒】每則回覆均附帶「以廟方現場與正式公告為準」免責確認提醒。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【權威文史檢索】串接官方萬春宮誌權威文史資料庫，杜絕模型胡言幻覺。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BFC4BA1-647B-4CBD-BE0C-5698713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512064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6B0CA6-648C-4BCB-A7DE-9C68C8E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8"/>
            <a:ext cx="4791455" cy="1792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B4281E"/>
                </a:solidFill>
              </a:defRPr>
            </a:pPr>
            <a:r>
              <a:t>⚙ AI 安全防護技術參數 (GUARDRAIL PARAMETERS)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安全提示詞注入防護: </a:t>
            </a:r>
            <a:r>
              <a:rPr sz="950" b="1">
                <a:solidFill>
                  <a:srgbClr val="1E3A8A"/>
                </a:solidFill>
              </a:rPr>
              <a:t>System Prompt Level Hard Constraint (硬性不可覆蓋規則)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敏感關鍵字正規表達: </a:t>
            </a:r>
            <a:r>
              <a:rPr sz="950" b="1">
                <a:solidFill>
                  <a:srgbClr val="1E3A8A"/>
                </a:solidFill>
              </a:rPr>
              <a:t>Regex Filter 預檢機制 (命中立即觸發安全引導回答)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文史檢索參數 (RAG): </a:t>
            </a:r>
            <a:r>
              <a:rPr sz="950" b="1">
                <a:solidFill>
                  <a:srgbClr val="1E3A8A"/>
                </a:solidFill>
              </a:rPr>
              <a:t>Top-K: 3 ｜ 余弦相似度閾值: Cosine &gt;= 0.78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記憶體快取架構: </a:t>
            </a:r>
            <a:r>
              <a:rPr sz="950" b="1">
                <a:solidFill>
                  <a:srgbClr val="1E3A8A"/>
                </a:solidFill>
              </a:rPr>
              <a:t>In-Memory LRU Cache (TTL: 3600s ｜ 平均檢索延遲 &lt; 400ms)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E6F515A-E99F-4463-99A6-76BB7F6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521208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E437359-52E8-4B04-8F1A-4FE6394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7360"/>
            <a:ext cx="48463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5309"/>
                </a:solidFill>
              </a:defRPr>
            </a:pPr>
            <a:r>
              <a:t>亮點 2：祭典秒殺行級鎖 (ATOMIC RPC ROW-LOCKING)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【PostgreSQL 預存程序】採用 Supabase RPC 在資料庫層進行原子級名額校驗。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【行級排他鎖】`SELECT ... FOR UPDATE` 在交易期間嚴密鎖定該筆活動資料列。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【零超額保證】法會開放瞬間萬人同時搶報名，保證名額絕不超額、不超賣。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【雙軌容錯備援】支援本機 JSON 降級容錯，保證公共服務永不中斷。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B3E9656-9680-4BD9-8D78-39B4C6B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23360"/>
            <a:ext cx="52120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9A5A6D-E379-427A-8EA7-773A525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133088"/>
            <a:ext cx="4882896" cy="1792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  <a:defRPr sz="1150" b="1">
                <a:solidFill>
                  <a:srgbClr val="B45309"/>
                </a:solidFill>
              </a:defRPr>
            </a:pPr>
            <a:r>
              <a:t>⚙ 高併發鎖機制技術參數 (CONCURRENCY PARAMETERS)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資料庫引擎版本: </a:t>
            </a:r>
            <a:r>
              <a:rPr sz="950" b="1">
                <a:solidFill>
                  <a:srgbClr val="1E3A8A"/>
                </a:solidFill>
              </a:rPr>
              <a:t>Supabase PostgreSQL 15.6 (雲端託管高可用架構)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預存函數簽章: </a:t>
            </a:r>
            <a:r>
              <a:rPr sz="950" b="1">
                <a:solidFill>
                  <a:srgbClr val="1E3A8A"/>
                </a:solidFill>
              </a:rPr>
              <a:t>atomic_register_event(p_event_id, p_user_id, p_payload)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排他鎖語法結構: </a:t>
            </a:r>
            <a:r>
              <a:rPr sz="950" b="1">
                <a:solidFill>
                  <a:srgbClr val="1E3A8A"/>
                </a:solidFill>
              </a:rPr>
              <a:t>SELECT quota, registered FROM events WHERE id = p_event_id FOR UPDATE</a:t>
            </a:r>
          </a:p>
          <a:p xmlns:a="http://schemas.openxmlformats.org/drawingml/2006/main">
            <a:pPr>
              <a:spcAft>
                <a:spcPts val="250"/>
              </a:spcAft>
              <a:buNone/>
            </a:pPr>
            <a:r>
              <a:rPr sz="950" b="1">
                <a:solidFill>
                  <a:srgbClr val="334155"/>
                </a:solidFill>
              </a:rPr>
              <a:t>交易隔離級別: </a:t>
            </a:r>
            <a:r>
              <a:rPr sz="950" b="1">
                <a:solidFill>
                  <a:srgbClr val="1E3A8A"/>
                </a:solidFill>
              </a:rPr>
              <a:t>READ COMMITTED ｜ 交易逾時限制: 5000ms ｜ 失敗自動 Rollback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06629D2-36A1-43B1-9C6A-EF0A57C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A643F63-9618-456C-8CF6-BECE13A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負責任 AI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6AB9BE6-8179-4706-8A20-5700475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626364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在地文史 RAG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3D5F00B-B74D-4B42-9A33-D256FCA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6263640"/>
            <a:ext cx="168249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PostgreSQL RPC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5795A2-9B5B-41B1-963F-59D52D09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626364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FOR UPDATE 行鎖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DCC34D9-2259-48F0-9D4F-89C8FC35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6263640"/>
            <a:ext cx="117957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ACID 交易安全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7F187F-79C7-4814-91AC-6398520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零超額保證</a:t>
            </a:r>
          </a:p>
        </p:txBody>
      </p:sp>
    </p:spTree>
    <p:extLst>
      <p:ext uri="{BB962C8B-B14F-4D97-AF65-F5344CB8AC3E}">
        <p14:creationId xmlns:p14="http://schemas.microsoft.com/office/powerpoint/2010/main" val="10271803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761B78-2E36-41BD-B2FE-D63532DA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70741B6-BF3E-48E8-A467-FCD3E7DF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09 / 商業模式與</a:t>
            </a:r>
            <a:r>
              <a:t>Demo 成熟度</a:t>
            </a:r>
            <a:r>
              <a:t>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B3975A-C60A-43B8-BE29-126A8BB7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P.09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C8FA98-1722-48B6-80EC-BA5315E7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商業模式與</a:t>
            </a:r>
            <a:r>
              <a:t>Demo 成果</a:t>
            </a:r>
            <a:r>
              <a:t>：多元造血機制 ＆ 100% </a:t>
            </a:r>
            <a:r>
              <a:t>公開 Demo 驗證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65A9AC-C610-4EB0-B07C-F06CABD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拒絕概念簡報：</a:t>
            </a:r>
            <a:r>
              <a:t>公開 Demo 已部署，具備產品可行性與複製潛力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EAEEBE-5FA1-49CA-B8B9-73FDF1F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12064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50930E-C4D6-4765-AA9E-1AB8C1EE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4754879" cy="416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四大多元可持續收入模型 (REVENUE MODEL)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1. 基礎 SaaS 訂閱月費：NT$ 3,000 ~ 8,000 / 月</a:t>
            </a:r>
            <a:br/>
            <a:r>
              <a:t>   提供標準 LINE OA 模板、AI 問答庫、LIFF 報名與管理看板。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2. 客製建置與數位化：NT$ 50,000 ~ 150,000 / 案</a:t>
            </a:r>
            <a:br/>
            <a:r>
              <a:t>   百年大廟歷史文物 3D 導覽、專屬籤詩演算法與特殊科儀系統導入。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3. 慶典高峰彈性模組：NT$ 20,000 ~ 50,000 / 檔</a:t>
            </a:r>
            <a:br/>
            <a:r>
              <a:t>   媽祖宮慶或建醮法會專屬高頻寬、排隊抽籤與即時推播模組。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4. 地方創生與文創貼圖：自創「春福小使」貼圖分潤 ＋ 廟埕商圈導流數位折價券。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8AA50C2-030C-47C7-852A-E9138127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24688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8B72A7-DFB1-411D-839D-B7E1E755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1691640"/>
            <a:ext cx="2286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06C755"/>
                </a:solidFill>
              </a:defRPr>
            </a:pPr>
            <a:r>
              <a:t>69 / 69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  <a:defRPr sz="1100" b="1">
                <a:solidFill>
                  <a:srgbClr val="0F172A"/>
                </a:solidFill>
              </a:defRPr>
            </a:pPr>
            <a:r>
              <a:t>單元測試通過</a:t>
            </a:r>
          </a:p>
          <a:p xmlns:a="http://schemas.openxmlformats.org/drawingml/2006/main">
            <a:pPr algn="ctr">
              <a:buNone/>
              <a:defRPr sz="950">
                <a:solidFill>
                  <a:srgbClr val="64748B"/>
                </a:solidFill>
              </a:defRPr>
            </a:pPr>
            <a:r>
              <a:t>安全/RAG/行鎖 100% 通過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48564FB-6B3D-44EA-9442-B583968E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00200"/>
            <a:ext cx="24688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C7FEFF-E74E-49B8-9325-7488C0E5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91640"/>
            <a:ext cx="2286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1">
                <a:solidFill>
                  <a:srgbClr val="B4281E"/>
                </a:solidFill>
              </a:defRPr>
            </a:pPr>
            <a:r>
              <a:t>20 / 20</a:t>
            </a:r>
          </a:p>
          <a:p xmlns:a="http://schemas.openxmlformats.org/drawingml/2006/main">
            <a:pPr algn="ctr">
              <a:spcBef>
                <a:spcPts val="200"/>
              </a:spcBef>
              <a:buNone/>
              <a:defRPr sz="1100" b="1">
                <a:solidFill>
                  <a:srgbClr val="0F172A"/>
                </a:solidFill>
              </a:defRPr>
            </a:pPr>
            <a:r>
              <a:t>公開冒煙檢查通過</a:t>
            </a:r>
          </a:p>
          <a:p xmlns:a="http://schemas.openxmlformats.org/drawingml/2006/main">
            <a:pPr algn="ctr">
              <a:buNone/>
              <a:defRPr sz="950">
                <a:solidFill>
                  <a:srgbClr val="64748B"/>
                </a:solidFill>
              </a:defRPr>
            </a:pPr>
            <a:r>
              <a:t>API 與深層路由正常</a:t>
            </a:r>
          </a:p>
        </p:txBody>
      </p:sp>
      <p:pic>
        <p:nvPicPr>
          <p:cNvPr id="32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9e1dde86147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3017520"/>
            <a:ext cx="5212080" cy="301752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E2E8F0"/>
            </a:solidFill>
          </a:ln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3E4F3A7-F205-4A49-ADD5-ED410510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70DD25B-BFA3-4752-A7E9-1D4BF7D1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SaaS 訂閱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DD0EC88-B8D8-4ECB-96F2-CF5D038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慶典高峰彈性費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5131D82-7CD2-47C9-A5CF-7CA33E90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6263640"/>
            <a:ext cx="117957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文創貼圖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694686-57C9-4857-BA47-D275827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公開 Demo 驗證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F489C80-E256-45B1-BC5B-20513E8B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6263640"/>
            <a:ext cx="138074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Pytest 100%</a:t>
            </a:r>
          </a:p>
        </p:txBody>
      </p:sp>
    </p:spTree>
    <p:extLst>
      <p:ext uri="{BB962C8B-B14F-4D97-AF65-F5344CB8AC3E}">
        <p14:creationId xmlns:p14="http://schemas.microsoft.com/office/powerpoint/2010/main" val="10887283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656059-8208-493C-8D0C-8A24E407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CEA739F-5530-4324-96D5-FC1446C3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"/>
            <a:ext cx="41148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428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FFFFFF"/>
                </a:solidFill>
              </a:defRPr>
            </a:pPr>
            <a:r>
              <a:t>10 / 發展藍圖與社會影響力 (20%)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898E536-0CEE-4D83-B02E-1C52BDE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64748B"/>
                </a:solidFill>
              </a:defRPr>
            </a:pPr>
            <a:r>
              <a:t>2026 LINE AI 創新創業競賽 ｜ P.10 /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EFFBE5-65B9-486B-A6A6-7F0C6F1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0F172A"/>
                </a:solidFill>
              </a:defRPr>
            </a:pPr>
            <a:r>
              <a:t>未來藍圖與社會價值：從萬春宮走向全台千座宮廟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37E561-173E-46E1-B6F5-C58A595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B45309"/>
                </a:solidFill>
              </a:defRPr>
            </a:pPr>
            <a:r>
              <a:t>用科技賦能傳統信仰，讓三百年宮廟文化代代相傳、歷久彌新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1EB2A6-F2FB-4DE1-89EA-AFFD2221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29184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19B832-2D17-4F77-9C84-1424564C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29260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06C755"/>
                </a:solidFill>
              </a:defRPr>
            </a:pPr>
            <a:r>
              <a:t>Phase 1: </a:t>
            </a:r>
            <a:r>
              <a:t>Demo 驗證</a:t>
            </a:r>
            <a:r>
              <a:t> (已完成)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示範場域：台中萬春宮。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上線功能：LINE OA 2.0 + 6 格選單 + LIFF 報名 + 後台設定中樞。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全端自動化測試 100% 綠燈通過。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5685B9-6439-4A81-BAC1-0180D59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00200"/>
            <a:ext cx="329184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3BD3C6-54FA-4B31-9493-E7B5607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37360"/>
            <a:ext cx="29260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281E"/>
                </a:solidFill>
              </a:defRPr>
            </a:pPr>
            <a:r>
              <a:t>Phase 2: 現場互動 (入選3個月)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導入 LINE Beacon 廟埕現場迎賓推播。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古匾與文物 NFC 感應深度圖文導覽。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新增線上點光明燈與安太歲預約。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拓展至中部地區 10 座指標合作廟宇。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755C42-F171-403D-9136-C23D614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0200"/>
            <a:ext cx="356616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767375-F556-455C-9EF0-761921B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737360"/>
            <a:ext cx="32004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250" b="1">
                <a:solidFill>
                  <a:srgbClr val="B45309"/>
                </a:solidFill>
              </a:defRPr>
            </a:pPr>
            <a:r>
              <a:t>Phase 3: 跨廟生態 (未來1年)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全台 50+ 指標宮廟巡禮地圖。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跨廟祈福點數與地方商圈共榮聯盟。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建立全台最大民俗文化數位資產庫。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050">
                <a:solidFill>
                  <a:srgbClr val="334155"/>
                </a:solidFill>
              </a:defRPr>
            </a:pPr>
            <a:r>
              <a:t>• 實現持續盈利與品牌連鎖規模效益。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65A6292-0703-4DFA-B8DE-1F9DEC0B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106070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26C4129-6FBA-4F11-AAFA-08B8943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102412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4281E"/>
                </a:solidFill>
              </a:defRPr>
            </a:pPr>
            <a:r>
              <a:t>🌟 深刻的社會與文化價值 (SOCIAL &amp; CULTURAL IMPACT)</a:t>
            </a:r>
          </a:p>
          <a:p xmlns:a="http://schemas.openxmlformats.org/drawingml/2006/main">
            <a:pPr>
              <a:spcBef>
                <a:spcPts val="300"/>
              </a:spcBef>
              <a:buNone/>
              <a:defRPr sz="1050">
                <a:solidFill>
                  <a:srgbClr val="334155"/>
                </a:solidFill>
              </a:defRPr>
            </a:pPr>
            <a:r>
              <a:t>1. 降低青年參與門檻：以年輕人最習慣的 LINE 互動與文創貼圖，消除參拜心理負擔，化解百年香火世代斷層。</a:t>
            </a:r>
            <a:br/>
            <a:r>
              <a:t>2. 珍貴文化數位永久保存：將耆老口述歷史、古蹟科儀與文物拓本化為數位知識庫，為台灣民俗文化留下永恆資產。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151AA4-88BD-4F76-9817-A5502D2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D3F5BC3-488C-4BCC-91D6-962C433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6263640"/>
            <a:ext cx="1883664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Beacon 現場推播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C19BCBC-938B-46BC-BB95-F7A43126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3" y="626364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NFC 導覽感應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25373C1-5C83-4EC2-BEAF-87DD7CD4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跨廟點數聯盟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1766A83-0F04-42EC-9498-93EAC41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文化開放資料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319ECFA-F4C2-4ABF-A229-FB92DC91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626364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永續地方創生</a:t>
            </a:r>
          </a:p>
        </p:txBody>
      </p:sp>
    </p:spTree>
    <p:extLst>
      <p:ext uri="{BB962C8B-B14F-4D97-AF65-F5344CB8AC3E}">
        <p14:creationId xmlns:p14="http://schemas.microsoft.com/office/powerpoint/2010/main" val="12055553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51D6AC-ACEE-4BD7-9B75-E60D04AE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12fbf8e654c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80990" y="822960"/>
            <a:ext cx="1828800" cy="182880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E2E8F0"/>
            </a:solidFill>
          </a:ln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D6FD45-9289-43F5-8AD1-72D79C0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4640"/>
            <a:ext cx="941832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B4281E"/>
                </a:solidFill>
              </a:defRPr>
            </a:pPr>
            <a:r>
              <a:t>科技賦能信仰・智慧傳承文化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200" b="1">
                <a:solidFill>
                  <a:srgbClr val="0F172A"/>
                </a:solidFill>
              </a:defRPr>
            </a:pPr>
            <a:r>
              <a:t>Temple AI OS 智慧宮廟平台</a:t>
            </a:r>
          </a:p>
          <a:p xmlns:a="http://schemas.openxmlformats.org/drawingml/2006/main">
            <a:pPr algn="ctr">
              <a:spcBef>
                <a:spcPts val="1400"/>
              </a:spcBef>
              <a:buNone/>
              <a:defRPr sz="1350" b="1">
                <a:solidFill>
                  <a:srgbClr val="64748B"/>
                </a:solidFill>
              </a:defRPr>
            </a:pPr>
            <a:r>
              <a:t>感謝各位評審與貴賓聆聽 ｜ 歡迎掃碼現場體驗 LINE 官方帳號 @983zhzni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E405A0-EC34-4E15-A9CD-AA67A6F8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B4281E"/>
                </a:solidFill>
              </a:defRPr>
            </a:pPr>
            <a:r>
              <a:t>CORE TECH: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CAD60F3-3235-4DB5-9989-0ACECACD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669280"/>
            <a:ext cx="198424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LINE OA @983zhzni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021389-8FDA-4385-8E83-61BF9F8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66928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Messaging API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DB135E8-E2C6-48FA-AB88-32A92E9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66928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LIFF v2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B714E60-7AB7-4677-BE77-84258A6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669280"/>
            <a:ext cx="158191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FastAPI 0.115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3B90DC4-86AC-4353-8823-DA40DB5A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5669280"/>
            <a:ext cx="10789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Supabase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A7F0725-4DDF-49AA-BE52-9D7BAAFC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4" y="5669280"/>
            <a:ext cx="12801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Atomic RPC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ACF6C28-8360-426E-B312-E699B3B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584" y="5669280"/>
            <a:ext cx="10058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1E3A8A"/>
                </a:solidFill>
              </a:defRPr>
            </a:pPr>
            <a:r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19615341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2026-09-12T18:50:58.5690000Z</dcterms:created>
  <dcterms:modified xsi:type="dcterms:W3CDTF">2026-09-12T18:50:58.5690000Z</dcterms:modified>
</coreProperties>
</file>